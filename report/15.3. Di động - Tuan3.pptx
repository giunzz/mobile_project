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301" r:id="rId3"/>
    <p:sldId id="302" r:id="rId4"/>
    <p:sldId id="31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5" r:id="rId13"/>
    <p:sldId id="313" r:id="rId14"/>
    <p:sldId id="312" r:id="rId15"/>
    <p:sldId id="304" r:id="rId16"/>
    <p:sldId id="275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>
        <p:scale>
          <a:sx n="75" d="100"/>
          <a:sy n="75" d="100"/>
        </p:scale>
        <p:origin x="1843" y="-389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oogle.com/spreadsheets/d/1sClCX4doFPRGRslG_CvJLxAsMfU6heg3camePzlJto0/edi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havikjikadara/dog-and-cat-classification-dataset/dat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-9PNQV2SPLQLSao_ZxBmxh218x9svbVC?usp=shari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3 – Viết cuốn báo cáo)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Tiến độ thực tế (dự kiến)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D7D8-9C34-42BE-9B45-DBF7B9C2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Bảng 1: Bảng phân công công việc từng thành viên</a:t>
            </a:r>
          </a:p>
          <a:p>
            <a:r>
              <a:rPr lang="en-US" sz="2400"/>
              <a:t>Bảng 2: Bảng “quản lý tiến độ” (ghi nhận tiến độ thực tế “theo tuần”)</a:t>
            </a:r>
          </a:p>
          <a:p>
            <a:r>
              <a:rPr lang="en-US" sz="2400">
                <a:hlinkClick r:id="rId2"/>
              </a:rPr>
              <a:t>https://docs.google.com/spreadsheets/d/1sClCX4doFPRGRslG_CvJLxAsMfU6heg3camePzlJto0/edit?usp=sharing</a:t>
            </a:r>
            <a:r>
              <a:rPr lang="en-US" sz="24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AEE2E-AFB8-4D4A-8D4F-9B9418E09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2971800"/>
            <a:ext cx="7589246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33469-82A0-44EE-8FAA-B2BE8C12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3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055861E-C04E-474A-9A16-E8095EE3D3BC}"/>
              </a:ext>
            </a:extLst>
          </p:cNvPr>
          <p:cNvSpPr/>
          <p:nvPr/>
        </p:nvSpPr>
        <p:spPr>
          <a:xfrm>
            <a:off x="762644" y="1700017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1. Phạm vi Firmware V1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EB9CF11-5DD4-4EB6-BDE4-0E453DFFFDBC}"/>
              </a:ext>
            </a:extLst>
          </p:cNvPr>
          <p:cNvSpPr/>
          <p:nvPr/>
        </p:nvSpPr>
        <p:spPr>
          <a:xfrm>
            <a:off x="792102" y="226069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Mục tiêu: hoàn thiện nền tảng phần cứng, điều khiển và cloud trước khi tích hợp AI.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5107BF3-5D2F-4943-88C3-586F48E88207}"/>
              </a:ext>
            </a:extLst>
          </p:cNvPr>
          <p:cNvSpPr/>
          <p:nvPr/>
        </p:nvSpPr>
        <p:spPr>
          <a:xfrm>
            <a:off x="707570" y="2725995"/>
            <a:ext cx="3520080" cy="21640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3B92443-9423-42E4-9574-91A531D7DE38}"/>
              </a:ext>
            </a:extLst>
          </p:cNvPr>
          <p:cNvSpPr/>
          <p:nvPr/>
        </p:nvSpPr>
        <p:spPr>
          <a:xfrm>
            <a:off x="707569" y="2725995"/>
            <a:ext cx="55075" cy="2164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47FEB8-C05B-4409-AEB3-DABC527FF9A1}"/>
              </a:ext>
            </a:extLst>
          </p:cNvPr>
          <p:cNvSpPr/>
          <p:nvPr/>
        </p:nvSpPr>
        <p:spPr>
          <a:xfrm>
            <a:off x="908809" y="2872155"/>
            <a:ext cx="3149507" cy="135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Đã triển khai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250E871-DB2F-438D-80D2-37B76BD83F01}"/>
              </a:ext>
            </a:extLst>
          </p:cNvPr>
          <p:cNvSpPr/>
          <p:nvPr/>
        </p:nvSpPr>
        <p:spPr>
          <a:xfrm>
            <a:off x="908809" y="3256275"/>
            <a:ext cx="3149507" cy="18394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ESP32-S3 CAM initialization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DOG: Servo 1 + HX711/Load Cell 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CAT: Servo 2 + HX711/Load Cell 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LED cấp thức ăn + buzzer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Wi-Fi + Firebase Auth/RTDB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626E69F-5910-422D-9DFF-13F15D7B747C}"/>
              </a:ext>
            </a:extLst>
          </p:cNvPr>
          <p:cNvSpPr/>
          <p:nvPr/>
        </p:nvSpPr>
        <p:spPr>
          <a:xfrm>
            <a:off x="4410890" y="2725995"/>
            <a:ext cx="3520080" cy="21640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E71A879-5E14-4DD5-9E9B-00FFDC10F6A2}"/>
              </a:ext>
            </a:extLst>
          </p:cNvPr>
          <p:cNvSpPr/>
          <p:nvPr/>
        </p:nvSpPr>
        <p:spPr>
          <a:xfrm>
            <a:off x="4410889" y="2725995"/>
            <a:ext cx="55075" cy="2164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8F03CF-626E-4365-8DEE-C28AA6DEF983}"/>
              </a:ext>
            </a:extLst>
          </p:cNvPr>
          <p:cNvSpPr/>
          <p:nvPr/>
        </p:nvSpPr>
        <p:spPr>
          <a:xfrm>
            <a:off x="4612129" y="2872155"/>
            <a:ext cx="3149507" cy="135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Logic cấp thức ăn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01DF2EC-7DB6-40C5-8F47-4C3390127808}"/>
              </a:ext>
            </a:extLst>
          </p:cNvPr>
          <p:cNvSpPr/>
          <p:nvPr/>
        </p:nvSpPr>
        <p:spPr>
          <a:xfrm>
            <a:off x="4612129" y="3256275"/>
            <a:ext cx="3149507" cy="18394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Feed Now command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Firebase portion fallback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Cooldown 10 phút / loài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Đóng cửa theo khối lượng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Timeout / no-progress protection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Feeding history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DF542CD-A62D-4EED-9C28-FCC78E75A9EC}"/>
              </a:ext>
            </a:extLst>
          </p:cNvPr>
          <p:cNvSpPr/>
          <p:nvPr/>
        </p:nvSpPr>
        <p:spPr>
          <a:xfrm>
            <a:off x="8114210" y="2725995"/>
            <a:ext cx="3520080" cy="21640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6BA03E9-0EC5-461F-BA46-7279F87F9188}"/>
              </a:ext>
            </a:extLst>
          </p:cNvPr>
          <p:cNvSpPr/>
          <p:nvPr/>
        </p:nvSpPr>
        <p:spPr>
          <a:xfrm>
            <a:off x="8114209" y="2725995"/>
            <a:ext cx="55075" cy="2164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BA8F9BB-405A-4C1C-AD0D-9B72C8446BD5}"/>
              </a:ext>
            </a:extLst>
          </p:cNvPr>
          <p:cNvSpPr/>
          <p:nvPr/>
        </p:nvSpPr>
        <p:spPr>
          <a:xfrm>
            <a:off x="8315449" y="2872155"/>
            <a:ext cx="3149507" cy="135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Chẩn đoán &amp; mở rộng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D35AC80-ACA4-4BC6-9283-D29F6D0C16A7}"/>
              </a:ext>
            </a:extLst>
          </p:cNvPr>
          <p:cNvSpPr/>
          <p:nvPr/>
        </p:nvSpPr>
        <p:spPr>
          <a:xfrm>
            <a:off x="8315449" y="3256275"/>
            <a:ext cx="3149507" cy="18394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Serial calibration mode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Camera capture diagnostic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Calibration lưu trong NVS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AI tương lai chỉ cần trả về dog/cat và gọi cùng feeding controller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CB2C1A2-65FA-4A2C-BF96-8B0B83029586}"/>
              </a:ext>
            </a:extLst>
          </p:cNvPr>
          <p:cNvSpPr/>
          <p:nvPr/>
        </p:nvSpPr>
        <p:spPr>
          <a:xfrm>
            <a:off x="8577025" y="4590087"/>
            <a:ext cx="2825255" cy="15319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 w="12700">
            <a:solidFill>
              <a:srgbClr val="FFED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B728927-E821-4091-B46D-B5FBF86769E8}"/>
              </a:ext>
            </a:extLst>
          </p:cNvPr>
          <p:cNvSpPr/>
          <p:nvPr/>
        </p:nvSpPr>
        <p:spPr>
          <a:xfrm>
            <a:off x="8282792" y="4648200"/>
            <a:ext cx="2677172" cy="809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AI inference: CHƯA có trong V1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323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363BC20-98FD-4F87-BF1A-D00861A6994D}"/>
              </a:ext>
            </a:extLst>
          </p:cNvPr>
          <p:cNvSpPr/>
          <p:nvPr/>
        </p:nvSpPr>
        <p:spPr>
          <a:xfrm>
            <a:off x="701220" y="121920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Hai kênh cấp thức ăn độc lập cho DOG và CAT.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DE2CAA3A-05D7-44A8-B356-F52B0A1FE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803267"/>
              </p:ext>
            </p:extLst>
          </p:nvPr>
        </p:nvGraphicFramePr>
        <p:xfrm>
          <a:off x="911460" y="1703760"/>
          <a:ext cx="5029200" cy="41148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Chức năng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Servo 1 – DOG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42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HX711 #1 DT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HX711 #1 SCK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Servo 2 – CAT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41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HX711 #2 DT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39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HX711 #2 SCK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40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Passive buzzer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47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Feeding LED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GPIO 48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Shape 2">
            <a:extLst>
              <a:ext uri="{FF2B5EF4-FFF2-40B4-BE49-F238E27FC236}">
                <a16:creationId xmlns:a16="http://schemas.microsoft.com/office/drawing/2014/main" id="{589681CD-E52B-4B5F-9350-69BC782A5D1F}"/>
              </a:ext>
            </a:extLst>
          </p:cNvPr>
          <p:cNvSpPr/>
          <p:nvPr/>
        </p:nvSpPr>
        <p:spPr>
          <a:xfrm>
            <a:off x="6535020" y="1886640"/>
            <a:ext cx="4480200" cy="39772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FA817203-10A3-4B06-A9CD-E6119025912C}"/>
              </a:ext>
            </a:extLst>
          </p:cNvPr>
          <p:cNvSpPr/>
          <p:nvPr/>
        </p:nvSpPr>
        <p:spPr>
          <a:xfrm>
            <a:off x="7723740" y="2188320"/>
            <a:ext cx="2102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ESP32-S3 CAM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B73099A-05C8-4AB0-824F-C69523B7C76A}"/>
              </a:ext>
            </a:extLst>
          </p:cNvPr>
          <p:cNvSpPr/>
          <p:nvPr/>
        </p:nvSpPr>
        <p:spPr>
          <a:xfrm>
            <a:off x="6900780" y="2846760"/>
            <a:ext cx="1737000" cy="100548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144D2C86-4568-424E-A2AA-BDB144C655CC}"/>
              </a:ext>
            </a:extLst>
          </p:cNvPr>
          <p:cNvSpPr/>
          <p:nvPr/>
        </p:nvSpPr>
        <p:spPr>
          <a:xfrm>
            <a:off x="6900780" y="2846760"/>
            <a:ext cx="54360" cy="1005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E699772-047F-4612-8532-32905331456C}"/>
              </a:ext>
            </a:extLst>
          </p:cNvPr>
          <p:cNvSpPr/>
          <p:nvPr/>
        </p:nvSpPr>
        <p:spPr>
          <a:xfrm>
            <a:off x="7102020" y="29929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DOG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A7E6FDEF-2022-40D1-8A18-C4FBBEF44ACB}"/>
              </a:ext>
            </a:extLst>
          </p:cNvPr>
          <p:cNvSpPr/>
          <p:nvPr/>
        </p:nvSpPr>
        <p:spPr>
          <a:xfrm>
            <a:off x="7102020" y="33770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Servo 42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HX711 1/2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6749A2CC-96CD-4659-8FBD-9AFBF0951993}"/>
              </a:ext>
            </a:extLst>
          </p:cNvPr>
          <p:cNvSpPr/>
          <p:nvPr/>
        </p:nvSpPr>
        <p:spPr>
          <a:xfrm>
            <a:off x="8912460" y="2846760"/>
            <a:ext cx="1737000" cy="1005480"/>
          </a:xfrm>
          <a:prstGeom prst="roundRect">
            <a:avLst>
              <a:gd name="adj" fmla="val 5455"/>
            </a:avLst>
          </a:prstGeom>
          <a:solidFill>
            <a:srgbClr val="F3E8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BB0EB607-9CEA-448D-BAE9-3A1F0EAF12F9}"/>
              </a:ext>
            </a:extLst>
          </p:cNvPr>
          <p:cNvSpPr/>
          <p:nvPr/>
        </p:nvSpPr>
        <p:spPr>
          <a:xfrm>
            <a:off x="8912460" y="2846760"/>
            <a:ext cx="54360" cy="100548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047E1F7-D0C1-4A65-A3B7-4C7D38DBF031}"/>
              </a:ext>
            </a:extLst>
          </p:cNvPr>
          <p:cNvSpPr/>
          <p:nvPr/>
        </p:nvSpPr>
        <p:spPr>
          <a:xfrm>
            <a:off x="9113700" y="29929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0EB6797-28DE-405F-9481-E1FDFD8F00C8}"/>
              </a:ext>
            </a:extLst>
          </p:cNvPr>
          <p:cNvSpPr/>
          <p:nvPr/>
        </p:nvSpPr>
        <p:spPr>
          <a:xfrm>
            <a:off x="9113700" y="33770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Servo 41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HX711 39/40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0C0DB998-7F1B-4401-9479-002A791B8CE3}"/>
              </a:ext>
            </a:extLst>
          </p:cNvPr>
          <p:cNvSpPr/>
          <p:nvPr/>
        </p:nvSpPr>
        <p:spPr>
          <a:xfrm>
            <a:off x="6900780" y="4172640"/>
            <a:ext cx="1737000" cy="959760"/>
          </a:xfrm>
          <a:prstGeom prst="roundRect">
            <a:avLst>
              <a:gd name="adj" fmla="val 5714"/>
            </a:avLst>
          </a:prstGeom>
          <a:solidFill>
            <a:srgbClr val="FFEDD5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2F341079-CEB0-4394-ACF4-1E888BEB48A0}"/>
              </a:ext>
            </a:extLst>
          </p:cNvPr>
          <p:cNvSpPr/>
          <p:nvPr/>
        </p:nvSpPr>
        <p:spPr>
          <a:xfrm>
            <a:off x="6900780" y="4172640"/>
            <a:ext cx="54360" cy="959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21C39B93-F179-4AD7-B6AC-B6500241BAD9}"/>
              </a:ext>
            </a:extLst>
          </p:cNvPr>
          <p:cNvSpPr/>
          <p:nvPr/>
        </p:nvSpPr>
        <p:spPr>
          <a:xfrm>
            <a:off x="7102020" y="4318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Buzzer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423F3101-5540-417E-8509-7F3424E0A3FD}"/>
              </a:ext>
            </a:extLst>
          </p:cNvPr>
          <p:cNvSpPr/>
          <p:nvPr/>
        </p:nvSpPr>
        <p:spPr>
          <a:xfrm>
            <a:off x="7102020" y="4702920"/>
            <a:ext cx="1371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GPIO 47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069CE806-7B80-47FF-B72E-0B7F1F81D1E7}"/>
              </a:ext>
            </a:extLst>
          </p:cNvPr>
          <p:cNvSpPr/>
          <p:nvPr/>
        </p:nvSpPr>
        <p:spPr>
          <a:xfrm>
            <a:off x="8912460" y="4172640"/>
            <a:ext cx="1737000" cy="9597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C50B32FF-10C8-474C-93AB-D1DABFC94FEE}"/>
              </a:ext>
            </a:extLst>
          </p:cNvPr>
          <p:cNvSpPr/>
          <p:nvPr/>
        </p:nvSpPr>
        <p:spPr>
          <a:xfrm>
            <a:off x="8912460" y="4172640"/>
            <a:ext cx="54360" cy="959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B77074E3-3C51-47B0-AD96-C66D96D76556}"/>
              </a:ext>
            </a:extLst>
          </p:cNvPr>
          <p:cNvSpPr/>
          <p:nvPr/>
        </p:nvSpPr>
        <p:spPr>
          <a:xfrm>
            <a:off x="9113700" y="4318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822EC277-C745-4B4F-ABA0-D8563E33B713}"/>
              </a:ext>
            </a:extLst>
          </p:cNvPr>
          <p:cNvSpPr/>
          <p:nvPr/>
        </p:nvSpPr>
        <p:spPr>
          <a:xfrm>
            <a:off x="9113700" y="4702920"/>
            <a:ext cx="1371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GPIO 48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13951020-0F4B-4CF8-9480-22BB17D49370}"/>
              </a:ext>
            </a:extLst>
          </p:cNvPr>
          <p:cNvSpPr/>
          <p:nvPr/>
        </p:nvSpPr>
        <p:spPr>
          <a:xfrm>
            <a:off x="6809340" y="54254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Chân camera được định nghĩa riêng trong hardware_pins.h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772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27663A25-16C0-4793-9C84-CAAAE047023D}"/>
              </a:ext>
            </a:extLst>
          </p:cNvPr>
          <p:cNvSpPr/>
          <p:nvPr/>
        </p:nvSpPr>
        <p:spPr>
          <a:xfrm>
            <a:off x="457200" y="19812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>
                <a:solidFill>
                  <a:srgbClr val="0F172A"/>
                </a:solidFill>
                <a:latin typeface="Aptos"/>
              </a:rPr>
              <a:t>2</a:t>
            </a: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. Cấu hình &amp; điều kiện trước khi nạp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AB3A314-73D8-4029-A486-7A3E540E0206}"/>
              </a:ext>
            </a:extLst>
          </p:cNvPr>
          <p:cNvSpPr/>
          <p:nvPr/>
        </p:nvSpPr>
        <p:spPr>
          <a:xfrm>
            <a:off x="475560" y="252984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Các điều kiện bắt buộc để firmware khởi động và cấp thức ăn an toàn.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5761E34-D871-4D61-B54E-63A5DD04B33D}"/>
              </a:ext>
            </a:extLst>
          </p:cNvPr>
          <p:cNvSpPr/>
          <p:nvPr/>
        </p:nvSpPr>
        <p:spPr>
          <a:xfrm>
            <a:off x="594360" y="3014400"/>
            <a:ext cx="333720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6AA5C85E-12C7-45BB-B94E-7AC3F4253E33}"/>
              </a:ext>
            </a:extLst>
          </p:cNvPr>
          <p:cNvSpPr/>
          <p:nvPr/>
        </p:nvSpPr>
        <p:spPr>
          <a:xfrm>
            <a:off x="594360" y="3014400"/>
            <a:ext cx="54360" cy="1874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D625D8A-13DB-4190-B9FB-771DCF58A00B}"/>
              </a:ext>
            </a:extLst>
          </p:cNvPr>
          <p:cNvSpPr/>
          <p:nvPr/>
        </p:nvSpPr>
        <p:spPr>
          <a:xfrm>
            <a:off x="795600" y="31605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Arduino 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80778AD-6128-4BBE-85B2-13592B0C3C3B}"/>
              </a:ext>
            </a:extLst>
          </p:cNvPr>
          <p:cNvSpPr/>
          <p:nvPr/>
        </p:nvSpPr>
        <p:spPr>
          <a:xfrm>
            <a:off x="795600" y="3544680"/>
            <a:ext cx="297144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Board: ESP32S3 Dev Module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PSRAM: OPI PSRAM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Serial Monitor: 115200 baud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Flash/Partition: dùng cấu hình camera đã test thành công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40C0CBD-5C9A-456F-9128-C169CB3399CD}"/>
              </a:ext>
            </a:extLst>
          </p:cNvPr>
          <p:cNvSpPr/>
          <p:nvPr/>
        </p:nvSpPr>
        <p:spPr>
          <a:xfrm>
            <a:off x="4251960" y="3014400"/>
            <a:ext cx="333720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353F9DD7-B991-44F1-9F9E-CBCB51636F05}"/>
              </a:ext>
            </a:extLst>
          </p:cNvPr>
          <p:cNvSpPr/>
          <p:nvPr/>
        </p:nvSpPr>
        <p:spPr>
          <a:xfrm>
            <a:off x="4251960" y="3014400"/>
            <a:ext cx="54360" cy="1874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5C06ACC2-B956-475C-98DC-DE2DDE386212}"/>
              </a:ext>
            </a:extLst>
          </p:cNvPr>
          <p:cNvSpPr/>
          <p:nvPr/>
        </p:nvSpPr>
        <p:spPr>
          <a:xfrm>
            <a:off x="4453200" y="31605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secrets.h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903BF72-F243-4EC6-A29E-86D62EA40D53}"/>
              </a:ext>
            </a:extLst>
          </p:cNvPr>
          <p:cNvSpPr/>
          <p:nvPr/>
        </p:nvSpPr>
        <p:spPr>
          <a:xfrm>
            <a:off x="4453200" y="3544680"/>
            <a:ext cx="297144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WIFI_SSID / WIFI_PASSWORD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FIREBASE_API_KEY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FIREBASE_DATABASE_URL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FIREBASE_USER_EMAIL / PASSWORD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BB6FF93B-94C6-414F-BD16-F394C432BA33}"/>
              </a:ext>
            </a:extLst>
          </p:cNvPr>
          <p:cNvSpPr/>
          <p:nvPr/>
        </p:nvSpPr>
        <p:spPr>
          <a:xfrm>
            <a:off x="7909560" y="3014400"/>
            <a:ext cx="333720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EE9915CC-A2AE-4F0E-B04C-4D8586A9D5AF}"/>
              </a:ext>
            </a:extLst>
          </p:cNvPr>
          <p:cNvSpPr/>
          <p:nvPr/>
        </p:nvSpPr>
        <p:spPr>
          <a:xfrm>
            <a:off x="7909560" y="3014400"/>
            <a:ext cx="54360" cy="1874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9B2668F6-DC16-4623-AF0B-C419F0523AA7}"/>
              </a:ext>
            </a:extLst>
          </p:cNvPr>
          <p:cNvSpPr/>
          <p:nvPr/>
        </p:nvSpPr>
        <p:spPr>
          <a:xfrm>
            <a:off x="8110800" y="31605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Firebase Auth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79EA07C-EAD1-4AA6-93EB-5AB6E05DA779}"/>
              </a:ext>
            </a:extLst>
          </p:cNvPr>
          <p:cNvSpPr/>
          <p:nvPr/>
        </p:nvSpPr>
        <p:spPr>
          <a:xfrm>
            <a:off x="8110800" y="3544680"/>
            <a:ext cx="297144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Sử dụng tài khoản Email/Password có quyền theo RTDB rules.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Không đưa credential thật lên repository.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226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FC05567B-610E-4B16-8F71-DEACABE5A2EC}"/>
              </a:ext>
            </a:extLst>
          </p:cNvPr>
          <p:cNvSpPr/>
          <p:nvPr/>
        </p:nvSpPr>
        <p:spPr>
          <a:xfrm>
            <a:off x="586740" y="13290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>
                <a:solidFill>
                  <a:srgbClr val="0F172A"/>
                </a:solidFill>
                <a:latin typeface="Aptos"/>
              </a:rPr>
              <a:t>3</a:t>
            </a: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. Firebase V1 Contract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96935FE-80BB-4B7C-8F81-DA499CE012D1}"/>
              </a:ext>
            </a:extLst>
          </p:cNvPr>
          <p:cNvSpPr/>
          <p:nvPr/>
        </p:nvSpPr>
        <p:spPr>
          <a:xfrm>
            <a:off x="605100" y="187764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Device root: /devices/feeder-01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33C86815-9F40-48C5-9C2C-B31A70A8A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974474"/>
              </p:ext>
            </p:extLst>
          </p:nvPr>
        </p:nvGraphicFramePr>
        <p:xfrm>
          <a:off x="678180" y="2362200"/>
          <a:ext cx="10835640" cy="3520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Luồng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Path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Mục đích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APP → Firmware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/command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Gửi lệnh feed_now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Firebase → Firmware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/config/speciesProfiles/dog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Cấu hình khẩu phần DOG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Firebase → Firmware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/config/speciesProfiles/cat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Cấu hình khẩu phần CAT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Firmware → Firebase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/status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Trạng thái thiết bị/lệnh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Firmware → Firebase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/runtime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Thông tin runtime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Firmware → Firebase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/feedingHistory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Aptos"/>
                        </a:rPr>
                        <a:t>Lịch sử cấp thức ăn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2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329268E-789D-443E-A024-FE5F872D03BD}"/>
              </a:ext>
            </a:extLst>
          </p:cNvPr>
          <p:cNvSpPr/>
          <p:nvPr/>
        </p:nvSpPr>
        <p:spPr>
          <a:xfrm>
            <a:off x="777240" y="1311942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>
                <a:solidFill>
                  <a:srgbClr val="0F172A"/>
                </a:solidFill>
                <a:latin typeface="Aptos"/>
              </a:rPr>
              <a:t>4</a:t>
            </a: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. Lệnh Feed Now &amp; chiến lược khẩu phần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2DDF8D2-D518-4FD5-ADA3-3549A81579A8}"/>
              </a:ext>
            </a:extLst>
          </p:cNvPr>
          <p:cNvSpPr/>
          <p:nvPr/>
        </p:nvSpPr>
        <p:spPr>
          <a:xfrm>
            <a:off x="795600" y="1860582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Firmware ưu tiên targetGrams trong command; nếu không hợp lệ sẽ dùng cấu hình fallback.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70503DC-AC37-4E67-9D00-835153CB64C5}"/>
              </a:ext>
            </a:extLst>
          </p:cNvPr>
          <p:cNvSpPr/>
          <p:nvPr/>
        </p:nvSpPr>
        <p:spPr>
          <a:xfrm>
            <a:off x="914400" y="2345142"/>
            <a:ext cx="5120280" cy="333720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416DE33-8EB3-44F7-9A41-8256A4596364}"/>
              </a:ext>
            </a:extLst>
          </p:cNvPr>
          <p:cNvSpPr/>
          <p:nvPr/>
        </p:nvSpPr>
        <p:spPr>
          <a:xfrm>
            <a:off x="1207080" y="2646822"/>
            <a:ext cx="45716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"requestId": "req-001",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"type": "feed_now",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"speciesId": "dog",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"targetGrams": 80,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"status": "pending",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"requestedAtEpoch": 1788890000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A34DBC5-C1CD-4898-81BA-ABA0CCF60055}"/>
              </a:ext>
            </a:extLst>
          </p:cNvPr>
          <p:cNvSpPr/>
          <p:nvPr/>
        </p:nvSpPr>
        <p:spPr>
          <a:xfrm>
            <a:off x="6675120" y="2482302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Quy tắc targetGrams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3624D62-1091-41CB-A24B-A78C2CED95D6}"/>
              </a:ext>
            </a:extLst>
          </p:cNvPr>
          <p:cNvSpPr/>
          <p:nvPr/>
        </p:nvSpPr>
        <p:spPr>
          <a:xfrm>
            <a:off x="6629400" y="3030942"/>
            <a:ext cx="4297320" cy="9597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92D96BD-F560-4519-9C00-5E39987BA988}"/>
              </a:ext>
            </a:extLst>
          </p:cNvPr>
          <p:cNvSpPr/>
          <p:nvPr/>
        </p:nvSpPr>
        <p:spPr>
          <a:xfrm>
            <a:off x="6629400" y="3030942"/>
            <a:ext cx="54360" cy="959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2E3E0F7-5B05-4F79-85D3-D08A75EC8E92}"/>
              </a:ext>
            </a:extLst>
          </p:cNvPr>
          <p:cNvSpPr/>
          <p:nvPr/>
        </p:nvSpPr>
        <p:spPr>
          <a:xfrm>
            <a:off x="6830640" y="3177102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targetGrams &gt;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5CC846B-8BCF-4871-9757-6A624FDA615C}"/>
              </a:ext>
            </a:extLst>
          </p:cNvPr>
          <p:cNvSpPr/>
          <p:nvPr/>
        </p:nvSpPr>
        <p:spPr>
          <a:xfrm>
            <a:off x="6830640" y="3561222"/>
            <a:ext cx="3931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Dùng trực tiếp giá trị trong command.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D277F1E1-B780-410D-81F9-25063DF709F1}"/>
              </a:ext>
            </a:extLst>
          </p:cNvPr>
          <p:cNvSpPr/>
          <p:nvPr/>
        </p:nvSpPr>
        <p:spPr>
          <a:xfrm>
            <a:off x="6629400" y="4219662"/>
            <a:ext cx="4297320" cy="9597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B152308-CFDC-4A2C-8CDA-7AAFA345C79C}"/>
              </a:ext>
            </a:extLst>
          </p:cNvPr>
          <p:cNvSpPr/>
          <p:nvPr/>
        </p:nvSpPr>
        <p:spPr>
          <a:xfrm>
            <a:off x="6629400" y="4219662"/>
            <a:ext cx="54360" cy="959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DA21903E-5E17-4BF4-81FE-671B6ABB94FD}"/>
              </a:ext>
            </a:extLst>
          </p:cNvPr>
          <p:cNvSpPr/>
          <p:nvPr/>
        </p:nvSpPr>
        <p:spPr>
          <a:xfrm>
            <a:off x="6830640" y="4365822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targetGrams ≤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D6BCD9A-52B3-45B8-9C66-68C53D0D3AF2}"/>
              </a:ext>
            </a:extLst>
          </p:cNvPr>
          <p:cNvSpPr/>
          <p:nvPr/>
        </p:nvSpPr>
        <p:spPr>
          <a:xfrm>
            <a:off x="6830640" y="4749942"/>
            <a:ext cx="3931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Đọc portionGrams từ Firebase.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6CA31563-F685-4DEF-BD9B-F2B23D404D5A}"/>
              </a:ext>
            </a:extLst>
          </p:cNvPr>
          <p:cNvSpPr/>
          <p:nvPr/>
        </p:nvSpPr>
        <p:spPr>
          <a:xfrm>
            <a:off x="6629400" y="5408382"/>
            <a:ext cx="4297320" cy="959760"/>
          </a:xfrm>
          <a:prstGeom prst="roundRect">
            <a:avLst>
              <a:gd name="adj" fmla="val 5714"/>
            </a:avLst>
          </a:prstGeom>
          <a:solidFill>
            <a:srgbClr val="FFEDD5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67A5AC2-EAFD-442B-89B7-EFBEE2159462}"/>
              </a:ext>
            </a:extLst>
          </p:cNvPr>
          <p:cNvSpPr/>
          <p:nvPr/>
        </p:nvSpPr>
        <p:spPr>
          <a:xfrm>
            <a:off x="6629400" y="5408382"/>
            <a:ext cx="54360" cy="959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5FEEE4A2-E894-4C08-8956-5C372ABB4C49}"/>
              </a:ext>
            </a:extLst>
          </p:cNvPr>
          <p:cNvSpPr/>
          <p:nvPr/>
        </p:nvSpPr>
        <p:spPr>
          <a:xfrm>
            <a:off x="6830640" y="5554542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Không có portion hợp lệ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BC06F97-57A8-4A38-99D6-DC6D15729C1B}"/>
              </a:ext>
            </a:extLst>
          </p:cNvPr>
          <p:cNvSpPr/>
          <p:nvPr/>
        </p:nvSpPr>
        <p:spPr>
          <a:xfrm>
            <a:off x="6830640" y="5938662"/>
            <a:ext cx="3931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Fallback mặc định: DOG 80 g • CAT 45 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79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C5FE1E40-2592-4EAE-B192-39FB29C80BD2}"/>
              </a:ext>
            </a:extLst>
          </p:cNvPr>
          <p:cNvSpPr/>
          <p:nvPr/>
        </p:nvSpPr>
        <p:spPr>
          <a:xfrm>
            <a:off x="305160" y="1064308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 Tích hợp AI ở phiên bản tiếp theo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EC37DD4C-6257-4C54-8820-8829FD3E6DE9}"/>
              </a:ext>
            </a:extLst>
          </p:cNvPr>
          <p:cNvSpPr/>
          <p:nvPr/>
        </p:nvSpPr>
        <p:spPr>
          <a:xfrm>
            <a:off x="323520" y="1612948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Điểm mạnh của V1: AI không cần thay đổi logic cấp thức ăn hiện có.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5B30E450-37C6-4F06-9C60-AE2D8DB0116F}"/>
              </a:ext>
            </a:extLst>
          </p:cNvPr>
          <p:cNvSpPr/>
          <p:nvPr/>
        </p:nvSpPr>
        <p:spPr>
          <a:xfrm>
            <a:off x="533760" y="2188948"/>
            <a:ext cx="2925720" cy="201132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190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2C34E6A-84D6-4C32-9674-A6539B4E2681}"/>
              </a:ext>
            </a:extLst>
          </p:cNvPr>
          <p:cNvSpPr/>
          <p:nvPr/>
        </p:nvSpPr>
        <p:spPr>
          <a:xfrm>
            <a:off x="1036680" y="2554708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AI Classifier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47F667B-B94B-416D-AA9D-5AC853159872}"/>
              </a:ext>
            </a:extLst>
          </p:cNvPr>
          <p:cNvSpPr/>
          <p:nvPr/>
        </p:nvSpPr>
        <p:spPr>
          <a:xfrm>
            <a:off x="945240" y="3075988"/>
            <a:ext cx="2102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2400E"/>
                </a:solidFill>
                <a:effectLst/>
                <a:uFillTx/>
                <a:latin typeface="Courier New"/>
                <a:ea typeface="Courier New"/>
              </a:rPr>
              <a:t>speciesId = "dog" / "cat"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2400E"/>
                </a:solidFill>
                <a:effectLst/>
                <a:uFillTx/>
                <a:latin typeface="Courier New"/>
                <a:ea typeface="Courier New"/>
              </a:rPr>
              <a:t>confidence = 0.94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2E779399-A560-43EC-B312-A56E87503F42}"/>
              </a:ext>
            </a:extLst>
          </p:cNvPr>
          <p:cNvSpPr/>
          <p:nvPr/>
        </p:nvSpPr>
        <p:spPr>
          <a:xfrm>
            <a:off x="3505560" y="3194788"/>
            <a:ext cx="91440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B867D23-B83A-455F-8BC7-F8D33F9ED5B5}"/>
              </a:ext>
            </a:extLst>
          </p:cNvPr>
          <p:cNvSpPr/>
          <p:nvPr/>
        </p:nvSpPr>
        <p:spPr>
          <a:xfrm>
            <a:off x="4465680" y="2188948"/>
            <a:ext cx="2925720" cy="201132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7F85303C-BAD4-4732-94FF-4BF14D4ACD93}"/>
              </a:ext>
            </a:extLst>
          </p:cNvPr>
          <p:cNvSpPr/>
          <p:nvPr/>
        </p:nvSpPr>
        <p:spPr>
          <a:xfrm>
            <a:off x="4968600" y="2554708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Feeding API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E751C2CF-B536-4C8C-9D86-C040B781B80D}"/>
              </a:ext>
            </a:extLst>
          </p:cNvPr>
          <p:cNvSpPr/>
          <p:nvPr/>
        </p:nvSpPr>
        <p:spPr>
          <a:xfrm>
            <a:off x="4785720" y="3075988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feedSpecies(speciesId, 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40AF"/>
                </a:solidFill>
                <a:effectLst/>
                <a:uFillTx/>
                <a:latin typeface="Courier New"/>
                <a:ea typeface="Courier New"/>
              </a:rPr>
              <a:t>requestId, "automatic")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95F1AAF-36F3-46C2-9B63-A39C4445E989}"/>
              </a:ext>
            </a:extLst>
          </p:cNvPr>
          <p:cNvSpPr/>
          <p:nvPr/>
        </p:nvSpPr>
        <p:spPr>
          <a:xfrm>
            <a:off x="7437480" y="3194788"/>
            <a:ext cx="914400" cy="360"/>
          </a:xfrm>
          <a:prstGeom prst="line">
            <a:avLst/>
          </a:prstGeom>
          <a:ln w="254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7220B72E-DC78-4053-A853-EDBEB0FEE7DD}"/>
              </a:ext>
            </a:extLst>
          </p:cNvPr>
          <p:cNvSpPr/>
          <p:nvPr/>
        </p:nvSpPr>
        <p:spPr>
          <a:xfrm>
            <a:off x="8397600" y="2188948"/>
            <a:ext cx="2651400" cy="20113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8AC3F86-F653-49E9-8BF2-0BEDE9375EBB}"/>
              </a:ext>
            </a:extLst>
          </p:cNvPr>
          <p:cNvSpPr/>
          <p:nvPr/>
        </p:nvSpPr>
        <p:spPr>
          <a:xfrm>
            <a:off x="8854800" y="2554708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Controller V1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6FEF6F78-57A6-4ABF-BDCE-04302A46D075}"/>
              </a:ext>
            </a:extLst>
          </p:cNvPr>
          <p:cNvSpPr/>
          <p:nvPr/>
        </p:nvSpPr>
        <p:spPr>
          <a:xfrm>
            <a:off x="8717640" y="3075988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66534"/>
                </a:solidFill>
                <a:effectLst/>
                <a:uFillTx/>
                <a:latin typeface="Aptos"/>
              </a:rPr>
              <a:t>Portion → Servo → Weight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66534"/>
                </a:solidFill>
                <a:effectLst/>
                <a:uFillTx/>
                <a:latin typeface="Aptos"/>
              </a:rPr>
              <a:t>→ History → Cooldown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C4D7E87C-F1D2-45C6-9411-EC34D70D9EA1}"/>
              </a:ext>
            </a:extLst>
          </p:cNvPr>
          <p:cNvSpPr/>
          <p:nvPr/>
        </p:nvSpPr>
        <p:spPr>
          <a:xfrm>
            <a:off x="988783" y="4673732"/>
            <a:ext cx="29714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28ECD5B2-D546-4C9A-B58B-E6674B70D196}"/>
              </a:ext>
            </a:extLst>
          </p:cNvPr>
          <p:cNvSpPr/>
          <p:nvPr/>
        </p:nvSpPr>
        <p:spPr>
          <a:xfrm>
            <a:off x="988783" y="4673732"/>
            <a:ext cx="54360" cy="1142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43CEFBAC-46A3-4887-9CEC-55891958CFF4}"/>
              </a:ext>
            </a:extLst>
          </p:cNvPr>
          <p:cNvSpPr/>
          <p:nvPr/>
        </p:nvSpPr>
        <p:spPr>
          <a:xfrm>
            <a:off x="1190023" y="4819892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Ý nghĩa target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0108075E-4C1F-4A42-AA25-3377C821D64E}"/>
              </a:ext>
            </a:extLst>
          </p:cNvPr>
          <p:cNvSpPr/>
          <p:nvPr/>
        </p:nvSpPr>
        <p:spPr>
          <a:xfrm>
            <a:off x="1190023" y="5204012"/>
            <a:ext cx="260568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Controller tự lấy portion từ Firebase hoặc default.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BF8EC3E9-FE56-4DFD-9534-C81F74F047F4}"/>
              </a:ext>
            </a:extLst>
          </p:cNvPr>
          <p:cNvSpPr/>
          <p:nvPr/>
        </p:nvSpPr>
        <p:spPr>
          <a:xfrm>
            <a:off x="4463503" y="4673732"/>
            <a:ext cx="29714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A2BD4C46-FDA0-4255-BF80-5C27F28E7E6B}"/>
              </a:ext>
            </a:extLst>
          </p:cNvPr>
          <p:cNvSpPr/>
          <p:nvPr/>
        </p:nvSpPr>
        <p:spPr>
          <a:xfrm>
            <a:off x="4463503" y="4673732"/>
            <a:ext cx="54360" cy="1142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04053F69-0C8A-45E9-963E-7FC419F8F8FD}"/>
              </a:ext>
            </a:extLst>
          </p:cNvPr>
          <p:cNvSpPr/>
          <p:nvPr/>
        </p:nvSpPr>
        <p:spPr>
          <a:xfrm>
            <a:off x="4664743" y="4819892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Lợi ích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759D5BF-A645-4071-8A93-CD13FE5DF499}"/>
              </a:ext>
            </a:extLst>
          </p:cNvPr>
          <p:cNvSpPr/>
          <p:nvPr/>
        </p:nvSpPr>
        <p:spPr>
          <a:xfrm>
            <a:off x="4664743" y="5204012"/>
            <a:ext cx="260568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AI và cơ cấu cấp thức ăn được tách rời, dễ debug.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DFED10BC-7795-44E3-87ED-E708CE254D88}"/>
              </a:ext>
            </a:extLst>
          </p:cNvPr>
          <p:cNvSpPr/>
          <p:nvPr/>
        </p:nvSpPr>
        <p:spPr>
          <a:xfrm>
            <a:off x="7938223" y="4673732"/>
            <a:ext cx="29714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7AF2E9F3-7218-4BB0-91A2-5A88D5618696}"/>
              </a:ext>
            </a:extLst>
          </p:cNvPr>
          <p:cNvSpPr/>
          <p:nvPr/>
        </p:nvSpPr>
        <p:spPr>
          <a:xfrm>
            <a:off x="7938223" y="4673732"/>
            <a:ext cx="54360" cy="1142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082361F4-698C-4345-9421-9ADB8D9A9DA3}"/>
              </a:ext>
            </a:extLst>
          </p:cNvPr>
          <p:cNvSpPr/>
          <p:nvPr/>
        </p:nvSpPr>
        <p:spPr>
          <a:xfrm>
            <a:off x="8139463" y="4819892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Bước tiếp theo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AE0EE01-7587-4E65-930C-399A3CE067FE}"/>
              </a:ext>
            </a:extLst>
          </p:cNvPr>
          <p:cNvSpPr/>
          <p:nvPr/>
        </p:nvSpPr>
        <p:spPr>
          <a:xfrm>
            <a:off x="8139463" y="5204012"/>
            <a:ext cx="260568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Deploy classifier INT8 trên ESP32-S3 và tuning confidence threshold.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22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Edge AI literature review</a:t>
            </a:r>
          </a:p>
          <a:p>
            <a:r>
              <a:rPr lang="en-US"/>
              <a:t>Cats and Dogs Classification Dataset: </a:t>
            </a:r>
            <a:r>
              <a:rPr lang="en-US">
                <a:hlinkClick r:id="rId2"/>
              </a:rPr>
              <a:t>https://www.kaggle.com/datasets/bhavikjikadara/dog-and-cat-classification-dataset/data</a:t>
            </a:r>
            <a:r>
              <a:rPr lang="en-US"/>
              <a:t> </a:t>
            </a:r>
          </a:p>
          <a:p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 dữ liệu hiện tại gồm 24.998 ảnh có nhãn, cân bằng hoàn toàn giữa hai lớp. Việc chia tập được thực hiện stratified theo lớp với seed = 42. Test được khóa trong giai đoạn chọn kiến trúc và hyperparameter; chỉ được mở một lần sau khi toàn bộ quyết định mô hình đã cố định.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2889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FF63F1-CB56-4A16-B4D2-5AE945411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21126"/>
              </p:ext>
            </p:extLst>
          </p:nvPr>
        </p:nvGraphicFramePr>
        <p:xfrm>
          <a:off x="4724400" y="3914829"/>
          <a:ext cx="6083935" cy="2306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1859991774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163936885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202057805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1796371697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826553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Tập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Vai trò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254556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Train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Tối ưu tham số mô hình.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6189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Validation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Chọn checkpoint, early stopping, ablation.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79337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Đánh giá cuối cùng; không dùng để tuning.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10148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Dữ liệu có nhãn.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65121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3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50323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Related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22FF7-6303-4FD3-BFEC-2B4E3452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20" y="1143000"/>
            <a:ext cx="7980679" cy="46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4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6C97C-2295-4BB8-BACE-7337CF7E2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020764"/>
            <a:ext cx="8915399" cy="5163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93,08%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22086"/>
              </p:ext>
            </p:extLst>
          </p:nvPr>
        </p:nvGraphicFramePr>
        <p:xfrm>
          <a:off x="-3733800" y="2707317"/>
          <a:ext cx="3240405" cy="351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896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Edge AI- result  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7B1FCD-163B-4069-9ECB-C285AAB54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009418"/>
              </p:ext>
            </p:extLst>
          </p:nvPr>
        </p:nvGraphicFramePr>
        <p:xfrm>
          <a:off x="508000" y="1920240"/>
          <a:ext cx="10998200" cy="41148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325202253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17590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8221196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73560593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80027843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370966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FP32 Acc.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INT8 Acc.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Latency ESP32-S3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3260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Yolov11-n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2.8M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0733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MobileNetV2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8640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Reset 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11.7M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99.8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43645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MobileNetV3-Small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4627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Proposed Model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996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72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F06C-41C4-4254-9FC4-B6680C3E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Viết cuốn báo cáo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52C7-25C8-4B47-BEA7-580C29C2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Mẫu cuốn báo cáo. </a:t>
            </a:r>
            <a:r>
              <a:rPr lang="en-US">
                <a:hlinkClick r:id="rId2"/>
              </a:rPr>
              <a:t>Link</a:t>
            </a:r>
            <a:endParaRPr lang="en-US"/>
          </a:p>
          <a:p>
            <a:r>
              <a:rPr lang="en-US"/>
              <a:t>Yêu cầu: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1: Tổng quan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2: C</a:t>
            </a:r>
            <a:r>
              <a:rPr lang="vi-VN"/>
              <a:t>ơ</a:t>
            </a:r>
            <a:r>
              <a:rPr lang="en-US"/>
              <a:t> sở lý thuyết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3: Phân tích và thiết kế hệ thống (2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4: Phân tích kết quả (1 tuần)</a:t>
            </a:r>
          </a:p>
          <a:p>
            <a:pPr lvl="1"/>
            <a:r>
              <a:rPr lang="en-US"/>
              <a:t>Ch</a:t>
            </a:r>
            <a:r>
              <a:rPr lang="vi-VN"/>
              <a:t>ư</a:t>
            </a:r>
            <a:r>
              <a:rPr lang="en-US"/>
              <a:t>ơng 5: Kết luận (1 tuần) -&gt; Nộp hoàn thiện</a:t>
            </a:r>
          </a:p>
        </p:txBody>
      </p:sp>
    </p:spTree>
    <p:extLst>
      <p:ext uri="{BB962C8B-B14F-4D97-AF65-F5344CB8AC3E}">
        <p14:creationId xmlns:p14="http://schemas.microsoft.com/office/powerpoint/2010/main" val="45900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4734</TotalTime>
  <Words>1183</Words>
  <Application>Microsoft Office PowerPoint</Application>
  <PresentationFormat>Widescreen</PresentationFormat>
  <Paragraphs>232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Tahoma</vt:lpstr>
      <vt:lpstr>Times New Roman</vt:lpstr>
      <vt:lpstr>Verdana</vt:lpstr>
      <vt:lpstr>Wingdings</vt:lpstr>
      <vt:lpstr>cdb2004212gl</vt:lpstr>
      <vt:lpstr>Môn: Phát triển ứng dụng di động (Tuần 3 – Viết cuốn báo cáo)</vt:lpstr>
      <vt:lpstr>1. Tiến độ thực tế (dự kiến)</vt:lpstr>
      <vt:lpstr>2. Report mỗi tuần (  đồng bộ lên github  Nộp utex)</vt:lpstr>
      <vt:lpstr>2. Report mỗi tuần (  đồng bộ lên github  Nộp utex)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2. Report mỗi tuần</vt:lpstr>
      <vt:lpstr>3. Viết cuốn báo cáo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Dung Hoang</cp:lastModifiedBy>
  <cp:revision>405</cp:revision>
  <cp:lastPrinted>2018-01-16T10:17:52Z</cp:lastPrinted>
  <dcterms:created xsi:type="dcterms:W3CDTF">2017-11-10T03:20:57Z</dcterms:created>
  <dcterms:modified xsi:type="dcterms:W3CDTF">2026-09-14T03:29:19Z</dcterms:modified>
</cp:coreProperties>
</file>