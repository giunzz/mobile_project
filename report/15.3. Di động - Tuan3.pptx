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handoutMasterIdLst>
    <p:handoutMasterId r:id="rId17"/>
  </p:handoutMasterIdLst>
  <p:sldIdLst>
    <p:sldId id="276" r:id="rId2"/>
    <p:sldId id="301" r:id="rId3"/>
    <p:sldId id="302" r:id="rId4"/>
    <p:sldId id="305" r:id="rId5"/>
    <p:sldId id="306" r:id="rId6"/>
    <p:sldId id="307" r:id="rId7"/>
    <p:sldId id="308" r:id="rId8"/>
    <p:sldId id="309" r:id="rId9"/>
    <p:sldId id="310" r:id="rId10"/>
    <p:sldId id="311" r:id="rId11"/>
    <p:sldId id="313" r:id="rId12"/>
    <p:sldId id="312" r:id="rId13"/>
    <p:sldId id="304" r:id="rId14"/>
    <p:sldId id="275" r:id="rId15"/>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300"/>
    <a:srgbClr val="969696"/>
    <a:srgbClr val="FAA90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178" autoAdjust="0"/>
    <p:restoredTop sz="95657" autoAdjust="0"/>
  </p:normalViewPr>
  <p:slideViewPr>
    <p:cSldViewPr>
      <p:cViewPr varScale="1">
        <p:scale>
          <a:sx n="88" d="100"/>
          <a:sy n="88" d="100"/>
        </p:scale>
        <p:origin x="1530" y="78"/>
      </p:cViewPr>
      <p:guideLst>
        <p:guide orient="horz" pos="2160"/>
        <p:guide pos="3840"/>
      </p:guideLst>
    </p:cSldViewPr>
  </p:slideViewPr>
  <p:notesTextViewPr>
    <p:cViewPr>
      <p:scale>
        <a:sx n="125" d="100"/>
        <a:sy n="125" d="100"/>
      </p:scale>
      <p:origin x="0" y="0"/>
    </p:cViewPr>
  </p:notesTextViewPr>
  <p:notesViewPr>
    <p:cSldViewPr>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065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70659" name="Rectangle 3"/>
          <p:cNvSpPr>
            <a:spLocks noGrp="1" noChangeArrowheads="1"/>
          </p:cNvSpPr>
          <p:nvPr>
            <p:ph type="dt" sz="quarter"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endParaRPr lang="en-US"/>
          </a:p>
        </p:txBody>
      </p:sp>
      <p:sp>
        <p:nvSpPr>
          <p:cNvPr id="70660" name="Rectangle 4"/>
          <p:cNvSpPr>
            <a:spLocks noGrp="1" noChangeArrowheads="1"/>
          </p:cNvSpPr>
          <p:nvPr>
            <p:ph type="ftr" sz="quarter" idx="2"/>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lvl1pPr>
          </a:lstStyle>
          <a:p>
            <a:endParaRPr lang="en-US"/>
          </a:p>
        </p:txBody>
      </p:sp>
      <p:sp>
        <p:nvSpPr>
          <p:cNvPr id="70661" name="Rectangle 5"/>
          <p:cNvSpPr>
            <a:spLocks noGrp="1" noChangeArrowheads="1"/>
          </p:cNvSpPr>
          <p:nvPr>
            <p:ph type="sldNum" sz="quarter" idx="3"/>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0DD9B359-3C40-40D0-9641-0AF6D6B0EE16}" type="slidenum">
              <a:rPr lang="en-US"/>
              <a:pPr/>
              <a:t>‹#›</a:t>
            </a:fld>
            <a:endParaRPr lang="en-US"/>
          </a:p>
        </p:txBody>
      </p:sp>
    </p:spTree>
    <p:extLst>
      <p:ext uri="{BB962C8B-B14F-4D97-AF65-F5344CB8AC3E}">
        <p14:creationId xmlns:p14="http://schemas.microsoft.com/office/powerpoint/2010/main" val="41905880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BC1FF4-501E-417A-B71B-CA534D31E637}" type="datetimeFigureOut">
              <a:rPr lang="en-US" smtClean="0"/>
              <a:t>9/12/2026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8DA621D-D213-47E6-8EF4-77EE7EB23DD1}" type="slidenum">
              <a:rPr lang="en-US" smtClean="0"/>
              <a:t>‹#›</a:t>
            </a:fld>
            <a:endParaRPr lang="en-US"/>
          </a:p>
        </p:txBody>
      </p:sp>
    </p:spTree>
    <p:extLst>
      <p:ext uri="{BB962C8B-B14F-4D97-AF65-F5344CB8AC3E}">
        <p14:creationId xmlns:p14="http://schemas.microsoft.com/office/powerpoint/2010/main" val="36752602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8DA621D-D213-47E6-8EF4-77EE7EB23DD1}" type="slidenum">
              <a:rPr lang="en-US" smtClean="0"/>
              <a:t>1</a:t>
            </a:fld>
            <a:endParaRPr lang="en-US"/>
          </a:p>
        </p:txBody>
      </p:sp>
    </p:spTree>
    <p:extLst>
      <p:ext uri="{BB962C8B-B14F-4D97-AF65-F5344CB8AC3E}">
        <p14:creationId xmlns:p14="http://schemas.microsoft.com/office/powerpoint/2010/main" val="2757281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3075" name="Rectangle 3"/>
          <p:cNvSpPr>
            <a:spLocks noGrp="1" noChangeArrowheads="1"/>
          </p:cNvSpPr>
          <p:nvPr>
            <p:ph type="subTitle" idx="1"/>
          </p:nvPr>
        </p:nvSpPr>
        <p:spPr bwMode="gray">
          <a:xfrm>
            <a:off x="3352800" y="5791200"/>
            <a:ext cx="6299200" cy="381000"/>
          </a:xfrm>
          <a:extLst>
            <a:ext uri="{91240B29-F687-4F45-9708-019B960494DF}">
              <a14:hiddenLine xmlns:a14="http://schemas.microsoft.com/office/drawing/2010/main" w="9525">
                <a:solidFill>
                  <a:schemeClr val="bg1"/>
                </a:solidFill>
                <a:miter lim="800000"/>
                <a:headEnd/>
                <a:tailEnd/>
              </a14:hiddenLine>
            </a:ext>
          </a:extLst>
        </p:spPr>
        <p:txBody>
          <a:bodyPr/>
          <a:lstStyle>
            <a:lvl1pPr marL="0" indent="0" algn="r">
              <a:buFont typeface="Wingdings" pitchFamily="2" charset="2"/>
              <a:buNone/>
              <a:defRPr sz="1600" b="1">
                <a:solidFill>
                  <a:schemeClr val="bg1"/>
                </a:solidFill>
              </a:defRPr>
            </a:lvl1pPr>
          </a:lstStyle>
          <a:p>
            <a:pPr lvl="0"/>
            <a:r>
              <a:rPr lang="en-US" noProof="0"/>
              <a:t>Click to edit Master subtitle style</a:t>
            </a:r>
          </a:p>
        </p:txBody>
      </p:sp>
      <p:sp>
        <p:nvSpPr>
          <p:cNvPr id="3074" name="Rectangle 2"/>
          <p:cNvSpPr>
            <a:spLocks noGrp="1" noChangeArrowheads="1"/>
          </p:cNvSpPr>
          <p:nvPr>
            <p:ph type="ctrTitle"/>
          </p:nvPr>
        </p:nvSpPr>
        <p:spPr>
          <a:xfrm>
            <a:off x="3759200" y="2667000"/>
            <a:ext cx="7620000" cy="914400"/>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lgn="r">
              <a:defRPr sz="4000">
                <a:solidFill>
                  <a:schemeClr val="tx1"/>
                </a:solidFill>
              </a:defRPr>
            </a:lvl1pPr>
          </a:lstStyle>
          <a:p>
            <a:pPr lvl="0"/>
            <a:r>
              <a:rPr lang="en-US" noProof="0"/>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0">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defRPr>
                <a:solidFill>
                  <a:schemeClr val="accent1">
                    <a:lumMod val="50000"/>
                  </a:schemeClr>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625600" y="6629400"/>
            <a:ext cx="1828800" cy="228600"/>
          </a:xfrm>
        </p:spPr>
        <p:txBody>
          <a:bodyPr/>
          <a:lstStyle>
            <a:lvl1pPr>
              <a:defRPr/>
            </a:lvl1pPr>
          </a:lstStyle>
          <a:p>
            <a:endParaRPr lang="en-US"/>
          </a:p>
        </p:txBody>
      </p:sp>
      <p:sp>
        <p:nvSpPr>
          <p:cNvPr id="6" name="Slide Number Placeholder 5"/>
          <p:cNvSpPr>
            <a:spLocks noGrp="1"/>
          </p:cNvSpPr>
          <p:nvPr>
            <p:ph type="sldNum" sz="quarter" idx="12"/>
          </p:nvPr>
        </p:nvSpPr>
        <p:spPr>
          <a:xfrm>
            <a:off x="4673600" y="6629400"/>
            <a:ext cx="1320800" cy="228600"/>
          </a:xfrm>
        </p:spPr>
        <p:txBody>
          <a:bodyPr/>
          <a:lstStyle>
            <a:lvl1pPr>
              <a:defRPr/>
            </a:lvl1pPr>
          </a:lstStyle>
          <a:p>
            <a:fld id="{4CABA248-E004-490A-87A7-AF5AE6C8CF6F}" type="slidenum">
              <a:rPr lang="en-US"/>
              <a:pPr/>
              <a:t>‹#›</a:t>
            </a:fld>
            <a:endParaRPr lang="en-US"/>
          </a:p>
        </p:txBody>
      </p:sp>
    </p:spTree>
    <p:extLst>
      <p:ext uri="{BB962C8B-B14F-4D97-AF65-F5344CB8AC3E}">
        <p14:creationId xmlns:p14="http://schemas.microsoft.com/office/powerpoint/2010/main" val="26462404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ltGray">
      <p:bgPr>
        <a:blipFill dpi="0" rotWithShape="0">
          <a:blip r:embed="rId4">
            <a:lum/>
          </a:blip>
          <a:srcRect/>
          <a:stretch>
            <a:fillRect/>
          </a:stretch>
        </a:blipFill>
        <a:effectLst/>
      </p:bgPr>
    </p:bg>
    <p:spTree>
      <p:nvGrpSpPr>
        <p:cNvPr id="1" name=""/>
        <p:cNvGrpSpPr/>
        <p:nvPr/>
      </p:nvGrpSpPr>
      <p:grpSpPr>
        <a:xfrm>
          <a:off x="0" y="0"/>
          <a:ext cx="0" cy="0"/>
          <a:chOff x="0" y="0"/>
          <a:chExt cx="0" cy="0"/>
        </a:xfrm>
      </p:grpSpPr>
      <p:grpSp>
        <p:nvGrpSpPr>
          <p:cNvPr id="1103" name="Group 79"/>
          <p:cNvGrpSpPr>
            <a:grpSpLocks/>
          </p:cNvGrpSpPr>
          <p:nvPr/>
        </p:nvGrpSpPr>
        <p:grpSpPr bwMode="auto">
          <a:xfrm>
            <a:off x="914400" y="685800"/>
            <a:ext cx="11277600" cy="260350"/>
            <a:chOff x="2448" y="384"/>
            <a:chExt cx="3312" cy="212"/>
          </a:xfrm>
        </p:grpSpPr>
        <p:sp>
          <p:nvSpPr>
            <p:cNvPr id="1101" name="Rectangle 77"/>
            <p:cNvSpPr>
              <a:spLocks noChangeArrowheads="1"/>
            </p:cNvSpPr>
            <p:nvPr userDrawn="1"/>
          </p:nvSpPr>
          <p:spPr bwMode="gray">
            <a:xfrm>
              <a:off x="2448" y="384"/>
              <a:ext cx="3312" cy="96"/>
            </a:xfrm>
            <a:prstGeom prst="rect">
              <a:avLst/>
            </a:prstGeom>
            <a:gradFill rotWithShape="1">
              <a:gsLst>
                <a:gs pos="0">
                  <a:srgbClr val="969696">
                    <a:gamma/>
                    <a:tint val="0"/>
                    <a:invGamma/>
                    <a:alpha val="0"/>
                  </a:srgbClr>
                </a:gs>
                <a:gs pos="100000">
                  <a:srgbClr val="969696">
                    <a:alpha val="27000"/>
                  </a:srgb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102" name="Rectangle 78"/>
            <p:cNvSpPr>
              <a:spLocks noChangeArrowheads="1"/>
            </p:cNvSpPr>
            <p:nvPr userDrawn="1"/>
          </p:nvSpPr>
          <p:spPr bwMode="gray">
            <a:xfrm>
              <a:off x="2448" y="500"/>
              <a:ext cx="3312" cy="96"/>
            </a:xfrm>
            <a:prstGeom prst="rect">
              <a:avLst/>
            </a:prstGeom>
            <a:gradFill rotWithShape="1">
              <a:gsLst>
                <a:gs pos="0">
                  <a:srgbClr val="969696">
                    <a:gamma/>
                    <a:tint val="0"/>
                    <a:invGamma/>
                    <a:alpha val="0"/>
                  </a:srgbClr>
                </a:gs>
                <a:gs pos="100000">
                  <a:srgbClr val="969696">
                    <a:alpha val="27000"/>
                  </a:srgb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1027" name="Rectangle 3"/>
          <p:cNvSpPr>
            <a:spLocks noGrp="1" noChangeArrowheads="1"/>
          </p:cNvSpPr>
          <p:nvPr>
            <p:ph type="body" idx="1"/>
          </p:nvPr>
        </p:nvSpPr>
        <p:spPr bwMode="auto">
          <a:xfrm>
            <a:off x="508000" y="1295400"/>
            <a:ext cx="11074400" cy="472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28" name="Rectangle 4"/>
          <p:cNvSpPr>
            <a:spLocks noGrp="1" noChangeArrowheads="1"/>
          </p:cNvSpPr>
          <p:nvPr>
            <p:ph type="dt" sz="half" idx="2"/>
          </p:nvPr>
        </p:nvSpPr>
        <p:spPr bwMode="white">
          <a:xfrm>
            <a:off x="1625600" y="6622078"/>
            <a:ext cx="1930400" cy="2286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solidFill>
                  <a:schemeClr val="bg1"/>
                </a:solidFill>
              </a:defRPr>
            </a:lvl1pPr>
          </a:lstStyle>
          <a:p>
            <a:endParaRPr lang="en-US"/>
          </a:p>
        </p:txBody>
      </p:sp>
      <p:sp>
        <p:nvSpPr>
          <p:cNvPr id="1030" name="Rectangle 6"/>
          <p:cNvSpPr>
            <a:spLocks noGrp="1" noChangeArrowheads="1"/>
          </p:cNvSpPr>
          <p:nvPr>
            <p:ph type="sldNum" sz="quarter" idx="4"/>
          </p:nvPr>
        </p:nvSpPr>
        <p:spPr bwMode="white">
          <a:xfrm>
            <a:off x="11250705" y="6619253"/>
            <a:ext cx="965200" cy="2286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200">
                <a:solidFill>
                  <a:schemeClr val="bg1"/>
                </a:solidFill>
              </a:defRPr>
            </a:lvl1pPr>
          </a:lstStyle>
          <a:p>
            <a:fld id="{B608ACBE-18DD-4A3E-988B-5FCF99E57120}" type="slidenum">
              <a:rPr lang="en-US"/>
              <a:pPr/>
              <a:t>‹#›</a:t>
            </a:fld>
            <a:endParaRPr lang="en-US"/>
          </a:p>
        </p:txBody>
      </p:sp>
      <p:sp>
        <p:nvSpPr>
          <p:cNvPr id="1026" name="Rectangle 2"/>
          <p:cNvSpPr>
            <a:spLocks noGrp="1" noChangeArrowheads="1"/>
          </p:cNvSpPr>
          <p:nvPr>
            <p:ph type="title"/>
          </p:nvPr>
        </p:nvSpPr>
        <p:spPr bwMode="gray">
          <a:xfrm>
            <a:off x="1219200" y="457201"/>
            <a:ext cx="10058400" cy="563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bg1"/>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grpSp>
        <p:nvGrpSpPr>
          <p:cNvPr id="1097" name="Group 73"/>
          <p:cNvGrpSpPr>
            <a:grpSpLocks/>
          </p:cNvGrpSpPr>
          <p:nvPr/>
        </p:nvGrpSpPr>
        <p:grpSpPr bwMode="auto">
          <a:xfrm>
            <a:off x="480484" y="457200"/>
            <a:ext cx="711200" cy="609600"/>
            <a:chOff x="4128" y="1920"/>
            <a:chExt cx="1010" cy="1104"/>
          </a:xfrm>
        </p:grpSpPr>
        <p:sp>
          <p:nvSpPr>
            <p:cNvPr id="1093" name="Freeform 69"/>
            <p:cNvSpPr>
              <a:spLocks/>
            </p:cNvSpPr>
            <p:nvPr userDrawn="1"/>
          </p:nvSpPr>
          <p:spPr bwMode="gray">
            <a:xfrm>
              <a:off x="4128" y="1920"/>
              <a:ext cx="528" cy="530"/>
            </a:xfrm>
            <a:custGeom>
              <a:avLst/>
              <a:gdLst>
                <a:gd name="T0" fmla="*/ 0 w 528"/>
                <a:gd name="T1" fmla="*/ 0 h 530"/>
                <a:gd name="T2" fmla="*/ 0 w 528"/>
                <a:gd name="T3" fmla="*/ 192 h 530"/>
                <a:gd name="T4" fmla="*/ 340 w 528"/>
                <a:gd name="T5" fmla="*/ 530 h 530"/>
                <a:gd name="T6" fmla="*/ 528 w 528"/>
                <a:gd name="T7" fmla="*/ 528 h 530"/>
                <a:gd name="T8" fmla="*/ 528 w 528"/>
                <a:gd name="T9" fmla="*/ 336 h 530"/>
                <a:gd name="T10" fmla="*/ 196 w 528"/>
                <a:gd name="T11" fmla="*/ 0 h 530"/>
                <a:gd name="T12" fmla="*/ 0 w 528"/>
                <a:gd name="T13" fmla="*/ 0 h 530"/>
              </a:gdLst>
              <a:ahLst/>
              <a:cxnLst>
                <a:cxn ang="0">
                  <a:pos x="T0" y="T1"/>
                </a:cxn>
                <a:cxn ang="0">
                  <a:pos x="T2" y="T3"/>
                </a:cxn>
                <a:cxn ang="0">
                  <a:pos x="T4" y="T5"/>
                </a:cxn>
                <a:cxn ang="0">
                  <a:pos x="T6" y="T7"/>
                </a:cxn>
                <a:cxn ang="0">
                  <a:pos x="T8" y="T9"/>
                </a:cxn>
                <a:cxn ang="0">
                  <a:pos x="T10" y="T11"/>
                </a:cxn>
                <a:cxn ang="0">
                  <a:pos x="T12" y="T13"/>
                </a:cxn>
              </a:cxnLst>
              <a:rect l="0" t="0" r="r" b="b"/>
              <a:pathLst>
                <a:path w="528" h="530">
                  <a:moveTo>
                    <a:pt x="0" y="0"/>
                  </a:moveTo>
                  <a:lnTo>
                    <a:pt x="0" y="192"/>
                  </a:lnTo>
                  <a:lnTo>
                    <a:pt x="340" y="530"/>
                  </a:lnTo>
                  <a:lnTo>
                    <a:pt x="528" y="528"/>
                  </a:lnTo>
                  <a:lnTo>
                    <a:pt x="528" y="336"/>
                  </a:lnTo>
                  <a:lnTo>
                    <a:pt x="196" y="0"/>
                  </a:lnTo>
                  <a:lnTo>
                    <a:pt x="0" y="0"/>
                  </a:lnTo>
                  <a:close/>
                </a:path>
              </a:pathLst>
            </a:cu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94" name="Freeform 70"/>
            <p:cNvSpPr>
              <a:spLocks/>
            </p:cNvSpPr>
            <p:nvPr userDrawn="1"/>
          </p:nvSpPr>
          <p:spPr bwMode="gray">
            <a:xfrm rot="5400000">
              <a:off x="4129" y="2495"/>
              <a:ext cx="528" cy="530"/>
            </a:xfrm>
            <a:custGeom>
              <a:avLst/>
              <a:gdLst>
                <a:gd name="T0" fmla="*/ 0 w 528"/>
                <a:gd name="T1" fmla="*/ 0 h 530"/>
                <a:gd name="T2" fmla="*/ 0 w 528"/>
                <a:gd name="T3" fmla="*/ 192 h 530"/>
                <a:gd name="T4" fmla="*/ 340 w 528"/>
                <a:gd name="T5" fmla="*/ 530 h 530"/>
                <a:gd name="T6" fmla="*/ 528 w 528"/>
                <a:gd name="T7" fmla="*/ 528 h 530"/>
                <a:gd name="T8" fmla="*/ 528 w 528"/>
                <a:gd name="T9" fmla="*/ 336 h 530"/>
                <a:gd name="T10" fmla="*/ 196 w 528"/>
                <a:gd name="T11" fmla="*/ 0 h 530"/>
                <a:gd name="T12" fmla="*/ 0 w 528"/>
                <a:gd name="T13" fmla="*/ 0 h 530"/>
              </a:gdLst>
              <a:ahLst/>
              <a:cxnLst>
                <a:cxn ang="0">
                  <a:pos x="T0" y="T1"/>
                </a:cxn>
                <a:cxn ang="0">
                  <a:pos x="T2" y="T3"/>
                </a:cxn>
                <a:cxn ang="0">
                  <a:pos x="T4" y="T5"/>
                </a:cxn>
                <a:cxn ang="0">
                  <a:pos x="T6" y="T7"/>
                </a:cxn>
                <a:cxn ang="0">
                  <a:pos x="T8" y="T9"/>
                </a:cxn>
                <a:cxn ang="0">
                  <a:pos x="T10" y="T11"/>
                </a:cxn>
                <a:cxn ang="0">
                  <a:pos x="T12" y="T13"/>
                </a:cxn>
              </a:cxnLst>
              <a:rect l="0" t="0" r="r" b="b"/>
              <a:pathLst>
                <a:path w="528" h="530">
                  <a:moveTo>
                    <a:pt x="0" y="0"/>
                  </a:moveTo>
                  <a:lnTo>
                    <a:pt x="0" y="192"/>
                  </a:lnTo>
                  <a:lnTo>
                    <a:pt x="340" y="530"/>
                  </a:lnTo>
                  <a:lnTo>
                    <a:pt x="528" y="528"/>
                  </a:lnTo>
                  <a:lnTo>
                    <a:pt x="528" y="336"/>
                  </a:lnTo>
                  <a:lnTo>
                    <a:pt x="196" y="0"/>
                  </a:lnTo>
                  <a:lnTo>
                    <a:pt x="0" y="0"/>
                  </a:lnTo>
                  <a:close/>
                </a:path>
              </a:pathLst>
            </a:cu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95" name="Freeform 71"/>
            <p:cNvSpPr>
              <a:spLocks/>
            </p:cNvSpPr>
            <p:nvPr userDrawn="1"/>
          </p:nvSpPr>
          <p:spPr bwMode="gray">
            <a:xfrm>
              <a:off x="4608" y="1920"/>
              <a:ext cx="528" cy="530"/>
            </a:xfrm>
            <a:custGeom>
              <a:avLst/>
              <a:gdLst>
                <a:gd name="T0" fmla="*/ 0 w 528"/>
                <a:gd name="T1" fmla="*/ 0 h 530"/>
                <a:gd name="T2" fmla="*/ 0 w 528"/>
                <a:gd name="T3" fmla="*/ 192 h 530"/>
                <a:gd name="T4" fmla="*/ 340 w 528"/>
                <a:gd name="T5" fmla="*/ 530 h 530"/>
                <a:gd name="T6" fmla="*/ 528 w 528"/>
                <a:gd name="T7" fmla="*/ 528 h 530"/>
                <a:gd name="T8" fmla="*/ 528 w 528"/>
                <a:gd name="T9" fmla="*/ 336 h 530"/>
                <a:gd name="T10" fmla="*/ 196 w 528"/>
                <a:gd name="T11" fmla="*/ 0 h 530"/>
                <a:gd name="T12" fmla="*/ 0 w 528"/>
                <a:gd name="T13" fmla="*/ 0 h 530"/>
              </a:gdLst>
              <a:ahLst/>
              <a:cxnLst>
                <a:cxn ang="0">
                  <a:pos x="T0" y="T1"/>
                </a:cxn>
                <a:cxn ang="0">
                  <a:pos x="T2" y="T3"/>
                </a:cxn>
                <a:cxn ang="0">
                  <a:pos x="T4" y="T5"/>
                </a:cxn>
                <a:cxn ang="0">
                  <a:pos x="T6" y="T7"/>
                </a:cxn>
                <a:cxn ang="0">
                  <a:pos x="T8" y="T9"/>
                </a:cxn>
                <a:cxn ang="0">
                  <a:pos x="T10" y="T11"/>
                </a:cxn>
                <a:cxn ang="0">
                  <a:pos x="T12" y="T13"/>
                </a:cxn>
              </a:cxnLst>
              <a:rect l="0" t="0" r="r" b="b"/>
              <a:pathLst>
                <a:path w="528" h="530">
                  <a:moveTo>
                    <a:pt x="0" y="0"/>
                  </a:moveTo>
                  <a:lnTo>
                    <a:pt x="0" y="192"/>
                  </a:lnTo>
                  <a:lnTo>
                    <a:pt x="340" y="530"/>
                  </a:lnTo>
                  <a:lnTo>
                    <a:pt x="528" y="528"/>
                  </a:lnTo>
                  <a:lnTo>
                    <a:pt x="528" y="336"/>
                  </a:lnTo>
                  <a:lnTo>
                    <a:pt x="196" y="0"/>
                  </a:lnTo>
                  <a:lnTo>
                    <a:pt x="0" y="0"/>
                  </a:lnTo>
                  <a:close/>
                </a:path>
              </a:pathLst>
            </a:cu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96" name="Freeform 72"/>
            <p:cNvSpPr>
              <a:spLocks/>
            </p:cNvSpPr>
            <p:nvPr userDrawn="1"/>
          </p:nvSpPr>
          <p:spPr bwMode="gray">
            <a:xfrm rot="5400000">
              <a:off x="4609" y="2495"/>
              <a:ext cx="528" cy="530"/>
            </a:xfrm>
            <a:custGeom>
              <a:avLst/>
              <a:gdLst>
                <a:gd name="T0" fmla="*/ 0 w 528"/>
                <a:gd name="T1" fmla="*/ 0 h 530"/>
                <a:gd name="T2" fmla="*/ 0 w 528"/>
                <a:gd name="T3" fmla="*/ 192 h 530"/>
                <a:gd name="T4" fmla="*/ 340 w 528"/>
                <a:gd name="T5" fmla="*/ 530 h 530"/>
                <a:gd name="T6" fmla="*/ 528 w 528"/>
                <a:gd name="T7" fmla="*/ 528 h 530"/>
                <a:gd name="T8" fmla="*/ 528 w 528"/>
                <a:gd name="T9" fmla="*/ 336 h 530"/>
                <a:gd name="T10" fmla="*/ 196 w 528"/>
                <a:gd name="T11" fmla="*/ 0 h 530"/>
                <a:gd name="T12" fmla="*/ 0 w 528"/>
                <a:gd name="T13" fmla="*/ 0 h 530"/>
              </a:gdLst>
              <a:ahLst/>
              <a:cxnLst>
                <a:cxn ang="0">
                  <a:pos x="T0" y="T1"/>
                </a:cxn>
                <a:cxn ang="0">
                  <a:pos x="T2" y="T3"/>
                </a:cxn>
                <a:cxn ang="0">
                  <a:pos x="T4" y="T5"/>
                </a:cxn>
                <a:cxn ang="0">
                  <a:pos x="T6" y="T7"/>
                </a:cxn>
                <a:cxn ang="0">
                  <a:pos x="T8" y="T9"/>
                </a:cxn>
                <a:cxn ang="0">
                  <a:pos x="T10" y="T11"/>
                </a:cxn>
                <a:cxn ang="0">
                  <a:pos x="T12" y="T13"/>
                </a:cxn>
              </a:cxnLst>
              <a:rect l="0" t="0" r="r" b="b"/>
              <a:pathLst>
                <a:path w="528" h="530">
                  <a:moveTo>
                    <a:pt x="0" y="0"/>
                  </a:moveTo>
                  <a:lnTo>
                    <a:pt x="0" y="192"/>
                  </a:lnTo>
                  <a:lnTo>
                    <a:pt x="340" y="530"/>
                  </a:lnTo>
                  <a:lnTo>
                    <a:pt x="528" y="528"/>
                  </a:lnTo>
                  <a:lnTo>
                    <a:pt x="528" y="336"/>
                  </a:lnTo>
                  <a:lnTo>
                    <a:pt x="196" y="0"/>
                  </a:lnTo>
                  <a:lnTo>
                    <a:pt x="0" y="0"/>
                  </a:lnTo>
                  <a:close/>
                </a:path>
              </a:pathLst>
            </a:cu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15" name="TextBox 14"/>
          <p:cNvSpPr txBox="1"/>
          <p:nvPr userDrawn="1"/>
        </p:nvSpPr>
        <p:spPr>
          <a:xfrm>
            <a:off x="5689600" y="6465366"/>
            <a:ext cx="5537200" cy="307777"/>
          </a:xfrm>
          <a:prstGeom prst="rect">
            <a:avLst/>
          </a:prstGeom>
          <a:noFill/>
        </p:spPr>
        <p:txBody>
          <a:bodyPr wrap="square" rtlCol="0">
            <a:spAutoFit/>
          </a:bodyPr>
          <a:lstStyle/>
          <a:p>
            <a:pPr algn="r"/>
            <a:r>
              <a:rPr lang="en-US" sz="1400" b="1" err="1">
                <a:solidFill>
                  <a:schemeClr val="bg1"/>
                </a:solidFill>
                <a:effectLst>
                  <a:outerShdw blurRad="38100" dist="38100" dir="2700000" algn="tl">
                    <a:srgbClr val="000000">
                      <a:alpha val="43137"/>
                    </a:srgbClr>
                  </a:outerShdw>
                </a:effectLst>
              </a:rPr>
              <a:t>HCMC</a:t>
            </a:r>
            <a:r>
              <a:rPr lang="en-US" sz="1400" b="1">
                <a:solidFill>
                  <a:schemeClr val="bg1"/>
                </a:solidFill>
                <a:effectLst>
                  <a:outerShdw blurRad="38100" dist="38100" dir="2700000" algn="tl">
                    <a:srgbClr val="000000">
                      <a:alpha val="43137"/>
                    </a:srgbClr>
                  </a:outerShdw>
                </a:effectLst>
              </a:rPr>
              <a:t> </a:t>
            </a:r>
            <a:r>
              <a:rPr lang="en-US" sz="1400" b="1" baseline="0">
                <a:solidFill>
                  <a:schemeClr val="bg1"/>
                </a:solidFill>
                <a:effectLst>
                  <a:outerShdw blurRad="38100" dist="38100" dir="2700000" algn="tl">
                    <a:srgbClr val="000000">
                      <a:alpha val="43137"/>
                    </a:srgbClr>
                  </a:outerShdw>
                </a:effectLst>
              </a:rPr>
              <a:t>University of Technology and Education</a:t>
            </a:r>
            <a:endParaRPr lang="en-US" sz="1400" b="1">
              <a:solidFill>
                <a:schemeClr val="bg1"/>
              </a:solidFill>
              <a:effectLst>
                <a:outerShdw blurRad="38100" dist="38100" dir="2700000" algn="tl">
                  <a:srgbClr val="000000">
                    <a:alpha val="43137"/>
                  </a:srgbClr>
                </a:outerShdw>
              </a:effectLs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dt="0"/>
  <p:txStyles>
    <p:titleStyle>
      <a:lvl1pPr algn="l" rtl="0" eaLnBrk="1" fontAlgn="base" hangingPunct="1">
        <a:spcBef>
          <a:spcPct val="0"/>
        </a:spcBef>
        <a:spcAft>
          <a:spcPct val="0"/>
        </a:spcAft>
        <a:defRPr sz="2800" b="1">
          <a:solidFill>
            <a:schemeClr val="tx2"/>
          </a:solidFill>
          <a:latin typeface="+mj-lt"/>
          <a:ea typeface="+mj-ea"/>
          <a:cs typeface="+mj-cs"/>
        </a:defRPr>
      </a:lvl1pPr>
      <a:lvl2pPr algn="l" rtl="0" eaLnBrk="1" fontAlgn="base" hangingPunct="1">
        <a:spcBef>
          <a:spcPct val="0"/>
        </a:spcBef>
        <a:spcAft>
          <a:spcPct val="0"/>
        </a:spcAft>
        <a:defRPr sz="2800" b="1">
          <a:solidFill>
            <a:schemeClr val="tx2"/>
          </a:solidFill>
          <a:latin typeface="Arial" charset="0"/>
        </a:defRPr>
      </a:lvl2pPr>
      <a:lvl3pPr algn="l" rtl="0" eaLnBrk="1" fontAlgn="base" hangingPunct="1">
        <a:spcBef>
          <a:spcPct val="0"/>
        </a:spcBef>
        <a:spcAft>
          <a:spcPct val="0"/>
        </a:spcAft>
        <a:defRPr sz="2800" b="1">
          <a:solidFill>
            <a:schemeClr val="tx2"/>
          </a:solidFill>
          <a:latin typeface="Arial" charset="0"/>
        </a:defRPr>
      </a:lvl3pPr>
      <a:lvl4pPr algn="l" rtl="0" eaLnBrk="1" fontAlgn="base" hangingPunct="1">
        <a:spcBef>
          <a:spcPct val="0"/>
        </a:spcBef>
        <a:spcAft>
          <a:spcPct val="0"/>
        </a:spcAft>
        <a:defRPr sz="2800" b="1">
          <a:solidFill>
            <a:schemeClr val="tx2"/>
          </a:solidFill>
          <a:latin typeface="Arial" charset="0"/>
        </a:defRPr>
      </a:lvl4pPr>
      <a:lvl5pPr algn="l" rtl="0" eaLnBrk="1" fontAlgn="base" hangingPunct="1">
        <a:spcBef>
          <a:spcPct val="0"/>
        </a:spcBef>
        <a:spcAft>
          <a:spcPct val="0"/>
        </a:spcAft>
        <a:defRPr sz="2800" b="1">
          <a:solidFill>
            <a:schemeClr val="tx2"/>
          </a:solidFill>
          <a:latin typeface="Arial" charset="0"/>
        </a:defRPr>
      </a:lvl5pPr>
      <a:lvl6pPr marL="457200" algn="l" rtl="0" eaLnBrk="1" fontAlgn="base" hangingPunct="1">
        <a:spcBef>
          <a:spcPct val="0"/>
        </a:spcBef>
        <a:spcAft>
          <a:spcPct val="0"/>
        </a:spcAft>
        <a:defRPr sz="2800" b="1">
          <a:solidFill>
            <a:schemeClr val="tx2"/>
          </a:solidFill>
          <a:latin typeface="Arial" charset="0"/>
        </a:defRPr>
      </a:lvl6pPr>
      <a:lvl7pPr marL="914400" algn="l" rtl="0" eaLnBrk="1" fontAlgn="base" hangingPunct="1">
        <a:spcBef>
          <a:spcPct val="0"/>
        </a:spcBef>
        <a:spcAft>
          <a:spcPct val="0"/>
        </a:spcAft>
        <a:defRPr sz="2800" b="1">
          <a:solidFill>
            <a:schemeClr val="tx2"/>
          </a:solidFill>
          <a:latin typeface="Arial" charset="0"/>
        </a:defRPr>
      </a:lvl7pPr>
      <a:lvl8pPr marL="1371600" algn="l" rtl="0" eaLnBrk="1" fontAlgn="base" hangingPunct="1">
        <a:spcBef>
          <a:spcPct val="0"/>
        </a:spcBef>
        <a:spcAft>
          <a:spcPct val="0"/>
        </a:spcAft>
        <a:defRPr sz="2800" b="1">
          <a:solidFill>
            <a:schemeClr val="tx2"/>
          </a:solidFill>
          <a:latin typeface="Arial" charset="0"/>
        </a:defRPr>
      </a:lvl8pPr>
      <a:lvl9pPr marL="1828800" algn="l" rtl="0" eaLnBrk="1" fontAlgn="base" hangingPunct="1">
        <a:spcBef>
          <a:spcPct val="0"/>
        </a:spcBef>
        <a:spcAft>
          <a:spcPct val="0"/>
        </a:spcAft>
        <a:defRPr sz="2800" b="1">
          <a:solidFill>
            <a:schemeClr val="tx2"/>
          </a:solidFill>
          <a:latin typeface="Arial" charset="0"/>
        </a:defRPr>
      </a:lvl9pPr>
    </p:titleStyle>
    <p:bodyStyle>
      <a:lvl1pPr marL="342900" indent="-342900" algn="l" rtl="0" eaLnBrk="1" fontAlgn="base" hangingPunct="1">
        <a:spcBef>
          <a:spcPct val="20000"/>
        </a:spcBef>
        <a:spcAft>
          <a:spcPct val="0"/>
        </a:spcAft>
        <a:buClr>
          <a:schemeClr val="tx2"/>
        </a:buClr>
        <a:buFont typeface="Wingdings" pitchFamily="2" charset="2"/>
        <a:buChar char="§"/>
        <a:defRPr sz="2800">
          <a:solidFill>
            <a:schemeClr val="tx1"/>
          </a:solidFill>
          <a:latin typeface="+mn-lt"/>
          <a:ea typeface="+mn-ea"/>
          <a:cs typeface="+mn-cs"/>
        </a:defRPr>
      </a:lvl1pPr>
      <a:lvl2pPr marL="742950" indent="-285750" algn="l" rtl="0" eaLnBrk="1" fontAlgn="base" hangingPunct="1">
        <a:spcBef>
          <a:spcPct val="20000"/>
        </a:spcBef>
        <a:spcAft>
          <a:spcPct val="0"/>
        </a:spcAft>
        <a:buClr>
          <a:schemeClr val="accent1"/>
        </a:buClr>
        <a:buFont typeface="Wingdings" pitchFamily="2" charset="2"/>
        <a:buChar char="§"/>
        <a:defRPr sz="2400">
          <a:solidFill>
            <a:schemeClr val="tx1"/>
          </a:solidFill>
          <a:latin typeface="+mn-lt"/>
        </a:defRPr>
      </a:lvl2pPr>
      <a:lvl3pPr marL="1143000" indent="-228600" algn="l" rtl="0" eaLnBrk="1" fontAlgn="base" hangingPunct="1">
        <a:spcBef>
          <a:spcPct val="20000"/>
        </a:spcBef>
        <a:spcAft>
          <a:spcPct val="0"/>
        </a:spcAft>
        <a:buClr>
          <a:schemeClr val="tx1"/>
        </a:buClr>
        <a:buChar char="•"/>
        <a:defRPr sz="2000">
          <a:solidFill>
            <a:schemeClr val="tx1"/>
          </a:solidFill>
          <a:latin typeface="+mn-lt"/>
        </a:defRPr>
      </a:lvl3pPr>
      <a:lvl4pPr marL="1600200" indent="-228600" algn="l" rtl="0" eaLnBrk="1" fontAlgn="base" hangingPunct="1">
        <a:spcBef>
          <a:spcPct val="20000"/>
        </a:spcBef>
        <a:spcAft>
          <a:spcPct val="0"/>
        </a:spcAft>
        <a:buChar char="–"/>
        <a:defRPr>
          <a:solidFill>
            <a:schemeClr val="tx1"/>
          </a:solidFill>
          <a:latin typeface="+mn-lt"/>
        </a:defRPr>
      </a:lvl4pPr>
      <a:lvl5pPr marL="2057400" indent="-228600" algn="l" rtl="0" eaLnBrk="1" fontAlgn="base" hangingPunct="1">
        <a:spcBef>
          <a:spcPct val="20000"/>
        </a:spcBef>
        <a:spcAft>
          <a:spcPct val="0"/>
        </a:spcAft>
        <a:buChar char="»"/>
        <a:defRPr>
          <a:solidFill>
            <a:schemeClr val="tx1"/>
          </a:solidFill>
          <a:latin typeface="+mn-lt"/>
        </a:defRPr>
      </a:lvl5pPr>
      <a:lvl6pPr marL="2514600" indent="-228600" algn="l" rtl="0" eaLnBrk="1" fontAlgn="base" hangingPunct="1">
        <a:spcBef>
          <a:spcPct val="20000"/>
        </a:spcBef>
        <a:spcAft>
          <a:spcPct val="0"/>
        </a:spcAft>
        <a:buChar char="»"/>
        <a:defRPr>
          <a:solidFill>
            <a:schemeClr val="tx1"/>
          </a:solidFill>
          <a:latin typeface="+mn-lt"/>
        </a:defRPr>
      </a:lvl6pPr>
      <a:lvl7pPr marL="2971800" indent="-228600" algn="l" rtl="0" eaLnBrk="1" fontAlgn="base" hangingPunct="1">
        <a:spcBef>
          <a:spcPct val="20000"/>
        </a:spcBef>
        <a:spcAft>
          <a:spcPct val="0"/>
        </a:spcAft>
        <a:buChar char="»"/>
        <a:defRPr>
          <a:solidFill>
            <a:schemeClr val="tx1"/>
          </a:solidFill>
          <a:latin typeface="+mn-lt"/>
        </a:defRPr>
      </a:lvl7pPr>
      <a:lvl8pPr marL="3429000" indent="-228600" algn="l" rtl="0" eaLnBrk="1" fontAlgn="base" hangingPunct="1">
        <a:spcBef>
          <a:spcPct val="20000"/>
        </a:spcBef>
        <a:spcAft>
          <a:spcPct val="0"/>
        </a:spcAft>
        <a:buChar char="»"/>
        <a:defRPr>
          <a:solidFill>
            <a:schemeClr val="tx1"/>
          </a:solidFill>
          <a:latin typeface="+mn-lt"/>
        </a:defRPr>
      </a:lvl8pPr>
      <a:lvl9pPr marL="3886200" indent="-228600" algn="l" rtl="0" eaLnBrk="1" fontAlgn="base" hangingPunct="1">
        <a:spcBef>
          <a:spcPct val="2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docs.google.com/spreadsheets/d/1sClCX4doFPRGRslG_CvJLxAsMfU6heg3camePzlJto0/edit?usp=sharing"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unzz/mobile_project"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ggle.com/datasets/bhavikjikadara/dog-and-cat-classification-dataset/data"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drive.google.com/drive/folders/1-9PNQV2SPLQLSao_ZxBmxh218x9svbVC?usp=sharing"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bwMode="ltGray">
      <p:bgPr>
        <a:blipFill dpi="0" rotWithShape="0">
          <a:blip r:embed="rId3"/>
          <a:srcRect/>
          <a:stretch>
            <a:fillRect/>
          </a:stretch>
        </a:blipFill>
        <a:effectLst/>
      </p:bgPr>
    </p:bg>
    <p:spTree>
      <p:nvGrpSpPr>
        <p:cNvPr id="1" name=""/>
        <p:cNvGrpSpPr/>
        <p:nvPr/>
      </p:nvGrpSpPr>
      <p:grpSpPr>
        <a:xfrm>
          <a:off x="0" y="0"/>
          <a:ext cx="0" cy="0"/>
          <a:chOff x="0" y="0"/>
          <a:chExt cx="0" cy="0"/>
        </a:xfrm>
      </p:grpSpPr>
      <p:sp>
        <p:nvSpPr>
          <p:cNvPr id="72708" name="Rectangle 4"/>
          <p:cNvSpPr>
            <a:spLocks noGrp="1" noChangeArrowheads="1"/>
          </p:cNvSpPr>
          <p:nvPr>
            <p:ph type="ctrTitle"/>
          </p:nvPr>
        </p:nvSpPr>
        <p:spPr>
          <a:xfrm>
            <a:off x="3200400" y="2143115"/>
            <a:ext cx="8610600" cy="1752599"/>
          </a:xfrm>
        </p:spPr>
        <p:txBody>
          <a:bodyPr/>
          <a:lstStyle/>
          <a:p>
            <a:r>
              <a:rPr lang="en-US">
                <a:solidFill>
                  <a:srgbClr val="FF0000"/>
                </a:solidFill>
              </a:rPr>
              <a:t>Môn: Phát triển ứng dụng di động</a:t>
            </a:r>
            <a:br>
              <a:rPr lang="en-US">
                <a:solidFill>
                  <a:srgbClr val="FF0000"/>
                </a:solidFill>
              </a:rPr>
            </a:br>
            <a:r>
              <a:rPr lang="en-US">
                <a:solidFill>
                  <a:srgbClr val="FF0000"/>
                </a:solidFill>
              </a:rPr>
              <a:t>(Tuần 3 – Viết cuốn báo cáo)</a:t>
            </a:r>
            <a:endParaRPr lang="en-US" dirty="0">
              <a:solidFill>
                <a:srgbClr val="FF0000"/>
              </a:solidFill>
            </a:endParaRPr>
          </a:p>
        </p:txBody>
      </p:sp>
      <p:sp>
        <p:nvSpPr>
          <p:cNvPr id="72710" name="Text Box 6"/>
          <p:cNvSpPr txBox="1">
            <a:spLocks noChangeArrowheads="1"/>
          </p:cNvSpPr>
          <p:nvPr/>
        </p:nvSpPr>
        <p:spPr bwMode="auto">
          <a:xfrm>
            <a:off x="6852979" y="3864320"/>
            <a:ext cx="3265638" cy="49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lnSpc>
                <a:spcPct val="150000"/>
              </a:lnSpc>
            </a:pPr>
            <a:r>
              <a:rPr lang="en-US" sz="2000" b="1">
                <a:solidFill>
                  <a:schemeClr val="accent2"/>
                </a:solidFill>
                <a:latin typeface="Tahoma" panose="020B0604030504040204" pitchFamily="34" charset="0"/>
                <a:ea typeface="Tahoma" panose="020B0604030504040204" pitchFamily="34" charset="0"/>
                <a:cs typeface="Tahoma" panose="020B0604030504040204" pitchFamily="34" charset="0"/>
              </a:rPr>
              <a:t>Guide: </a:t>
            </a:r>
            <a:r>
              <a:rPr lang="en-US" sz="2000" b="1" dirty="0" err="1">
                <a:solidFill>
                  <a:schemeClr val="accent2"/>
                </a:solidFill>
                <a:latin typeface="Tahoma" panose="020B0604030504040204" pitchFamily="34" charset="0"/>
                <a:ea typeface="Tahoma" panose="020B0604030504040204" pitchFamily="34" charset="0"/>
                <a:cs typeface="Tahoma" panose="020B0604030504040204" pitchFamily="34" charset="0"/>
              </a:rPr>
              <a:t>Huỳnh</a:t>
            </a:r>
            <a:r>
              <a:rPr lang="en-US" sz="2000" b="1">
                <a:solidFill>
                  <a:schemeClr val="accent2"/>
                </a:solidFill>
                <a:latin typeface="Tahoma" panose="020B0604030504040204" pitchFamily="34" charset="0"/>
                <a:ea typeface="Tahoma" panose="020B0604030504040204" pitchFamily="34" charset="0"/>
                <a:cs typeface="Tahoma" panose="020B0604030504040204" pitchFamily="34" charset="0"/>
              </a:rPr>
              <a:t> Hoàng Hà</a:t>
            </a:r>
            <a:endParaRPr lang="en-US" sz="2000" b="1" dirty="0">
              <a:solidFill>
                <a:schemeClr val="accent2"/>
              </a:solidFill>
              <a:latin typeface="Tahoma" panose="020B0604030504040204" pitchFamily="34" charset="0"/>
              <a:ea typeface="Tahoma" panose="020B0604030504040204" pitchFamily="34" charset="0"/>
              <a:cs typeface="Tahoma" panose="020B0604030504040204" pitchFamily="34" charset="0"/>
            </a:endParaRPr>
          </a:p>
        </p:txBody>
      </p:sp>
      <p:pic>
        <p:nvPicPr>
          <p:cNvPr id="5" name="Hình ảnh 4">
            <a:extLst>
              <a:ext uri="{FF2B5EF4-FFF2-40B4-BE49-F238E27FC236}">
                <a16:creationId xmlns:a16="http://schemas.microsoft.com/office/drawing/2014/main" id="{F6F2E0B4-01DD-EDA6-127D-3B979E1539BD}"/>
              </a:ext>
            </a:extLst>
          </p:cNvPr>
          <p:cNvPicPr>
            <a:picLocks noChangeAspect="1"/>
          </p:cNvPicPr>
          <p:nvPr/>
        </p:nvPicPr>
        <p:blipFill>
          <a:blip r:embed="rId4"/>
          <a:stretch>
            <a:fillRect/>
          </a:stretch>
        </p:blipFill>
        <p:spPr>
          <a:xfrm>
            <a:off x="0" y="0"/>
            <a:ext cx="12192000" cy="17525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36A3E-140F-4D7F-BC63-99920247FEC8}"/>
              </a:ext>
            </a:extLst>
          </p:cNvPr>
          <p:cNvSpPr>
            <a:spLocks noGrp="1"/>
          </p:cNvSpPr>
          <p:nvPr>
            <p:ph type="title"/>
          </p:nvPr>
        </p:nvSpPr>
        <p:spPr/>
        <p:txBody>
          <a:bodyPr/>
          <a:lstStyle/>
          <a:p>
            <a:r>
              <a:rPr lang="en-US"/>
              <a:t>1. Tiến độ thực tế (dự kiến)</a:t>
            </a:r>
          </a:p>
        </p:txBody>
      </p:sp>
      <p:sp>
        <p:nvSpPr>
          <p:cNvPr id="3" name="Content Placeholder 2">
            <a:extLst>
              <a:ext uri="{FF2B5EF4-FFF2-40B4-BE49-F238E27FC236}">
                <a16:creationId xmlns:a16="http://schemas.microsoft.com/office/drawing/2014/main" id="{3769D7D8-9C34-42BE-9B45-DBF7B9C2BFF9}"/>
              </a:ext>
            </a:extLst>
          </p:cNvPr>
          <p:cNvSpPr>
            <a:spLocks noGrp="1"/>
          </p:cNvSpPr>
          <p:nvPr>
            <p:ph idx="1"/>
          </p:nvPr>
        </p:nvSpPr>
        <p:spPr/>
        <p:txBody>
          <a:bodyPr/>
          <a:lstStyle/>
          <a:p>
            <a:r>
              <a:rPr lang="en-US" sz="2400"/>
              <a:t>Bảng 1: Bảng phân công công việc từng thành viên</a:t>
            </a:r>
          </a:p>
          <a:p>
            <a:r>
              <a:rPr lang="en-US" sz="2400"/>
              <a:t>Bảng 2: Bảng “quản lý tiến độ” (ghi nhận tiến độ thực tế “theo tuần”)</a:t>
            </a:r>
          </a:p>
          <a:p>
            <a:r>
              <a:rPr lang="en-US" sz="2400">
                <a:hlinkClick r:id="rId2"/>
              </a:rPr>
              <a:t>https://docs.google.com/spreadsheets/d/1sClCX4doFPRGRslG_CvJLxAsMfU6heg3camePzlJto0/edit?usp=sharing</a:t>
            </a:r>
            <a:r>
              <a:rPr lang="en-US" sz="2400"/>
              <a:t> </a:t>
            </a:r>
          </a:p>
        </p:txBody>
      </p:sp>
      <p:pic>
        <p:nvPicPr>
          <p:cNvPr id="5" name="Picture 4">
            <a:extLst>
              <a:ext uri="{FF2B5EF4-FFF2-40B4-BE49-F238E27FC236}">
                <a16:creationId xmlns:a16="http://schemas.microsoft.com/office/drawing/2014/main" id="{3ECAEE2E-AFB8-4D4A-8D4F-9B9418E0981A}"/>
              </a:ext>
            </a:extLst>
          </p:cNvPr>
          <p:cNvPicPr>
            <a:picLocks noChangeAspect="1"/>
          </p:cNvPicPr>
          <p:nvPr/>
        </p:nvPicPr>
        <p:blipFill>
          <a:blip r:embed="rId3"/>
          <a:stretch>
            <a:fillRect/>
          </a:stretch>
        </p:blipFill>
        <p:spPr>
          <a:xfrm>
            <a:off x="2476500" y="2971800"/>
            <a:ext cx="7589246" cy="3276600"/>
          </a:xfrm>
          <a:prstGeom prst="rect">
            <a:avLst/>
          </a:prstGeom>
        </p:spPr>
      </p:pic>
    </p:spTree>
    <p:extLst>
      <p:ext uri="{BB962C8B-B14F-4D97-AF65-F5344CB8AC3E}">
        <p14:creationId xmlns:p14="http://schemas.microsoft.com/office/powerpoint/2010/main" val="195310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 ( </a:t>
            </a:r>
            <a:r>
              <a:rPr lang="en-US">
                <a:solidFill>
                  <a:srgbClr val="FF0000"/>
                </a:solidFill>
                <a:sym typeface="Wingdings" panose="05000000000000000000" pitchFamily="2" charset="2"/>
              </a:rPr>
              <a:t></a:t>
            </a:r>
            <a:r>
              <a:rPr lang="en-US">
                <a:solidFill>
                  <a:srgbClr val="FF0000"/>
                </a:solidFill>
              </a:rPr>
              <a:t> đồng bộ lên github </a:t>
            </a:r>
            <a:r>
              <a:rPr lang="en-US">
                <a:solidFill>
                  <a:srgbClr val="FF0000"/>
                </a:solidFill>
                <a:sym typeface="Wingdings" panose="05000000000000000000" pitchFamily="2" charset="2"/>
              </a:rPr>
              <a:t> Nộp utex</a:t>
            </a:r>
            <a:r>
              <a:rPr lang="en-US"/>
              <a:t>)</a:t>
            </a:r>
          </a:p>
        </p:txBody>
      </p:sp>
      <p:sp>
        <p:nvSpPr>
          <p:cNvPr id="3" name="Content Placeholder 2">
            <a:extLst>
              <a:ext uri="{FF2B5EF4-FFF2-40B4-BE49-F238E27FC236}">
                <a16:creationId xmlns:a16="http://schemas.microsoft.com/office/drawing/2014/main" id="{3455E681-6D67-4CD4-8AC0-AD826623E515}"/>
              </a:ext>
            </a:extLst>
          </p:cNvPr>
          <p:cNvSpPr>
            <a:spLocks noGrp="1"/>
          </p:cNvSpPr>
          <p:nvPr>
            <p:ph idx="1"/>
          </p:nvPr>
        </p:nvSpPr>
        <p:spPr/>
        <p:txBody>
          <a:bodyPr/>
          <a:lstStyle/>
          <a:p>
            <a:pPr marL="0" indent="0">
              <a:buNone/>
            </a:pPr>
            <a:r>
              <a:rPr lang="en-US"/>
              <a:t>Gồm:</a:t>
            </a:r>
          </a:p>
          <a:p>
            <a:r>
              <a:rPr lang="en-US"/>
              <a:t>Github:</a:t>
            </a:r>
            <a:r>
              <a:rPr lang="en-US">
                <a:hlinkClick r:id="rId2"/>
              </a:rPr>
              <a:t>giunzz/mobile_project</a:t>
            </a:r>
            <a:endParaRPr lang="en-US"/>
          </a:p>
          <a:p>
            <a:r>
              <a:rPr lang="en-US"/>
              <a:t>File word: tổng kết</a:t>
            </a:r>
          </a:p>
          <a:p>
            <a:pPr marL="0" indent="0">
              <a:buNone/>
            </a:pPr>
            <a:endParaRPr lang="en-US"/>
          </a:p>
        </p:txBody>
      </p:sp>
    </p:spTree>
    <p:extLst>
      <p:ext uri="{BB962C8B-B14F-4D97-AF65-F5344CB8AC3E}">
        <p14:creationId xmlns:p14="http://schemas.microsoft.com/office/powerpoint/2010/main" val="39748872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4" name="Text 0">
            <a:extLst>
              <a:ext uri="{FF2B5EF4-FFF2-40B4-BE49-F238E27FC236}">
                <a16:creationId xmlns:a16="http://schemas.microsoft.com/office/drawing/2014/main" id="{1055861E-C04E-474A-9A16-E8095EE3D3BC}"/>
              </a:ext>
            </a:extLst>
          </p:cNvPr>
          <p:cNvSpPr/>
          <p:nvPr/>
        </p:nvSpPr>
        <p:spPr>
          <a:xfrm>
            <a:off x="762644" y="1700017"/>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u="none" strike="noStrike">
                <a:solidFill>
                  <a:srgbClr val="0F172A"/>
                </a:solidFill>
                <a:effectLst/>
                <a:uFillTx/>
                <a:latin typeface="Aptos"/>
              </a:rPr>
              <a:t>1. Phạm vi Firmware V1</a:t>
            </a:r>
            <a:endParaRPr lang="en-US" sz="2600" b="0" u="none" strike="noStrike">
              <a:solidFill>
                <a:srgbClr val="000000"/>
              </a:solidFill>
              <a:effectLst/>
              <a:uFillTx/>
              <a:latin typeface="Arial"/>
            </a:endParaRPr>
          </a:p>
        </p:txBody>
      </p:sp>
      <p:sp>
        <p:nvSpPr>
          <p:cNvPr id="5" name="Text 1">
            <a:extLst>
              <a:ext uri="{FF2B5EF4-FFF2-40B4-BE49-F238E27FC236}">
                <a16:creationId xmlns:a16="http://schemas.microsoft.com/office/drawing/2014/main" id="{1EB9CF11-5DD4-4EB6-BDE4-0E453DFFFDBC}"/>
              </a:ext>
            </a:extLst>
          </p:cNvPr>
          <p:cNvSpPr/>
          <p:nvPr/>
        </p:nvSpPr>
        <p:spPr>
          <a:xfrm>
            <a:off x="792102" y="2260690"/>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Mục tiêu: hoàn thiện nền tảng phần cứng, điều khiển và cloud trước khi tích hợp AI.</a:t>
            </a:r>
            <a:endParaRPr lang="en-US" sz="1150" b="0" u="none" strike="noStrike">
              <a:solidFill>
                <a:srgbClr val="000000"/>
              </a:solidFill>
              <a:effectLst/>
              <a:uFillTx/>
              <a:latin typeface="Arial"/>
            </a:endParaRPr>
          </a:p>
        </p:txBody>
      </p:sp>
      <p:sp>
        <p:nvSpPr>
          <p:cNvPr id="6" name="Shape 2">
            <a:extLst>
              <a:ext uri="{FF2B5EF4-FFF2-40B4-BE49-F238E27FC236}">
                <a16:creationId xmlns:a16="http://schemas.microsoft.com/office/drawing/2014/main" id="{A5107BF3-5D2F-4943-88C3-586F48E88207}"/>
              </a:ext>
            </a:extLst>
          </p:cNvPr>
          <p:cNvSpPr/>
          <p:nvPr/>
        </p:nvSpPr>
        <p:spPr>
          <a:xfrm>
            <a:off x="707570" y="2725995"/>
            <a:ext cx="3520080" cy="2164080"/>
          </a:xfrm>
          <a:prstGeom prst="roundRect">
            <a:avLst>
              <a:gd name="adj" fmla="val 1579"/>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 name="Shape 3">
            <a:extLst>
              <a:ext uri="{FF2B5EF4-FFF2-40B4-BE49-F238E27FC236}">
                <a16:creationId xmlns:a16="http://schemas.microsoft.com/office/drawing/2014/main" id="{C3B92443-9423-42E4-9574-91A531D7DE38}"/>
              </a:ext>
            </a:extLst>
          </p:cNvPr>
          <p:cNvSpPr/>
          <p:nvPr/>
        </p:nvSpPr>
        <p:spPr>
          <a:xfrm>
            <a:off x="707569" y="2725995"/>
            <a:ext cx="55075" cy="2164080"/>
          </a:xfrm>
          <a:prstGeom prst="rect">
            <a:avLst/>
          </a:prstGeom>
          <a:solidFill>
            <a:srgbClr val="16A34A"/>
          </a:solidFill>
          <a:ln w="1270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 name="Text 4">
            <a:extLst>
              <a:ext uri="{FF2B5EF4-FFF2-40B4-BE49-F238E27FC236}">
                <a16:creationId xmlns:a16="http://schemas.microsoft.com/office/drawing/2014/main" id="{CA47FEB8-C05B-4409-AEB3-DABC527FF9A1}"/>
              </a:ext>
            </a:extLst>
          </p:cNvPr>
          <p:cNvSpPr/>
          <p:nvPr/>
        </p:nvSpPr>
        <p:spPr>
          <a:xfrm>
            <a:off x="908809" y="2872155"/>
            <a:ext cx="3149507" cy="13508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Đã triển khai</a:t>
            </a:r>
            <a:endParaRPr lang="en-US" sz="1400" b="0" u="none" strike="noStrike">
              <a:solidFill>
                <a:srgbClr val="000000"/>
              </a:solidFill>
              <a:effectLst/>
              <a:uFillTx/>
              <a:latin typeface="Arial"/>
            </a:endParaRPr>
          </a:p>
        </p:txBody>
      </p:sp>
      <p:sp>
        <p:nvSpPr>
          <p:cNvPr id="9" name="Text 5">
            <a:extLst>
              <a:ext uri="{FF2B5EF4-FFF2-40B4-BE49-F238E27FC236}">
                <a16:creationId xmlns:a16="http://schemas.microsoft.com/office/drawing/2014/main" id="{8250E871-DB2F-438D-80D2-37B76BD83F01}"/>
              </a:ext>
            </a:extLst>
          </p:cNvPr>
          <p:cNvSpPr/>
          <p:nvPr/>
        </p:nvSpPr>
        <p:spPr>
          <a:xfrm>
            <a:off x="908809" y="3256275"/>
            <a:ext cx="3149507" cy="1839406"/>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ESP32-S3 CAM initialization</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DOG: Servo 1 + HX711/Load Cell 1</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CAT: Servo 2 + HX711/Load Cell 2</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LED cấp thức ăn + buzzer</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Wi-Fi + Firebase Auth/RTDB</a:t>
            </a:r>
            <a:endParaRPr lang="en-US" sz="1120" b="0" u="none" strike="noStrike">
              <a:solidFill>
                <a:srgbClr val="000000"/>
              </a:solidFill>
              <a:effectLst/>
              <a:uFillTx/>
              <a:latin typeface="Arial"/>
            </a:endParaRPr>
          </a:p>
        </p:txBody>
      </p:sp>
      <p:sp>
        <p:nvSpPr>
          <p:cNvPr id="10" name="Shape 6">
            <a:extLst>
              <a:ext uri="{FF2B5EF4-FFF2-40B4-BE49-F238E27FC236}">
                <a16:creationId xmlns:a16="http://schemas.microsoft.com/office/drawing/2014/main" id="{9626E69F-5910-422D-9DFF-13F15D7B747C}"/>
              </a:ext>
            </a:extLst>
          </p:cNvPr>
          <p:cNvSpPr/>
          <p:nvPr/>
        </p:nvSpPr>
        <p:spPr>
          <a:xfrm>
            <a:off x="4410890" y="2725995"/>
            <a:ext cx="3520080" cy="2164080"/>
          </a:xfrm>
          <a:prstGeom prst="roundRect">
            <a:avLst>
              <a:gd name="adj" fmla="val 1579"/>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 name="Shape 7">
            <a:extLst>
              <a:ext uri="{FF2B5EF4-FFF2-40B4-BE49-F238E27FC236}">
                <a16:creationId xmlns:a16="http://schemas.microsoft.com/office/drawing/2014/main" id="{DE71A879-5E14-4DD5-9E9B-00FFDC10F6A2}"/>
              </a:ext>
            </a:extLst>
          </p:cNvPr>
          <p:cNvSpPr/>
          <p:nvPr/>
        </p:nvSpPr>
        <p:spPr>
          <a:xfrm>
            <a:off x="4410889" y="2725995"/>
            <a:ext cx="55075" cy="216408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 name="Text 8">
            <a:extLst>
              <a:ext uri="{FF2B5EF4-FFF2-40B4-BE49-F238E27FC236}">
                <a16:creationId xmlns:a16="http://schemas.microsoft.com/office/drawing/2014/main" id="{1E8F03CF-626E-4365-8DEE-C28AA6DEF983}"/>
              </a:ext>
            </a:extLst>
          </p:cNvPr>
          <p:cNvSpPr/>
          <p:nvPr/>
        </p:nvSpPr>
        <p:spPr>
          <a:xfrm>
            <a:off x="4612129" y="2872155"/>
            <a:ext cx="3149507" cy="13508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Logic cấp thức ăn</a:t>
            </a:r>
            <a:endParaRPr lang="en-US" sz="1400" b="0" u="none" strike="noStrike">
              <a:solidFill>
                <a:srgbClr val="000000"/>
              </a:solidFill>
              <a:effectLst/>
              <a:uFillTx/>
              <a:latin typeface="Arial"/>
            </a:endParaRPr>
          </a:p>
        </p:txBody>
      </p:sp>
      <p:sp>
        <p:nvSpPr>
          <p:cNvPr id="13" name="Text 9">
            <a:extLst>
              <a:ext uri="{FF2B5EF4-FFF2-40B4-BE49-F238E27FC236}">
                <a16:creationId xmlns:a16="http://schemas.microsoft.com/office/drawing/2014/main" id="{B01DF2EC-7DB6-40C5-8F47-4C3390127808}"/>
              </a:ext>
            </a:extLst>
          </p:cNvPr>
          <p:cNvSpPr/>
          <p:nvPr/>
        </p:nvSpPr>
        <p:spPr>
          <a:xfrm>
            <a:off x="4612129" y="3256275"/>
            <a:ext cx="3149507" cy="1839406"/>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Feed Now command</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Firebase portion fallback</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Cooldown 10 phút / loài</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Đóng cửa theo khối lượng</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Timeout / no-progress protection</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Feeding history</a:t>
            </a:r>
            <a:endParaRPr lang="en-US" sz="1120" b="0" u="none" strike="noStrike">
              <a:solidFill>
                <a:srgbClr val="000000"/>
              </a:solidFill>
              <a:effectLst/>
              <a:uFillTx/>
              <a:latin typeface="Arial"/>
            </a:endParaRPr>
          </a:p>
        </p:txBody>
      </p:sp>
      <p:sp>
        <p:nvSpPr>
          <p:cNvPr id="14" name="Shape 10">
            <a:extLst>
              <a:ext uri="{FF2B5EF4-FFF2-40B4-BE49-F238E27FC236}">
                <a16:creationId xmlns:a16="http://schemas.microsoft.com/office/drawing/2014/main" id="{0DF542CD-A62D-4EED-9C28-FCC78E75A9EC}"/>
              </a:ext>
            </a:extLst>
          </p:cNvPr>
          <p:cNvSpPr/>
          <p:nvPr/>
        </p:nvSpPr>
        <p:spPr>
          <a:xfrm>
            <a:off x="8114210" y="2725995"/>
            <a:ext cx="3520080" cy="2164080"/>
          </a:xfrm>
          <a:prstGeom prst="roundRect">
            <a:avLst>
              <a:gd name="adj" fmla="val 1579"/>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 name="Shape 11">
            <a:extLst>
              <a:ext uri="{FF2B5EF4-FFF2-40B4-BE49-F238E27FC236}">
                <a16:creationId xmlns:a16="http://schemas.microsoft.com/office/drawing/2014/main" id="{66BA03E9-0EC5-461F-BA46-7279F87F9188}"/>
              </a:ext>
            </a:extLst>
          </p:cNvPr>
          <p:cNvSpPr/>
          <p:nvPr/>
        </p:nvSpPr>
        <p:spPr>
          <a:xfrm>
            <a:off x="8114209" y="2725995"/>
            <a:ext cx="55075" cy="216408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 name="Text 12">
            <a:extLst>
              <a:ext uri="{FF2B5EF4-FFF2-40B4-BE49-F238E27FC236}">
                <a16:creationId xmlns:a16="http://schemas.microsoft.com/office/drawing/2014/main" id="{7BA8F9BB-405A-4C1C-AD0D-9B72C8446BD5}"/>
              </a:ext>
            </a:extLst>
          </p:cNvPr>
          <p:cNvSpPr/>
          <p:nvPr/>
        </p:nvSpPr>
        <p:spPr>
          <a:xfrm>
            <a:off x="8315449" y="2872155"/>
            <a:ext cx="3149507" cy="13508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Chẩn đoán &amp; mở rộng</a:t>
            </a:r>
            <a:endParaRPr lang="en-US" sz="1400" b="0" u="none" strike="noStrike">
              <a:solidFill>
                <a:srgbClr val="000000"/>
              </a:solidFill>
              <a:effectLst/>
              <a:uFillTx/>
              <a:latin typeface="Arial"/>
            </a:endParaRPr>
          </a:p>
        </p:txBody>
      </p:sp>
      <p:sp>
        <p:nvSpPr>
          <p:cNvPr id="17" name="Text 13">
            <a:extLst>
              <a:ext uri="{FF2B5EF4-FFF2-40B4-BE49-F238E27FC236}">
                <a16:creationId xmlns:a16="http://schemas.microsoft.com/office/drawing/2014/main" id="{4D35AC80-ACA4-4BC6-9283-D29F6D0C16A7}"/>
              </a:ext>
            </a:extLst>
          </p:cNvPr>
          <p:cNvSpPr/>
          <p:nvPr/>
        </p:nvSpPr>
        <p:spPr>
          <a:xfrm>
            <a:off x="8315449" y="3256275"/>
            <a:ext cx="3149507" cy="1839406"/>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Serial calibration mode</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Camera capture diagnostic</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Calibration lưu trong NVS</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AI tương lai chỉ cần trả về dog/cat và gọi cùng feeding controller</a:t>
            </a:r>
            <a:endParaRPr lang="en-US" sz="1120" b="0" u="none" strike="noStrike">
              <a:solidFill>
                <a:srgbClr val="000000"/>
              </a:solidFill>
              <a:effectLst/>
              <a:uFillTx/>
              <a:latin typeface="Arial"/>
            </a:endParaRPr>
          </a:p>
        </p:txBody>
      </p:sp>
      <p:sp>
        <p:nvSpPr>
          <p:cNvPr id="18" name="Shape 14">
            <a:extLst>
              <a:ext uri="{FF2B5EF4-FFF2-40B4-BE49-F238E27FC236}">
                <a16:creationId xmlns:a16="http://schemas.microsoft.com/office/drawing/2014/main" id="{2CB2C1A2-65FA-4A2C-BF96-8B0B83029586}"/>
              </a:ext>
            </a:extLst>
          </p:cNvPr>
          <p:cNvSpPr/>
          <p:nvPr/>
        </p:nvSpPr>
        <p:spPr>
          <a:xfrm>
            <a:off x="8577025" y="4590087"/>
            <a:ext cx="2825255" cy="153195"/>
          </a:xfrm>
          <a:prstGeom prst="roundRect">
            <a:avLst>
              <a:gd name="adj" fmla="val 23529"/>
            </a:avLst>
          </a:prstGeom>
          <a:solidFill>
            <a:srgbClr val="FFEDD5"/>
          </a:solidFill>
          <a:ln w="12700">
            <a:solidFill>
              <a:srgbClr val="FFEDD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 name="Text 15">
            <a:extLst>
              <a:ext uri="{FF2B5EF4-FFF2-40B4-BE49-F238E27FC236}">
                <a16:creationId xmlns:a16="http://schemas.microsoft.com/office/drawing/2014/main" id="{0B728927-E821-4091-B46D-B5FBF86769E8}"/>
              </a:ext>
            </a:extLst>
          </p:cNvPr>
          <p:cNvSpPr/>
          <p:nvPr/>
        </p:nvSpPr>
        <p:spPr>
          <a:xfrm>
            <a:off x="8282792" y="4648200"/>
            <a:ext cx="2677172" cy="8094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50" b="1" u="none" strike="noStrike">
                <a:solidFill>
                  <a:srgbClr val="EA580C"/>
                </a:solidFill>
                <a:effectLst/>
                <a:uFillTx/>
                <a:latin typeface="Aptos"/>
              </a:rPr>
              <a:t>AI inference: CHƯA có trong V1</a:t>
            </a:r>
            <a:endParaRPr lang="en-US" sz="950" b="0" u="none" strike="noStrike">
              <a:solidFill>
                <a:srgbClr val="000000"/>
              </a:solidFill>
              <a:effectLst/>
              <a:uFillTx/>
              <a:latin typeface="Arial"/>
            </a:endParaRPr>
          </a:p>
        </p:txBody>
      </p:sp>
    </p:spTree>
    <p:extLst>
      <p:ext uri="{BB962C8B-B14F-4D97-AF65-F5344CB8AC3E}">
        <p14:creationId xmlns:p14="http://schemas.microsoft.com/office/powerpoint/2010/main" val="26732306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20" name="Text 1">
            <a:extLst>
              <a:ext uri="{FF2B5EF4-FFF2-40B4-BE49-F238E27FC236}">
                <a16:creationId xmlns:a16="http://schemas.microsoft.com/office/drawing/2014/main" id="{7363BC20-98FD-4F87-BF1A-D00861A6994D}"/>
              </a:ext>
            </a:extLst>
          </p:cNvPr>
          <p:cNvSpPr/>
          <p:nvPr/>
        </p:nvSpPr>
        <p:spPr>
          <a:xfrm>
            <a:off x="701220" y="1219200"/>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Hai kênh cấp thức ăn độc lập cho DOG và CAT.</a:t>
            </a:r>
            <a:endParaRPr lang="en-US" sz="1150" b="0" u="none" strike="noStrike">
              <a:solidFill>
                <a:srgbClr val="000000"/>
              </a:solidFill>
              <a:effectLst/>
              <a:uFillTx/>
              <a:latin typeface="Arial"/>
            </a:endParaRPr>
          </a:p>
        </p:txBody>
      </p:sp>
      <p:graphicFrame>
        <p:nvGraphicFramePr>
          <p:cNvPr id="21" name="Table 0">
            <a:extLst>
              <a:ext uri="{FF2B5EF4-FFF2-40B4-BE49-F238E27FC236}">
                <a16:creationId xmlns:a16="http://schemas.microsoft.com/office/drawing/2014/main" id="{DE2CAA3A-05D7-44A8-B356-F52B0A1FE6C5}"/>
              </a:ext>
            </a:extLst>
          </p:cNvPr>
          <p:cNvGraphicFramePr/>
          <p:nvPr>
            <p:extLst>
              <p:ext uri="{D42A27DB-BD31-4B8C-83A1-F6EECF244321}">
                <p14:modId xmlns:p14="http://schemas.microsoft.com/office/powerpoint/2010/main" val="3407803267"/>
              </p:ext>
            </p:extLst>
          </p:nvPr>
        </p:nvGraphicFramePr>
        <p:xfrm>
          <a:off x="911460" y="1703760"/>
          <a:ext cx="5029200" cy="4114800"/>
        </p:xfrm>
        <a:graphic>
          <a:graphicData uri="http://schemas.openxmlformats.org/drawingml/2006/table">
            <a:tbl>
              <a:tblPr/>
              <a:tblGrid>
                <a:gridCol w="33832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57200">
                <a:tc>
                  <a:txBody>
                    <a:bodyPr/>
                    <a:lstStyle/>
                    <a:p>
                      <a:pPr defTabSz="914400">
                        <a:lnSpc>
                          <a:spcPct val="100000"/>
                        </a:lnSpc>
                        <a:tabLst>
                          <a:tab pos="0" algn="l"/>
                        </a:tabLst>
                      </a:pPr>
                      <a:r>
                        <a:rPr lang="en-US" sz="1300" b="0" u="none" strike="noStrike">
                          <a:solidFill>
                            <a:srgbClr val="334155"/>
                          </a:solidFill>
                          <a:effectLst/>
                          <a:uFillTx/>
                          <a:latin typeface="Aptos"/>
                        </a:rPr>
                        <a:t>Chức năng</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Servo 1 – DOG</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42</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HX711 #1 DT</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1</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2"/>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HX711 #1 SCK</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2</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3"/>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Servo 2 – CAT</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41</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4"/>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HX711 #2 DT</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39</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5"/>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HX711 #2 SCK</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40</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6"/>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Passive buzzer</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47</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7"/>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Feeding LED</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48</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8"/>
                  </a:ext>
                </a:extLst>
              </a:tr>
            </a:tbl>
          </a:graphicData>
        </a:graphic>
      </p:graphicFrame>
      <p:sp>
        <p:nvSpPr>
          <p:cNvPr id="22" name="Shape 2">
            <a:extLst>
              <a:ext uri="{FF2B5EF4-FFF2-40B4-BE49-F238E27FC236}">
                <a16:creationId xmlns:a16="http://schemas.microsoft.com/office/drawing/2014/main" id="{589681CD-E52B-4B5F-9350-69BC782A5D1F}"/>
              </a:ext>
            </a:extLst>
          </p:cNvPr>
          <p:cNvSpPr/>
          <p:nvPr/>
        </p:nvSpPr>
        <p:spPr>
          <a:xfrm>
            <a:off x="6535020" y="1886640"/>
            <a:ext cx="4480200" cy="3977280"/>
          </a:xfrm>
          <a:prstGeom prst="roundRect">
            <a:avLst>
              <a:gd name="adj" fmla="val 1839"/>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 name="Text 3">
            <a:extLst>
              <a:ext uri="{FF2B5EF4-FFF2-40B4-BE49-F238E27FC236}">
                <a16:creationId xmlns:a16="http://schemas.microsoft.com/office/drawing/2014/main" id="{FA817203-10A3-4B06-A9CD-E6119025912C}"/>
              </a:ext>
            </a:extLst>
          </p:cNvPr>
          <p:cNvSpPr/>
          <p:nvPr/>
        </p:nvSpPr>
        <p:spPr>
          <a:xfrm>
            <a:off x="7723740" y="2188320"/>
            <a:ext cx="210276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2563EB"/>
                </a:solidFill>
                <a:effectLst/>
                <a:uFillTx/>
                <a:latin typeface="Aptos"/>
              </a:rPr>
              <a:t>ESP32-S3 CAM</a:t>
            </a:r>
            <a:endParaRPr lang="en-US" sz="2000" b="0" u="none" strike="noStrike">
              <a:solidFill>
                <a:srgbClr val="000000"/>
              </a:solidFill>
              <a:effectLst/>
              <a:uFillTx/>
              <a:latin typeface="Arial"/>
            </a:endParaRPr>
          </a:p>
        </p:txBody>
      </p:sp>
      <p:sp>
        <p:nvSpPr>
          <p:cNvPr id="24" name="Shape 4">
            <a:extLst>
              <a:ext uri="{FF2B5EF4-FFF2-40B4-BE49-F238E27FC236}">
                <a16:creationId xmlns:a16="http://schemas.microsoft.com/office/drawing/2014/main" id="{9B73099A-05C8-4AB0-824F-C69523B7C76A}"/>
              </a:ext>
            </a:extLst>
          </p:cNvPr>
          <p:cNvSpPr/>
          <p:nvPr/>
        </p:nvSpPr>
        <p:spPr>
          <a:xfrm>
            <a:off x="6900780" y="2846760"/>
            <a:ext cx="1737000" cy="1005480"/>
          </a:xfrm>
          <a:prstGeom prst="roundRect">
            <a:avLst>
              <a:gd name="adj" fmla="val 5455"/>
            </a:avLst>
          </a:prstGeom>
          <a:solidFill>
            <a:srgbClr val="DCFCE7"/>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 name="Shape 5">
            <a:extLst>
              <a:ext uri="{FF2B5EF4-FFF2-40B4-BE49-F238E27FC236}">
                <a16:creationId xmlns:a16="http://schemas.microsoft.com/office/drawing/2014/main" id="{144D2C86-4568-424E-A2AA-BDB144C655CC}"/>
              </a:ext>
            </a:extLst>
          </p:cNvPr>
          <p:cNvSpPr/>
          <p:nvPr/>
        </p:nvSpPr>
        <p:spPr>
          <a:xfrm>
            <a:off x="6900780" y="2846760"/>
            <a:ext cx="54360" cy="1005480"/>
          </a:xfrm>
          <a:prstGeom prst="rect">
            <a:avLst/>
          </a:prstGeom>
          <a:solidFill>
            <a:srgbClr val="16A34A"/>
          </a:solidFill>
          <a:ln w="1270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 name="Text 6">
            <a:extLst>
              <a:ext uri="{FF2B5EF4-FFF2-40B4-BE49-F238E27FC236}">
                <a16:creationId xmlns:a16="http://schemas.microsoft.com/office/drawing/2014/main" id="{EE699772-047F-4612-8532-32905331456C}"/>
              </a:ext>
            </a:extLst>
          </p:cNvPr>
          <p:cNvSpPr/>
          <p:nvPr/>
        </p:nvSpPr>
        <p:spPr>
          <a:xfrm>
            <a:off x="7102020" y="2992920"/>
            <a:ext cx="1371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DOG</a:t>
            </a:r>
            <a:endParaRPr lang="en-US" sz="1400" b="0" u="none" strike="noStrike">
              <a:solidFill>
                <a:srgbClr val="000000"/>
              </a:solidFill>
              <a:effectLst/>
              <a:uFillTx/>
              <a:latin typeface="Arial"/>
            </a:endParaRPr>
          </a:p>
        </p:txBody>
      </p:sp>
      <p:sp>
        <p:nvSpPr>
          <p:cNvPr id="27" name="Text 7">
            <a:extLst>
              <a:ext uri="{FF2B5EF4-FFF2-40B4-BE49-F238E27FC236}">
                <a16:creationId xmlns:a16="http://schemas.microsoft.com/office/drawing/2014/main" id="{A7E6FDEF-2022-40D1-8A18-C4FBBEF44ACB}"/>
              </a:ext>
            </a:extLst>
          </p:cNvPr>
          <p:cNvSpPr/>
          <p:nvPr/>
        </p:nvSpPr>
        <p:spPr>
          <a:xfrm>
            <a:off x="7102020" y="3377040"/>
            <a:ext cx="1371240" cy="347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Servo 42</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HX711 1/2</a:t>
            </a:r>
            <a:endParaRPr lang="en-US" sz="1120" b="0" u="none" strike="noStrike">
              <a:solidFill>
                <a:srgbClr val="000000"/>
              </a:solidFill>
              <a:effectLst/>
              <a:uFillTx/>
              <a:latin typeface="Arial"/>
            </a:endParaRPr>
          </a:p>
        </p:txBody>
      </p:sp>
      <p:sp>
        <p:nvSpPr>
          <p:cNvPr id="28" name="Shape 8">
            <a:extLst>
              <a:ext uri="{FF2B5EF4-FFF2-40B4-BE49-F238E27FC236}">
                <a16:creationId xmlns:a16="http://schemas.microsoft.com/office/drawing/2014/main" id="{6749A2CC-96CD-4659-8FBD-9AFBF0951993}"/>
              </a:ext>
            </a:extLst>
          </p:cNvPr>
          <p:cNvSpPr/>
          <p:nvPr/>
        </p:nvSpPr>
        <p:spPr>
          <a:xfrm>
            <a:off x="8912460" y="2846760"/>
            <a:ext cx="1737000" cy="1005480"/>
          </a:xfrm>
          <a:prstGeom prst="roundRect">
            <a:avLst>
              <a:gd name="adj" fmla="val 5455"/>
            </a:avLst>
          </a:prstGeom>
          <a:solidFill>
            <a:srgbClr val="F3E8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 name="Shape 9">
            <a:extLst>
              <a:ext uri="{FF2B5EF4-FFF2-40B4-BE49-F238E27FC236}">
                <a16:creationId xmlns:a16="http://schemas.microsoft.com/office/drawing/2014/main" id="{BB0EB607-9CEA-448D-BAE9-3A1F0EAF12F9}"/>
              </a:ext>
            </a:extLst>
          </p:cNvPr>
          <p:cNvSpPr/>
          <p:nvPr/>
        </p:nvSpPr>
        <p:spPr>
          <a:xfrm>
            <a:off x="8912460" y="2846760"/>
            <a:ext cx="54360" cy="1005480"/>
          </a:xfrm>
          <a:prstGeom prst="rect">
            <a:avLst/>
          </a:prstGeom>
          <a:solidFill>
            <a:srgbClr val="7E22CE"/>
          </a:solidFill>
          <a:ln w="12700">
            <a:solidFill>
              <a:srgbClr val="7E22C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0" name="Text 10">
            <a:extLst>
              <a:ext uri="{FF2B5EF4-FFF2-40B4-BE49-F238E27FC236}">
                <a16:creationId xmlns:a16="http://schemas.microsoft.com/office/drawing/2014/main" id="{F047E1F7-D0C1-4A65-A3B7-4C7D38DBF031}"/>
              </a:ext>
            </a:extLst>
          </p:cNvPr>
          <p:cNvSpPr/>
          <p:nvPr/>
        </p:nvSpPr>
        <p:spPr>
          <a:xfrm>
            <a:off x="9113700" y="2992920"/>
            <a:ext cx="1371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CAT</a:t>
            </a:r>
            <a:endParaRPr lang="en-US" sz="1400" b="0" u="none" strike="noStrike">
              <a:solidFill>
                <a:srgbClr val="000000"/>
              </a:solidFill>
              <a:effectLst/>
              <a:uFillTx/>
              <a:latin typeface="Arial"/>
            </a:endParaRPr>
          </a:p>
        </p:txBody>
      </p:sp>
      <p:sp>
        <p:nvSpPr>
          <p:cNvPr id="31" name="Text 11">
            <a:extLst>
              <a:ext uri="{FF2B5EF4-FFF2-40B4-BE49-F238E27FC236}">
                <a16:creationId xmlns:a16="http://schemas.microsoft.com/office/drawing/2014/main" id="{F0EB6797-28DE-405F-9481-E1FDFD8F00C8}"/>
              </a:ext>
            </a:extLst>
          </p:cNvPr>
          <p:cNvSpPr/>
          <p:nvPr/>
        </p:nvSpPr>
        <p:spPr>
          <a:xfrm>
            <a:off x="9113700" y="3377040"/>
            <a:ext cx="1371240" cy="347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Servo 41</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HX711 39/40</a:t>
            </a:r>
            <a:endParaRPr lang="en-US" sz="1120" b="0" u="none" strike="noStrike">
              <a:solidFill>
                <a:srgbClr val="000000"/>
              </a:solidFill>
              <a:effectLst/>
              <a:uFillTx/>
              <a:latin typeface="Arial"/>
            </a:endParaRPr>
          </a:p>
        </p:txBody>
      </p:sp>
      <p:sp>
        <p:nvSpPr>
          <p:cNvPr id="32" name="Shape 12">
            <a:extLst>
              <a:ext uri="{FF2B5EF4-FFF2-40B4-BE49-F238E27FC236}">
                <a16:creationId xmlns:a16="http://schemas.microsoft.com/office/drawing/2014/main" id="{0C0DB998-7F1B-4401-9479-002A791B8CE3}"/>
              </a:ext>
            </a:extLst>
          </p:cNvPr>
          <p:cNvSpPr/>
          <p:nvPr/>
        </p:nvSpPr>
        <p:spPr>
          <a:xfrm>
            <a:off x="6900780" y="4172640"/>
            <a:ext cx="1737000" cy="959760"/>
          </a:xfrm>
          <a:prstGeom prst="roundRect">
            <a:avLst>
              <a:gd name="adj" fmla="val 5714"/>
            </a:avLst>
          </a:prstGeom>
          <a:solidFill>
            <a:srgbClr val="FFEDD5"/>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 name="Shape 13">
            <a:extLst>
              <a:ext uri="{FF2B5EF4-FFF2-40B4-BE49-F238E27FC236}">
                <a16:creationId xmlns:a16="http://schemas.microsoft.com/office/drawing/2014/main" id="{2F341079-CEB0-4394-ACF4-1E888BEB48A0}"/>
              </a:ext>
            </a:extLst>
          </p:cNvPr>
          <p:cNvSpPr/>
          <p:nvPr/>
        </p:nvSpPr>
        <p:spPr>
          <a:xfrm>
            <a:off x="6900780" y="4172640"/>
            <a:ext cx="54360" cy="95976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4" name="Text 14">
            <a:extLst>
              <a:ext uri="{FF2B5EF4-FFF2-40B4-BE49-F238E27FC236}">
                <a16:creationId xmlns:a16="http://schemas.microsoft.com/office/drawing/2014/main" id="{21C39B93-F179-4AD7-B6AC-B6500241BAD9}"/>
              </a:ext>
            </a:extLst>
          </p:cNvPr>
          <p:cNvSpPr/>
          <p:nvPr/>
        </p:nvSpPr>
        <p:spPr>
          <a:xfrm>
            <a:off x="7102020" y="4318800"/>
            <a:ext cx="1371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Buzzer</a:t>
            </a:r>
            <a:endParaRPr lang="en-US" sz="1400" b="0" u="none" strike="noStrike">
              <a:solidFill>
                <a:srgbClr val="000000"/>
              </a:solidFill>
              <a:effectLst/>
              <a:uFillTx/>
              <a:latin typeface="Arial"/>
            </a:endParaRPr>
          </a:p>
        </p:txBody>
      </p:sp>
      <p:sp>
        <p:nvSpPr>
          <p:cNvPr id="35" name="Text 15">
            <a:extLst>
              <a:ext uri="{FF2B5EF4-FFF2-40B4-BE49-F238E27FC236}">
                <a16:creationId xmlns:a16="http://schemas.microsoft.com/office/drawing/2014/main" id="{423F3101-5540-417E-8509-7F3424E0A3FD}"/>
              </a:ext>
            </a:extLst>
          </p:cNvPr>
          <p:cNvSpPr/>
          <p:nvPr/>
        </p:nvSpPr>
        <p:spPr>
          <a:xfrm>
            <a:off x="7102020" y="4702920"/>
            <a:ext cx="137124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GPIO 47</a:t>
            </a:r>
            <a:endParaRPr lang="en-US" sz="1120" b="0" u="none" strike="noStrike">
              <a:solidFill>
                <a:srgbClr val="000000"/>
              </a:solidFill>
              <a:effectLst/>
              <a:uFillTx/>
              <a:latin typeface="Arial"/>
            </a:endParaRPr>
          </a:p>
        </p:txBody>
      </p:sp>
      <p:sp>
        <p:nvSpPr>
          <p:cNvPr id="36" name="Shape 16">
            <a:extLst>
              <a:ext uri="{FF2B5EF4-FFF2-40B4-BE49-F238E27FC236}">
                <a16:creationId xmlns:a16="http://schemas.microsoft.com/office/drawing/2014/main" id="{069CE806-7B80-47FF-B72E-0B7F1F81D1E7}"/>
              </a:ext>
            </a:extLst>
          </p:cNvPr>
          <p:cNvSpPr/>
          <p:nvPr/>
        </p:nvSpPr>
        <p:spPr>
          <a:xfrm>
            <a:off x="8912460" y="4172640"/>
            <a:ext cx="1737000" cy="959760"/>
          </a:xfrm>
          <a:prstGeom prst="roundRect">
            <a:avLst>
              <a:gd name="adj" fmla="val 5714"/>
            </a:avLst>
          </a:prstGeom>
          <a:solidFill>
            <a:srgbClr val="DBEAFE"/>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 name="Shape 17">
            <a:extLst>
              <a:ext uri="{FF2B5EF4-FFF2-40B4-BE49-F238E27FC236}">
                <a16:creationId xmlns:a16="http://schemas.microsoft.com/office/drawing/2014/main" id="{C50B32FF-10C8-474C-93AB-D1DABFC94FEE}"/>
              </a:ext>
            </a:extLst>
          </p:cNvPr>
          <p:cNvSpPr/>
          <p:nvPr/>
        </p:nvSpPr>
        <p:spPr>
          <a:xfrm>
            <a:off x="8912460" y="4172640"/>
            <a:ext cx="54360" cy="95976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8" name="Text 18">
            <a:extLst>
              <a:ext uri="{FF2B5EF4-FFF2-40B4-BE49-F238E27FC236}">
                <a16:creationId xmlns:a16="http://schemas.microsoft.com/office/drawing/2014/main" id="{B77074E3-3C51-47B0-AD96-C66D96D76556}"/>
              </a:ext>
            </a:extLst>
          </p:cNvPr>
          <p:cNvSpPr/>
          <p:nvPr/>
        </p:nvSpPr>
        <p:spPr>
          <a:xfrm>
            <a:off x="9113700" y="4318800"/>
            <a:ext cx="1371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LED</a:t>
            </a:r>
            <a:endParaRPr lang="en-US" sz="1400" b="0" u="none" strike="noStrike">
              <a:solidFill>
                <a:srgbClr val="000000"/>
              </a:solidFill>
              <a:effectLst/>
              <a:uFillTx/>
              <a:latin typeface="Arial"/>
            </a:endParaRPr>
          </a:p>
        </p:txBody>
      </p:sp>
      <p:sp>
        <p:nvSpPr>
          <p:cNvPr id="39" name="Text 19">
            <a:extLst>
              <a:ext uri="{FF2B5EF4-FFF2-40B4-BE49-F238E27FC236}">
                <a16:creationId xmlns:a16="http://schemas.microsoft.com/office/drawing/2014/main" id="{822EC277-C745-4B4F-ABA0-D8563E33B713}"/>
              </a:ext>
            </a:extLst>
          </p:cNvPr>
          <p:cNvSpPr/>
          <p:nvPr/>
        </p:nvSpPr>
        <p:spPr>
          <a:xfrm>
            <a:off x="9113700" y="4702920"/>
            <a:ext cx="137124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GPIO 48</a:t>
            </a:r>
            <a:endParaRPr lang="en-US" sz="1120" b="0" u="none" strike="noStrike">
              <a:solidFill>
                <a:srgbClr val="000000"/>
              </a:solidFill>
              <a:effectLst/>
              <a:uFillTx/>
              <a:latin typeface="Arial"/>
            </a:endParaRPr>
          </a:p>
        </p:txBody>
      </p:sp>
      <p:sp>
        <p:nvSpPr>
          <p:cNvPr id="40" name="Text 20">
            <a:extLst>
              <a:ext uri="{FF2B5EF4-FFF2-40B4-BE49-F238E27FC236}">
                <a16:creationId xmlns:a16="http://schemas.microsoft.com/office/drawing/2014/main" id="{13951020-0F4B-4CF8-9480-22BB17D49370}"/>
              </a:ext>
            </a:extLst>
          </p:cNvPr>
          <p:cNvSpPr/>
          <p:nvPr/>
        </p:nvSpPr>
        <p:spPr>
          <a:xfrm>
            <a:off x="6809340" y="5425440"/>
            <a:ext cx="39315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i="1" u="none" strike="noStrike">
                <a:solidFill>
                  <a:srgbClr val="64748B"/>
                </a:solidFill>
                <a:effectLst/>
                <a:uFillTx/>
                <a:latin typeface="Aptos"/>
              </a:rPr>
              <a:t>Chân camera được định nghĩa riêng trong hardware_pins.h</a:t>
            </a:r>
            <a:endParaRPr lang="en-US" sz="1050" b="0" u="none" strike="noStrike">
              <a:solidFill>
                <a:srgbClr val="000000"/>
              </a:solidFill>
              <a:effectLst/>
              <a:uFillTx/>
              <a:latin typeface="Arial"/>
            </a:endParaRPr>
          </a:p>
        </p:txBody>
      </p:sp>
    </p:spTree>
    <p:extLst>
      <p:ext uri="{BB962C8B-B14F-4D97-AF65-F5344CB8AC3E}">
        <p14:creationId xmlns:p14="http://schemas.microsoft.com/office/powerpoint/2010/main" val="26977272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20" name="Text 0">
            <a:extLst>
              <a:ext uri="{FF2B5EF4-FFF2-40B4-BE49-F238E27FC236}">
                <a16:creationId xmlns:a16="http://schemas.microsoft.com/office/drawing/2014/main" id="{27663A25-16C0-4793-9C84-CAAAE047023D}"/>
              </a:ext>
            </a:extLst>
          </p:cNvPr>
          <p:cNvSpPr/>
          <p:nvPr/>
        </p:nvSpPr>
        <p:spPr>
          <a:xfrm>
            <a:off x="457200" y="198120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a:solidFill>
                  <a:srgbClr val="0F172A"/>
                </a:solidFill>
                <a:latin typeface="Aptos"/>
              </a:rPr>
              <a:t>2</a:t>
            </a:r>
            <a:r>
              <a:rPr lang="en-US" sz="2600" b="1" u="none" strike="noStrike">
                <a:solidFill>
                  <a:srgbClr val="0F172A"/>
                </a:solidFill>
                <a:effectLst/>
                <a:uFillTx/>
                <a:latin typeface="Aptos"/>
              </a:rPr>
              <a:t>. Cấu hình &amp; điều kiện trước khi nạp</a:t>
            </a:r>
            <a:endParaRPr lang="en-US" sz="2600" b="0" u="none" strike="noStrike">
              <a:solidFill>
                <a:srgbClr val="000000"/>
              </a:solidFill>
              <a:effectLst/>
              <a:uFillTx/>
              <a:latin typeface="Arial"/>
            </a:endParaRPr>
          </a:p>
        </p:txBody>
      </p:sp>
      <p:sp>
        <p:nvSpPr>
          <p:cNvPr id="21" name="Text 1">
            <a:extLst>
              <a:ext uri="{FF2B5EF4-FFF2-40B4-BE49-F238E27FC236}">
                <a16:creationId xmlns:a16="http://schemas.microsoft.com/office/drawing/2014/main" id="{7AB3A314-73D8-4029-A486-7A3E540E0206}"/>
              </a:ext>
            </a:extLst>
          </p:cNvPr>
          <p:cNvSpPr/>
          <p:nvPr/>
        </p:nvSpPr>
        <p:spPr>
          <a:xfrm>
            <a:off x="475560" y="2529840"/>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Các điều kiện bắt buộc để firmware khởi động và cấp thức ăn an toàn.</a:t>
            </a:r>
            <a:endParaRPr lang="en-US" sz="1150" b="0" u="none" strike="noStrike">
              <a:solidFill>
                <a:srgbClr val="000000"/>
              </a:solidFill>
              <a:effectLst/>
              <a:uFillTx/>
              <a:latin typeface="Arial"/>
            </a:endParaRPr>
          </a:p>
        </p:txBody>
      </p:sp>
      <p:sp>
        <p:nvSpPr>
          <p:cNvPr id="22" name="Shape 2">
            <a:extLst>
              <a:ext uri="{FF2B5EF4-FFF2-40B4-BE49-F238E27FC236}">
                <a16:creationId xmlns:a16="http://schemas.microsoft.com/office/drawing/2014/main" id="{C5761E34-D871-4D61-B54E-63A5DD04B33D}"/>
              </a:ext>
            </a:extLst>
          </p:cNvPr>
          <p:cNvSpPr/>
          <p:nvPr/>
        </p:nvSpPr>
        <p:spPr>
          <a:xfrm>
            <a:off x="594360" y="3014400"/>
            <a:ext cx="3337200" cy="1874160"/>
          </a:xfrm>
          <a:prstGeom prst="roundRect">
            <a:avLst>
              <a:gd name="adj" fmla="val 2927"/>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 name="Shape 3">
            <a:extLst>
              <a:ext uri="{FF2B5EF4-FFF2-40B4-BE49-F238E27FC236}">
                <a16:creationId xmlns:a16="http://schemas.microsoft.com/office/drawing/2014/main" id="{6AA5C85E-12C7-45BB-B94E-7AC3F4253E33}"/>
              </a:ext>
            </a:extLst>
          </p:cNvPr>
          <p:cNvSpPr/>
          <p:nvPr/>
        </p:nvSpPr>
        <p:spPr>
          <a:xfrm>
            <a:off x="594360" y="3014400"/>
            <a:ext cx="54360" cy="187416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4" name="Text 4">
            <a:extLst>
              <a:ext uri="{FF2B5EF4-FFF2-40B4-BE49-F238E27FC236}">
                <a16:creationId xmlns:a16="http://schemas.microsoft.com/office/drawing/2014/main" id="{9D625D8A-13DB-4190-B9FB-771DCF58A00B}"/>
              </a:ext>
            </a:extLst>
          </p:cNvPr>
          <p:cNvSpPr/>
          <p:nvPr/>
        </p:nvSpPr>
        <p:spPr>
          <a:xfrm>
            <a:off x="795600" y="3160560"/>
            <a:ext cx="29714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Arduino IDE</a:t>
            </a:r>
            <a:endParaRPr lang="en-US" sz="1400" b="0" u="none" strike="noStrike">
              <a:solidFill>
                <a:srgbClr val="000000"/>
              </a:solidFill>
              <a:effectLst/>
              <a:uFillTx/>
              <a:latin typeface="Arial"/>
            </a:endParaRPr>
          </a:p>
        </p:txBody>
      </p:sp>
      <p:sp>
        <p:nvSpPr>
          <p:cNvPr id="25" name="Text 5">
            <a:extLst>
              <a:ext uri="{FF2B5EF4-FFF2-40B4-BE49-F238E27FC236}">
                <a16:creationId xmlns:a16="http://schemas.microsoft.com/office/drawing/2014/main" id="{380778AD-6128-4BBE-85B2-13592B0C3C3B}"/>
              </a:ext>
            </a:extLst>
          </p:cNvPr>
          <p:cNvSpPr/>
          <p:nvPr/>
        </p:nvSpPr>
        <p:spPr>
          <a:xfrm>
            <a:off x="795600" y="3544680"/>
            <a:ext cx="2971440" cy="1215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Board: ESP32S3 Dev Module</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PSRAM: OPI PSRAM</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Serial Monitor: 115200 baud</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Flash/Partition: dùng cấu hình camera đã test thành công</a:t>
            </a:r>
            <a:endParaRPr lang="en-US" sz="1120" b="0" u="none" strike="noStrike">
              <a:solidFill>
                <a:srgbClr val="000000"/>
              </a:solidFill>
              <a:effectLst/>
              <a:uFillTx/>
              <a:latin typeface="Arial"/>
            </a:endParaRPr>
          </a:p>
        </p:txBody>
      </p:sp>
      <p:sp>
        <p:nvSpPr>
          <p:cNvPr id="26" name="Shape 6">
            <a:extLst>
              <a:ext uri="{FF2B5EF4-FFF2-40B4-BE49-F238E27FC236}">
                <a16:creationId xmlns:a16="http://schemas.microsoft.com/office/drawing/2014/main" id="{340C0CBD-5C9A-456F-9128-C169CB3399CD}"/>
              </a:ext>
            </a:extLst>
          </p:cNvPr>
          <p:cNvSpPr/>
          <p:nvPr/>
        </p:nvSpPr>
        <p:spPr>
          <a:xfrm>
            <a:off x="4251960" y="3014400"/>
            <a:ext cx="3337200" cy="1874160"/>
          </a:xfrm>
          <a:prstGeom prst="roundRect">
            <a:avLst>
              <a:gd name="adj" fmla="val 2927"/>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 name="Shape 7">
            <a:extLst>
              <a:ext uri="{FF2B5EF4-FFF2-40B4-BE49-F238E27FC236}">
                <a16:creationId xmlns:a16="http://schemas.microsoft.com/office/drawing/2014/main" id="{353F9DD7-B991-44F1-9F9E-CBCB51636F05}"/>
              </a:ext>
            </a:extLst>
          </p:cNvPr>
          <p:cNvSpPr/>
          <p:nvPr/>
        </p:nvSpPr>
        <p:spPr>
          <a:xfrm>
            <a:off x="4251960" y="3014400"/>
            <a:ext cx="54360" cy="187416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8" name="Text 8">
            <a:extLst>
              <a:ext uri="{FF2B5EF4-FFF2-40B4-BE49-F238E27FC236}">
                <a16:creationId xmlns:a16="http://schemas.microsoft.com/office/drawing/2014/main" id="{5C06ACC2-B956-475C-98DC-DE2DDE386212}"/>
              </a:ext>
            </a:extLst>
          </p:cNvPr>
          <p:cNvSpPr/>
          <p:nvPr/>
        </p:nvSpPr>
        <p:spPr>
          <a:xfrm>
            <a:off x="4453200" y="3160560"/>
            <a:ext cx="29714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secrets.h</a:t>
            </a:r>
            <a:endParaRPr lang="en-US" sz="1400" b="0" u="none" strike="noStrike">
              <a:solidFill>
                <a:srgbClr val="000000"/>
              </a:solidFill>
              <a:effectLst/>
              <a:uFillTx/>
              <a:latin typeface="Arial"/>
            </a:endParaRPr>
          </a:p>
        </p:txBody>
      </p:sp>
      <p:sp>
        <p:nvSpPr>
          <p:cNvPr id="29" name="Text 9">
            <a:extLst>
              <a:ext uri="{FF2B5EF4-FFF2-40B4-BE49-F238E27FC236}">
                <a16:creationId xmlns:a16="http://schemas.microsoft.com/office/drawing/2014/main" id="{E903BF72-F243-4EC6-A29E-86D62EA40D53}"/>
              </a:ext>
            </a:extLst>
          </p:cNvPr>
          <p:cNvSpPr/>
          <p:nvPr/>
        </p:nvSpPr>
        <p:spPr>
          <a:xfrm>
            <a:off x="4453200" y="3544680"/>
            <a:ext cx="2971440" cy="1215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WIFI_SSID / WIFI_PASSWORD</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FIREBASE_API_KEY</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FIREBASE_DATABASE_URL</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FIREBASE_USER_EMAIL / PASSWORD</a:t>
            </a:r>
            <a:endParaRPr lang="en-US" sz="1120" b="0" u="none" strike="noStrike">
              <a:solidFill>
                <a:srgbClr val="000000"/>
              </a:solidFill>
              <a:effectLst/>
              <a:uFillTx/>
              <a:latin typeface="Arial"/>
            </a:endParaRPr>
          </a:p>
        </p:txBody>
      </p:sp>
      <p:sp>
        <p:nvSpPr>
          <p:cNvPr id="30" name="Shape 10">
            <a:extLst>
              <a:ext uri="{FF2B5EF4-FFF2-40B4-BE49-F238E27FC236}">
                <a16:creationId xmlns:a16="http://schemas.microsoft.com/office/drawing/2014/main" id="{BB6FF93B-94C6-414F-BD16-F394C432BA33}"/>
              </a:ext>
            </a:extLst>
          </p:cNvPr>
          <p:cNvSpPr/>
          <p:nvPr/>
        </p:nvSpPr>
        <p:spPr>
          <a:xfrm>
            <a:off x="7909560" y="3014400"/>
            <a:ext cx="3337200" cy="1874160"/>
          </a:xfrm>
          <a:prstGeom prst="roundRect">
            <a:avLst>
              <a:gd name="adj" fmla="val 2927"/>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 name="Shape 11">
            <a:extLst>
              <a:ext uri="{FF2B5EF4-FFF2-40B4-BE49-F238E27FC236}">
                <a16:creationId xmlns:a16="http://schemas.microsoft.com/office/drawing/2014/main" id="{EE9915CC-A2AE-4F0E-B04C-4D8586A9D5AF}"/>
              </a:ext>
            </a:extLst>
          </p:cNvPr>
          <p:cNvSpPr/>
          <p:nvPr/>
        </p:nvSpPr>
        <p:spPr>
          <a:xfrm>
            <a:off x="7909560" y="3014400"/>
            <a:ext cx="54360" cy="1874160"/>
          </a:xfrm>
          <a:prstGeom prst="rect">
            <a:avLst/>
          </a:prstGeom>
          <a:solidFill>
            <a:srgbClr val="DC2626"/>
          </a:solidFill>
          <a:ln w="12700">
            <a:solidFill>
              <a:srgbClr val="DC262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 name="Text 12">
            <a:extLst>
              <a:ext uri="{FF2B5EF4-FFF2-40B4-BE49-F238E27FC236}">
                <a16:creationId xmlns:a16="http://schemas.microsoft.com/office/drawing/2014/main" id="{9B2668F6-DC16-4623-AF0B-C419F0523AA7}"/>
              </a:ext>
            </a:extLst>
          </p:cNvPr>
          <p:cNvSpPr/>
          <p:nvPr/>
        </p:nvSpPr>
        <p:spPr>
          <a:xfrm>
            <a:off x="8110800" y="3160560"/>
            <a:ext cx="29714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Firebase Auth</a:t>
            </a:r>
            <a:endParaRPr lang="en-US" sz="1400" b="0" u="none" strike="noStrike">
              <a:solidFill>
                <a:srgbClr val="000000"/>
              </a:solidFill>
              <a:effectLst/>
              <a:uFillTx/>
              <a:latin typeface="Arial"/>
            </a:endParaRPr>
          </a:p>
        </p:txBody>
      </p:sp>
      <p:sp>
        <p:nvSpPr>
          <p:cNvPr id="33" name="Text 13">
            <a:extLst>
              <a:ext uri="{FF2B5EF4-FFF2-40B4-BE49-F238E27FC236}">
                <a16:creationId xmlns:a16="http://schemas.microsoft.com/office/drawing/2014/main" id="{F79EA07C-EAD1-4AA6-93EB-5AB6E05DA779}"/>
              </a:ext>
            </a:extLst>
          </p:cNvPr>
          <p:cNvSpPr/>
          <p:nvPr/>
        </p:nvSpPr>
        <p:spPr>
          <a:xfrm>
            <a:off x="8110800" y="3544680"/>
            <a:ext cx="2971440" cy="1215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Sử dụng tài khoản Email/Password có quyền theo RTDB rules.</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Không đưa credential thật lên repository.</a:t>
            </a:r>
            <a:endParaRPr lang="en-US" sz="1120" b="0" u="none" strike="noStrike">
              <a:solidFill>
                <a:srgbClr val="000000"/>
              </a:solidFill>
              <a:effectLst/>
              <a:uFillTx/>
              <a:latin typeface="Arial"/>
            </a:endParaRPr>
          </a:p>
        </p:txBody>
      </p:sp>
    </p:spTree>
    <p:extLst>
      <p:ext uri="{BB962C8B-B14F-4D97-AF65-F5344CB8AC3E}">
        <p14:creationId xmlns:p14="http://schemas.microsoft.com/office/powerpoint/2010/main" val="1362264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17" name="Text 0">
            <a:extLst>
              <a:ext uri="{FF2B5EF4-FFF2-40B4-BE49-F238E27FC236}">
                <a16:creationId xmlns:a16="http://schemas.microsoft.com/office/drawing/2014/main" id="{FC05567B-610E-4B16-8F71-DEACABE5A2EC}"/>
              </a:ext>
            </a:extLst>
          </p:cNvPr>
          <p:cNvSpPr/>
          <p:nvPr/>
        </p:nvSpPr>
        <p:spPr>
          <a:xfrm>
            <a:off x="586740" y="132900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a:solidFill>
                  <a:srgbClr val="0F172A"/>
                </a:solidFill>
                <a:latin typeface="Aptos"/>
              </a:rPr>
              <a:t>3</a:t>
            </a:r>
            <a:r>
              <a:rPr lang="en-US" sz="2600" b="1" u="none" strike="noStrike">
                <a:solidFill>
                  <a:srgbClr val="0F172A"/>
                </a:solidFill>
                <a:effectLst/>
                <a:uFillTx/>
                <a:latin typeface="Aptos"/>
              </a:rPr>
              <a:t>. Firebase V1 Contract</a:t>
            </a:r>
            <a:endParaRPr lang="en-US" sz="2600" b="0" u="none" strike="noStrike">
              <a:solidFill>
                <a:srgbClr val="000000"/>
              </a:solidFill>
              <a:effectLst/>
              <a:uFillTx/>
              <a:latin typeface="Arial"/>
            </a:endParaRPr>
          </a:p>
        </p:txBody>
      </p:sp>
      <p:sp>
        <p:nvSpPr>
          <p:cNvPr id="18" name="Text 1">
            <a:extLst>
              <a:ext uri="{FF2B5EF4-FFF2-40B4-BE49-F238E27FC236}">
                <a16:creationId xmlns:a16="http://schemas.microsoft.com/office/drawing/2014/main" id="{496935FE-80BB-4B7C-8F81-DA499CE012D1}"/>
              </a:ext>
            </a:extLst>
          </p:cNvPr>
          <p:cNvSpPr/>
          <p:nvPr/>
        </p:nvSpPr>
        <p:spPr>
          <a:xfrm>
            <a:off x="605100" y="1877640"/>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Device root: /devices/feeder-01</a:t>
            </a:r>
            <a:endParaRPr lang="en-US" sz="1150" b="0" u="none" strike="noStrike">
              <a:solidFill>
                <a:srgbClr val="000000"/>
              </a:solidFill>
              <a:effectLst/>
              <a:uFillTx/>
              <a:latin typeface="Arial"/>
            </a:endParaRPr>
          </a:p>
        </p:txBody>
      </p:sp>
      <p:graphicFrame>
        <p:nvGraphicFramePr>
          <p:cNvPr id="19" name="Table 0">
            <a:extLst>
              <a:ext uri="{FF2B5EF4-FFF2-40B4-BE49-F238E27FC236}">
                <a16:creationId xmlns:a16="http://schemas.microsoft.com/office/drawing/2014/main" id="{33C86815-9F40-48C5-9C2C-B31A70A8AB0B}"/>
              </a:ext>
            </a:extLst>
          </p:cNvPr>
          <p:cNvGraphicFramePr/>
          <p:nvPr>
            <p:extLst>
              <p:ext uri="{D42A27DB-BD31-4B8C-83A1-F6EECF244321}">
                <p14:modId xmlns:p14="http://schemas.microsoft.com/office/powerpoint/2010/main" val="1506974474"/>
              </p:ext>
            </p:extLst>
          </p:nvPr>
        </p:nvGraphicFramePr>
        <p:xfrm>
          <a:off x="678180" y="2362200"/>
          <a:ext cx="10835640" cy="3520440"/>
        </p:xfrm>
        <a:graphic>
          <a:graphicData uri="http://schemas.openxmlformats.org/drawingml/2006/table">
            <a:tbl>
              <a:tblPr/>
              <a:tblGrid>
                <a:gridCol w="219456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502920">
                <a:tc>
                  <a:txBody>
                    <a:bodyPr/>
                    <a:lstStyle/>
                    <a:p>
                      <a:pPr defTabSz="914400">
                        <a:lnSpc>
                          <a:spcPct val="100000"/>
                        </a:lnSpc>
                        <a:tabLst>
                          <a:tab pos="0" algn="l"/>
                        </a:tabLst>
                      </a:pPr>
                      <a:r>
                        <a:rPr lang="en-US" sz="1250" b="0" u="none" strike="noStrike">
                          <a:solidFill>
                            <a:srgbClr val="334155"/>
                          </a:solidFill>
                          <a:effectLst/>
                          <a:uFillTx/>
                          <a:latin typeface="Aptos"/>
                        </a:rPr>
                        <a:t>Luồng</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Path</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Mục đích</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0"/>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APP → Firmware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/command</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Gửi lệnh feed_now</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1"/>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Firebase → Firmware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/config/speciesProfiles/dog</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Cấu hình khẩu phần DOG</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2"/>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Firebase → Firmware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/config/speciesProfiles/cat</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Cấu hình khẩu phần CAT</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3"/>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Firmware → Firebase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/status</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Trạng thái thiết bị/lệnh</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4"/>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Firmware → Firebase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/runtime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Thông tin runtime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5"/>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Firmware → Firebase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/feedingHistory</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Lịch sử cấp thức ăn</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903321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6" name="Text 0">
            <a:extLst>
              <a:ext uri="{FF2B5EF4-FFF2-40B4-BE49-F238E27FC236}">
                <a16:creationId xmlns:a16="http://schemas.microsoft.com/office/drawing/2014/main" id="{D329268E-789D-443E-A024-FE5F872D03BD}"/>
              </a:ext>
            </a:extLst>
          </p:cNvPr>
          <p:cNvSpPr/>
          <p:nvPr/>
        </p:nvSpPr>
        <p:spPr>
          <a:xfrm>
            <a:off x="777240" y="1311942"/>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a:solidFill>
                  <a:srgbClr val="0F172A"/>
                </a:solidFill>
                <a:latin typeface="Aptos"/>
              </a:rPr>
              <a:t>4</a:t>
            </a:r>
            <a:r>
              <a:rPr lang="en-US" sz="2600" b="1" u="none" strike="noStrike">
                <a:solidFill>
                  <a:srgbClr val="0F172A"/>
                </a:solidFill>
                <a:effectLst/>
                <a:uFillTx/>
                <a:latin typeface="Aptos"/>
              </a:rPr>
              <a:t>. Lệnh Feed Now &amp; chiến lược khẩu phần</a:t>
            </a:r>
            <a:endParaRPr lang="en-US" sz="2600" b="0" u="none" strike="noStrike">
              <a:solidFill>
                <a:srgbClr val="000000"/>
              </a:solidFill>
              <a:effectLst/>
              <a:uFillTx/>
              <a:latin typeface="Arial"/>
            </a:endParaRPr>
          </a:p>
        </p:txBody>
      </p:sp>
      <p:sp>
        <p:nvSpPr>
          <p:cNvPr id="7" name="Text 1">
            <a:extLst>
              <a:ext uri="{FF2B5EF4-FFF2-40B4-BE49-F238E27FC236}">
                <a16:creationId xmlns:a16="http://schemas.microsoft.com/office/drawing/2014/main" id="{32DDF8D2-D518-4FD5-ADA3-3549A81579A8}"/>
              </a:ext>
            </a:extLst>
          </p:cNvPr>
          <p:cNvSpPr/>
          <p:nvPr/>
        </p:nvSpPr>
        <p:spPr>
          <a:xfrm>
            <a:off x="795600" y="1860582"/>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Firmware ưu tiên targetGrams trong command; nếu không hợp lệ sẽ dùng cấu hình fallback.</a:t>
            </a:r>
            <a:endParaRPr lang="en-US" sz="1150" b="0" u="none" strike="noStrike">
              <a:solidFill>
                <a:srgbClr val="000000"/>
              </a:solidFill>
              <a:effectLst/>
              <a:uFillTx/>
              <a:latin typeface="Arial"/>
            </a:endParaRPr>
          </a:p>
        </p:txBody>
      </p:sp>
      <p:sp>
        <p:nvSpPr>
          <p:cNvPr id="8" name="Shape 2">
            <a:extLst>
              <a:ext uri="{FF2B5EF4-FFF2-40B4-BE49-F238E27FC236}">
                <a16:creationId xmlns:a16="http://schemas.microsoft.com/office/drawing/2014/main" id="{370503DC-AC37-4E67-9D00-835153CB64C5}"/>
              </a:ext>
            </a:extLst>
          </p:cNvPr>
          <p:cNvSpPr/>
          <p:nvPr/>
        </p:nvSpPr>
        <p:spPr>
          <a:xfrm>
            <a:off x="914400" y="2345142"/>
            <a:ext cx="5120280" cy="3337200"/>
          </a:xfrm>
          <a:prstGeom prst="roundRect">
            <a:avLst>
              <a:gd name="adj" fmla="val 2192"/>
            </a:avLst>
          </a:prstGeom>
          <a:solidFill>
            <a:srgbClr val="0F172A"/>
          </a:solidFill>
          <a:ln w="12700">
            <a:solidFill>
              <a:srgbClr val="33415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 name="Text 3">
            <a:extLst>
              <a:ext uri="{FF2B5EF4-FFF2-40B4-BE49-F238E27FC236}">
                <a16:creationId xmlns:a16="http://schemas.microsoft.com/office/drawing/2014/main" id="{0416DE33-8EB3-44F7-9A41-8256A4596364}"/>
              </a:ext>
            </a:extLst>
          </p:cNvPr>
          <p:cNvSpPr/>
          <p:nvPr/>
        </p:nvSpPr>
        <p:spPr>
          <a:xfrm>
            <a:off x="1207080" y="2646822"/>
            <a:ext cx="4571640" cy="2697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E2E8F0"/>
                </a:solidFill>
                <a:effectLst/>
                <a:uFillTx/>
                <a:latin typeface="Courier New"/>
                <a:ea typeface="Courier New"/>
              </a:rPr>
              <a:t>{</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"requestId": "req-001",</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"type": "feed_now",</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"speciesId": "dog",</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"targetGrams": 80,</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"status": "pending",</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"requestedAtEpoch": 1788890000</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a:t>
            </a:r>
            <a:endParaRPr lang="en-US" sz="1400" b="0" u="none" strike="noStrike">
              <a:solidFill>
                <a:srgbClr val="000000"/>
              </a:solidFill>
              <a:effectLst/>
              <a:uFillTx/>
              <a:latin typeface="Arial"/>
            </a:endParaRPr>
          </a:p>
        </p:txBody>
      </p:sp>
      <p:sp>
        <p:nvSpPr>
          <p:cNvPr id="10" name="Text 4">
            <a:extLst>
              <a:ext uri="{FF2B5EF4-FFF2-40B4-BE49-F238E27FC236}">
                <a16:creationId xmlns:a16="http://schemas.microsoft.com/office/drawing/2014/main" id="{0A34DBC5-C1CD-4898-81BA-ABA0CCF60055}"/>
              </a:ext>
            </a:extLst>
          </p:cNvPr>
          <p:cNvSpPr/>
          <p:nvPr/>
        </p:nvSpPr>
        <p:spPr>
          <a:xfrm>
            <a:off x="6675120" y="2482302"/>
            <a:ext cx="411444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F172A"/>
                </a:solidFill>
                <a:effectLst/>
                <a:uFillTx/>
                <a:latin typeface="Aptos"/>
              </a:rPr>
              <a:t>Quy tắc targetGrams</a:t>
            </a:r>
            <a:endParaRPr lang="en-US" sz="1800" b="0" u="none" strike="noStrike">
              <a:solidFill>
                <a:srgbClr val="000000"/>
              </a:solidFill>
              <a:effectLst/>
              <a:uFillTx/>
              <a:latin typeface="Arial"/>
            </a:endParaRPr>
          </a:p>
        </p:txBody>
      </p:sp>
      <p:sp>
        <p:nvSpPr>
          <p:cNvPr id="11" name="Shape 5">
            <a:extLst>
              <a:ext uri="{FF2B5EF4-FFF2-40B4-BE49-F238E27FC236}">
                <a16:creationId xmlns:a16="http://schemas.microsoft.com/office/drawing/2014/main" id="{53624D62-1091-41CB-A24B-A78C2CED95D6}"/>
              </a:ext>
            </a:extLst>
          </p:cNvPr>
          <p:cNvSpPr/>
          <p:nvPr/>
        </p:nvSpPr>
        <p:spPr>
          <a:xfrm>
            <a:off x="6629400" y="3030942"/>
            <a:ext cx="4297320" cy="959760"/>
          </a:xfrm>
          <a:prstGeom prst="roundRect">
            <a:avLst>
              <a:gd name="adj" fmla="val 5714"/>
            </a:avLst>
          </a:prstGeom>
          <a:solidFill>
            <a:srgbClr val="DCFCE7"/>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 name="Shape 6">
            <a:extLst>
              <a:ext uri="{FF2B5EF4-FFF2-40B4-BE49-F238E27FC236}">
                <a16:creationId xmlns:a16="http://schemas.microsoft.com/office/drawing/2014/main" id="{192D96BD-F560-4519-9C00-5E39987BA988}"/>
              </a:ext>
            </a:extLst>
          </p:cNvPr>
          <p:cNvSpPr/>
          <p:nvPr/>
        </p:nvSpPr>
        <p:spPr>
          <a:xfrm>
            <a:off x="6629400" y="3030942"/>
            <a:ext cx="54360" cy="959760"/>
          </a:xfrm>
          <a:prstGeom prst="rect">
            <a:avLst/>
          </a:prstGeom>
          <a:solidFill>
            <a:srgbClr val="16A34A"/>
          </a:solidFill>
          <a:ln w="1270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 name="Text 7">
            <a:extLst>
              <a:ext uri="{FF2B5EF4-FFF2-40B4-BE49-F238E27FC236}">
                <a16:creationId xmlns:a16="http://schemas.microsoft.com/office/drawing/2014/main" id="{D2E3E0F7-5B05-4F79-85D3-D08A75EC8E92}"/>
              </a:ext>
            </a:extLst>
          </p:cNvPr>
          <p:cNvSpPr/>
          <p:nvPr/>
        </p:nvSpPr>
        <p:spPr>
          <a:xfrm>
            <a:off x="6830640" y="3177102"/>
            <a:ext cx="39315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targetGrams &gt; 0</a:t>
            </a:r>
            <a:endParaRPr lang="en-US" sz="1400" b="0" u="none" strike="noStrike">
              <a:solidFill>
                <a:srgbClr val="000000"/>
              </a:solidFill>
              <a:effectLst/>
              <a:uFillTx/>
              <a:latin typeface="Arial"/>
            </a:endParaRPr>
          </a:p>
        </p:txBody>
      </p:sp>
      <p:sp>
        <p:nvSpPr>
          <p:cNvPr id="14" name="Text 8">
            <a:extLst>
              <a:ext uri="{FF2B5EF4-FFF2-40B4-BE49-F238E27FC236}">
                <a16:creationId xmlns:a16="http://schemas.microsoft.com/office/drawing/2014/main" id="{25CC846B-8BCF-4871-9757-6A624FDA615C}"/>
              </a:ext>
            </a:extLst>
          </p:cNvPr>
          <p:cNvSpPr/>
          <p:nvPr/>
        </p:nvSpPr>
        <p:spPr>
          <a:xfrm>
            <a:off x="6830640" y="3561222"/>
            <a:ext cx="393156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Dùng trực tiếp giá trị trong command.</a:t>
            </a:r>
            <a:endParaRPr lang="en-US" sz="1120" b="0" u="none" strike="noStrike">
              <a:solidFill>
                <a:srgbClr val="000000"/>
              </a:solidFill>
              <a:effectLst/>
              <a:uFillTx/>
              <a:latin typeface="Arial"/>
            </a:endParaRPr>
          </a:p>
        </p:txBody>
      </p:sp>
      <p:sp>
        <p:nvSpPr>
          <p:cNvPr id="15" name="Shape 9">
            <a:extLst>
              <a:ext uri="{FF2B5EF4-FFF2-40B4-BE49-F238E27FC236}">
                <a16:creationId xmlns:a16="http://schemas.microsoft.com/office/drawing/2014/main" id="{D277F1E1-B780-410D-81F9-25063DF709F1}"/>
              </a:ext>
            </a:extLst>
          </p:cNvPr>
          <p:cNvSpPr/>
          <p:nvPr/>
        </p:nvSpPr>
        <p:spPr>
          <a:xfrm>
            <a:off x="6629400" y="4219662"/>
            <a:ext cx="4297320" cy="959760"/>
          </a:xfrm>
          <a:prstGeom prst="roundRect">
            <a:avLst>
              <a:gd name="adj" fmla="val 5714"/>
            </a:avLst>
          </a:prstGeom>
          <a:solidFill>
            <a:srgbClr val="DBEAFE"/>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 name="Shape 10">
            <a:extLst>
              <a:ext uri="{FF2B5EF4-FFF2-40B4-BE49-F238E27FC236}">
                <a16:creationId xmlns:a16="http://schemas.microsoft.com/office/drawing/2014/main" id="{7B152308-CFDC-4A2C-8CDA-7AAFA345C79C}"/>
              </a:ext>
            </a:extLst>
          </p:cNvPr>
          <p:cNvSpPr/>
          <p:nvPr/>
        </p:nvSpPr>
        <p:spPr>
          <a:xfrm>
            <a:off x="6629400" y="4219662"/>
            <a:ext cx="54360" cy="95976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 name="Text 11">
            <a:extLst>
              <a:ext uri="{FF2B5EF4-FFF2-40B4-BE49-F238E27FC236}">
                <a16:creationId xmlns:a16="http://schemas.microsoft.com/office/drawing/2014/main" id="{DA21903E-5E17-4BF4-81FE-671B6ABB94FD}"/>
              </a:ext>
            </a:extLst>
          </p:cNvPr>
          <p:cNvSpPr/>
          <p:nvPr/>
        </p:nvSpPr>
        <p:spPr>
          <a:xfrm>
            <a:off x="6830640" y="4365822"/>
            <a:ext cx="39315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targetGrams ≤ 0</a:t>
            </a:r>
            <a:endParaRPr lang="en-US" sz="1400" b="0" u="none" strike="noStrike">
              <a:solidFill>
                <a:srgbClr val="000000"/>
              </a:solidFill>
              <a:effectLst/>
              <a:uFillTx/>
              <a:latin typeface="Arial"/>
            </a:endParaRPr>
          </a:p>
        </p:txBody>
      </p:sp>
      <p:sp>
        <p:nvSpPr>
          <p:cNvPr id="21" name="Text 12">
            <a:extLst>
              <a:ext uri="{FF2B5EF4-FFF2-40B4-BE49-F238E27FC236}">
                <a16:creationId xmlns:a16="http://schemas.microsoft.com/office/drawing/2014/main" id="{1D6BCD9A-52B3-45B8-9C66-68C53D0D3AF2}"/>
              </a:ext>
            </a:extLst>
          </p:cNvPr>
          <p:cNvSpPr/>
          <p:nvPr/>
        </p:nvSpPr>
        <p:spPr>
          <a:xfrm>
            <a:off x="6830640" y="4749942"/>
            <a:ext cx="393156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Đọc portionGrams từ Firebase.</a:t>
            </a:r>
            <a:endParaRPr lang="en-US" sz="1120" b="0" u="none" strike="noStrike">
              <a:solidFill>
                <a:srgbClr val="000000"/>
              </a:solidFill>
              <a:effectLst/>
              <a:uFillTx/>
              <a:latin typeface="Arial"/>
            </a:endParaRPr>
          </a:p>
        </p:txBody>
      </p:sp>
      <p:sp>
        <p:nvSpPr>
          <p:cNvPr id="22" name="Shape 13">
            <a:extLst>
              <a:ext uri="{FF2B5EF4-FFF2-40B4-BE49-F238E27FC236}">
                <a16:creationId xmlns:a16="http://schemas.microsoft.com/office/drawing/2014/main" id="{6CA31563-F685-4DEF-BD9B-F2B23D404D5A}"/>
              </a:ext>
            </a:extLst>
          </p:cNvPr>
          <p:cNvSpPr/>
          <p:nvPr/>
        </p:nvSpPr>
        <p:spPr>
          <a:xfrm>
            <a:off x="6629400" y="5408382"/>
            <a:ext cx="4297320" cy="959760"/>
          </a:xfrm>
          <a:prstGeom prst="roundRect">
            <a:avLst>
              <a:gd name="adj" fmla="val 5714"/>
            </a:avLst>
          </a:prstGeom>
          <a:solidFill>
            <a:srgbClr val="FFEDD5"/>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 name="Shape 14">
            <a:extLst>
              <a:ext uri="{FF2B5EF4-FFF2-40B4-BE49-F238E27FC236}">
                <a16:creationId xmlns:a16="http://schemas.microsoft.com/office/drawing/2014/main" id="{167A5AC2-EAFD-442B-89B7-EFBEE2159462}"/>
              </a:ext>
            </a:extLst>
          </p:cNvPr>
          <p:cNvSpPr/>
          <p:nvPr/>
        </p:nvSpPr>
        <p:spPr>
          <a:xfrm>
            <a:off x="6629400" y="5408382"/>
            <a:ext cx="54360" cy="95976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4" name="Text 15">
            <a:extLst>
              <a:ext uri="{FF2B5EF4-FFF2-40B4-BE49-F238E27FC236}">
                <a16:creationId xmlns:a16="http://schemas.microsoft.com/office/drawing/2014/main" id="{5FEEE4A2-E894-4C08-8956-5C372ABB4C49}"/>
              </a:ext>
            </a:extLst>
          </p:cNvPr>
          <p:cNvSpPr/>
          <p:nvPr/>
        </p:nvSpPr>
        <p:spPr>
          <a:xfrm>
            <a:off x="6830640" y="5554542"/>
            <a:ext cx="39315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Không có portion hợp lệ</a:t>
            </a:r>
            <a:endParaRPr lang="en-US" sz="1400" b="0" u="none" strike="noStrike">
              <a:solidFill>
                <a:srgbClr val="000000"/>
              </a:solidFill>
              <a:effectLst/>
              <a:uFillTx/>
              <a:latin typeface="Arial"/>
            </a:endParaRPr>
          </a:p>
        </p:txBody>
      </p:sp>
      <p:sp>
        <p:nvSpPr>
          <p:cNvPr id="25" name="Text 16">
            <a:extLst>
              <a:ext uri="{FF2B5EF4-FFF2-40B4-BE49-F238E27FC236}">
                <a16:creationId xmlns:a16="http://schemas.microsoft.com/office/drawing/2014/main" id="{8BC06F97-57A8-4A38-99D6-DC6D15729C1B}"/>
              </a:ext>
            </a:extLst>
          </p:cNvPr>
          <p:cNvSpPr/>
          <p:nvPr/>
        </p:nvSpPr>
        <p:spPr>
          <a:xfrm>
            <a:off x="6830640" y="5938662"/>
            <a:ext cx="393156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Fallback mặc định: DOG 80 g • CAT 45 g</a:t>
            </a:r>
            <a:endParaRPr lang="en-US" sz="1120" b="0" u="none" strike="noStrike">
              <a:solidFill>
                <a:srgbClr val="000000"/>
              </a:solidFill>
              <a:effectLst/>
              <a:uFillTx/>
              <a:latin typeface="Arial"/>
            </a:endParaRPr>
          </a:p>
        </p:txBody>
      </p:sp>
    </p:spTree>
    <p:extLst>
      <p:ext uri="{BB962C8B-B14F-4D97-AF65-F5344CB8AC3E}">
        <p14:creationId xmlns:p14="http://schemas.microsoft.com/office/powerpoint/2010/main" val="4035799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26" name="Text 0">
            <a:extLst>
              <a:ext uri="{FF2B5EF4-FFF2-40B4-BE49-F238E27FC236}">
                <a16:creationId xmlns:a16="http://schemas.microsoft.com/office/drawing/2014/main" id="{C5FE1E40-2592-4EAE-B192-39FB29C80BD2}"/>
              </a:ext>
            </a:extLst>
          </p:cNvPr>
          <p:cNvSpPr/>
          <p:nvPr/>
        </p:nvSpPr>
        <p:spPr>
          <a:xfrm>
            <a:off x="305160" y="1064308"/>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u="none" strike="noStrike">
                <a:solidFill>
                  <a:srgbClr val="0F172A"/>
                </a:solidFill>
                <a:effectLst/>
                <a:uFillTx/>
                <a:latin typeface="Aptos"/>
              </a:rPr>
              <a:t> Tích hợp AI ở phiên bản tiếp theo</a:t>
            </a:r>
            <a:endParaRPr lang="en-US" sz="2600" b="0" u="none" strike="noStrike">
              <a:solidFill>
                <a:srgbClr val="000000"/>
              </a:solidFill>
              <a:effectLst/>
              <a:uFillTx/>
              <a:latin typeface="Arial"/>
            </a:endParaRPr>
          </a:p>
        </p:txBody>
      </p:sp>
      <p:sp>
        <p:nvSpPr>
          <p:cNvPr id="27" name="Text 1">
            <a:extLst>
              <a:ext uri="{FF2B5EF4-FFF2-40B4-BE49-F238E27FC236}">
                <a16:creationId xmlns:a16="http://schemas.microsoft.com/office/drawing/2014/main" id="{EC37DD4C-6257-4C54-8820-8829FD3E6DE9}"/>
              </a:ext>
            </a:extLst>
          </p:cNvPr>
          <p:cNvSpPr/>
          <p:nvPr/>
        </p:nvSpPr>
        <p:spPr>
          <a:xfrm>
            <a:off x="323520" y="1612948"/>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Điểm mạnh của V1: AI không cần thay đổi logic cấp thức ăn hiện có.</a:t>
            </a:r>
            <a:endParaRPr lang="en-US" sz="1150" b="0" u="none" strike="noStrike">
              <a:solidFill>
                <a:srgbClr val="000000"/>
              </a:solidFill>
              <a:effectLst/>
              <a:uFillTx/>
              <a:latin typeface="Arial"/>
            </a:endParaRPr>
          </a:p>
        </p:txBody>
      </p:sp>
      <p:sp>
        <p:nvSpPr>
          <p:cNvPr id="28" name="Shape 2">
            <a:extLst>
              <a:ext uri="{FF2B5EF4-FFF2-40B4-BE49-F238E27FC236}">
                <a16:creationId xmlns:a16="http://schemas.microsoft.com/office/drawing/2014/main" id="{5B30E450-37C6-4F06-9C60-AE2D8DB0116F}"/>
              </a:ext>
            </a:extLst>
          </p:cNvPr>
          <p:cNvSpPr/>
          <p:nvPr/>
        </p:nvSpPr>
        <p:spPr>
          <a:xfrm>
            <a:off x="533760" y="2188948"/>
            <a:ext cx="2925720" cy="2011320"/>
          </a:xfrm>
          <a:prstGeom prst="roundRect">
            <a:avLst>
              <a:gd name="adj" fmla="val 3636"/>
            </a:avLst>
          </a:prstGeom>
          <a:solidFill>
            <a:srgbClr val="FEF3C7"/>
          </a:solidFill>
          <a:ln w="1905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 name="Text 3">
            <a:extLst>
              <a:ext uri="{FF2B5EF4-FFF2-40B4-BE49-F238E27FC236}">
                <a16:creationId xmlns:a16="http://schemas.microsoft.com/office/drawing/2014/main" id="{A2C34E6A-84D6-4C32-9674-A6539B4E2681}"/>
              </a:ext>
            </a:extLst>
          </p:cNvPr>
          <p:cNvSpPr/>
          <p:nvPr/>
        </p:nvSpPr>
        <p:spPr>
          <a:xfrm>
            <a:off x="1036680" y="2554708"/>
            <a:ext cx="19198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F172A"/>
                </a:solidFill>
                <a:effectLst/>
                <a:uFillTx/>
                <a:latin typeface="Aptos"/>
              </a:rPr>
              <a:t>AI Classifier</a:t>
            </a:r>
            <a:endParaRPr lang="en-US" sz="2000" b="0" u="none" strike="noStrike">
              <a:solidFill>
                <a:srgbClr val="000000"/>
              </a:solidFill>
              <a:effectLst/>
              <a:uFillTx/>
              <a:latin typeface="Arial"/>
            </a:endParaRPr>
          </a:p>
        </p:txBody>
      </p:sp>
      <p:sp>
        <p:nvSpPr>
          <p:cNvPr id="30" name="Text 4">
            <a:extLst>
              <a:ext uri="{FF2B5EF4-FFF2-40B4-BE49-F238E27FC236}">
                <a16:creationId xmlns:a16="http://schemas.microsoft.com/office/drawing/2014/main" id="{447F667B-B94B-416D-AA9D-5AC853159872}"/>
              </a:ext>
            </a:extLst>
          </p:cNvPr>
          <p:cNvSpPr/>
          <p:nvPr/>
        </p:nvSpPr>
        <p:spPr>
          <a:xfrm>
            <a:off x="945240" y="3075988"/>
            <a:ext cx="210276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92400E"/>
                </a:solidFill>
                <a:effectLst/>
                <a:uFillTx/>
                <a:latin typeface="Courier New"/>
                <a:ea typeface="Courier New"/>
              </a:rPr>
              <a:t>speciesId = "dog" / "cat"</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0" u="none" strike="noStrike">
                <a:solidFill>
                  <a:srgbClr val="92400E"/>
                </a:solidFill>
                <a:effectLst/>
                <a:uFillTx/>
                <a:latin typeface="Courier New"/>
                <a:ea typeface="Courier New"/>
              </a:rPr>
              <a:t>confidence = 0.94</a:t>
            </a:r>
            <a:endParaRPr lang="en-US" sz="1300" b="0" u="none" strike="noStrike">
              <a:solidFill>
                <a:srgbClr val="000000"/>
              </a:solidFill>
              <a:effectLst/>
              <a:uFillTx/>
              <a:latin typeface="Arial"/>
            </a:endParaRPr>
          </a:p>
        </p:txBody>
      </p:sp>
      <p:sp>
        <p:nvSpPr>
          <p:cNvPr id="31" name="Shape 5">
            <a:extLst>
              <a:ext uri="{FF2B5EF4-FFF2-40B4-BE49-F238E27FC236}">
                <a16:creationId xmlns:a16="http://schemas.microsoft.com/office/drawing/2014/main" id="{2E779399-A560-43EC-B312-A56E87503F42}"/>
              </a:ext>
            </a:extLst>
          </p:cNvPr>
          <p:cNvSpPr/>
          <p:nvPr/>
        </p:nvSpPr>
        <p:spPr>
          <a:xfrm>
            <a:off x="3505560" y="3194788"/>
            <a:ext cx="914400" cy="360"/>
          </a:xfrm>
          <a:prstGeom prst="line">
            <a:avLst/>
          </a:prstGeom>
          <a:ln w="2540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2" name="Shape 6">
            <a:extLst>
              <a:ext uri="{FF2B5EF4-FFF2-40B4-BE49-F238E27FC236}">
                <a16:creationId xmlns:a16="http://schemas.microsoft.com/office/drawing/2014/main" id="{1B867D23-B83A-455F-8BC7-F8D33F9ED5B5}"/>
              </a:ext>
            </a:extLst>
          </p:cNvPr>
          <p:cNvSpPr/>
          <p:nvPr/>
        </p:nvSpPr>
        <p:spPr>
          <a:xfrm>
            <a:off x="4465680" y="2188948"/>
            <a:ext cx="2925720" cy="2011320"/>
          </a:xfrm>
          <a:prstGeom prst="roundRect">
            <a:avLst>
              <a:gd name="adj" fmla="val 3636"/>
            </a:avLst>
          </a:prstGeom>
          <a:solidFill>
            <a:srgbClr val="DBEAFE"/>
          </a:solidFill>
          <a:ln w="1905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 name="Text 7">
            <a:extLst>
              <a:ext uri="{FF2B5EF4-FFF2-40B4-BE49-F238E27FC236}">
                <a16:creationId xmlns:a16="http://schemas.microsoft.com/office/drawing/2014/main" id="{7F85303C-BAD4-4732-94FF-4BF14D4ACD93}"/>
              </a:ext>
            </a:extLst>
          </p:cNvPr>
          <p:cNvSpPr/>
          <p:nvPr/>
        </p:nvSpPr>
        <p:spPr>
          <a:xfrm>
            <a:off x="4968600" y="2554708"/>
            <a:ext cx="19198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F172A"/>
                </a:solidFill>
                <a:effectLst/>
                <a:uFillTx/>
                <a:latin typeface="Aptos"/>
              </a:rPr>
              <a:t>Feeding API</a:t>
            </a:r>
            <a:endParaRPr lang="en-US" sz="2000" b="0" u="none" strike="noStrike">
              <a:solidFill>
                <a:srgbClr val="000000"/>
              </a:solidFill>
              <a:effectLst/>
              <a:uFillTx/>
              <a:latin typeface="Arial"/>
            </a:endParaRPr>
          </a:p>
        </p:txBody>
      </p:sp>
      <p:sp>
        <p:nvSpPr>
          <p:cNvPr id="34" name="Text 8">
            <a:extLst>
              <a:ext uri="{FF2B5EF4-FFF2-40B4-BE49-F238E27FC236}">
                <a16:creationId xmlns:a16="http://schemas.microsoft.com/office/drawing/2014/main" id="{E751C2CF-B536-4C8C-9D86-C040B781B80D}"/>
              </a:ext>
            </a:extLst>
          </p:cNvPr>
          <p:cNvSpPr/>
          <p:nvPr/>
        </p:nvSpPr>
        <p:spPr>
          <a:xfrm>
            <a:off x="4785720" y="3075988"/>
            <a:ext cx="22856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50" b="0" u="none" strike="noStrike">
                <a:solidFill>
                  <a:srgbClr val="1E40AF"/>
                </a:solidFill>
                <a:effectLst/>
                <a:uFillTx/>
                <a:latin typeface="Courier New"/>
                <a:ea typeface="Courier New"/>
              </a:rPr>
              <a:t>feedSpecies(speciesId, 0,</a:t>
            </a:r>
            <a:endParaRPr lang="en-US" sz="1250" b="0" u="none" strike="noStrike">
              <a:solidFill>
                <a:srgbClr val="000000"/>
              </a:solidFill>
              <a:effectLst/>
              <a:uFillTx/>
              <a:latin typeface="Arial"/>
            </a:endParaRPr>
          </a:p>
          <a:p>
            <a:pPr algn="ctr" defTabSz="914400">
              <a:lnSpc>
                <a:spcPct val="100000"/>
              </a:lnSpc>
              <a:tabLst>
                <a:tab pos="0" algn="l"/>
              </a:tabLst>
            </a:pPr>
            <a:r>
              <a:rPr lang="en-US" sz="1250" b="0" u="none" strike="noStrike">
                <a:solidFill>
                  <a:srgbClr val="1E40AF"/>
                </a:solidFill>
                <a:effectLst/>
                <a:uFillTx/>
                <a:latin typeface="Courier New"/>
                <a:ea typeface="Courier New"/>
              </a:rPr>
              <a:t>requestId, "automatic")</a:t>
            </a:r>
            <a:endParaRPr lang="en-US" sz="1250" b="0" u="none" strike="noStrike">
              <a:solidFill>
                <a:srgbClr val="000000"/>
              </a:solidFill>
              <a:effectLst/>
              <a:uFillTx/>
              <a:latin typeface="Arial"/>
            </a:endParaRPr>
          </a:p>
        </p:txBody>
      </p:sp>
      <p:sp>
        <p:nvSpPr>
          <p:cNvPr id="35" name="Shape 9">
            <a:extLst>
              <a:ext uri="{FF2B5EF4-FFF2-40B4-BE49-F238E27FC236}">
                <a16:creationId xmlns:a16="http://schemas.microsoft.com/office/drawing/2014/main" id="{C95F1AAF-36F3-46C2-9B63-A39C4445E989}"/>
              </a:ext>
            </a:extLst>
          </p:cNvPr>
          <p:cNvSpPr/>
          <p:nvPr/>
        </p:nvSpPr>
        <p:spPr>
          <a:xfrm>
            <a:off x="7437480" y="3194788"/>
            <a:ext cx="914400" cy="360"/>
          </a:xfrm>
          <a:prstGeom prst="line">
            <a:avLst/>
          </a:prstGeom>
          <a:ln w="2540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6" name="Shape 10">
            <a:extLst>
              <a:ext uri="{FF2B5EF4-FFF2-40B4-BE49-F238E27FC236}">
                <a16:creationId xmlns:a16="http://schemas.microsoft.com/office/drawing/2014/main" id="{7220B72E-DC78-4053-A853-EDBEB0FEE7DD}"/>
              </a:ext>
            </a:extLst>
          </p:cNvPr>
          <p:cNvSpPr/>
          <p:nvPr/>
        </p:nvSpPr>
        <p:spPr>
          <a:xfrm>
            <a:off x="8397600" y="2188948"/>
            <a:ext cx="2651400" cy="2011320"/>
          </a:xfrm>
          <a:prstGeom prst="roundRect">
            <a:avLst>
              <a:gd name="adj" fmla="val 3636"/>
            </a:avLst>
          </a:prstGeom>
          <a:solidFill>
            <a:srgbClr val="DCFCE7"/>
          </a:solidFill>
          <a:ln w="1905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 name="Text 11">
            <a:extLst>
              <a:ext uri="{FF2B5EF4-FFF2-40B4-BE49-F238E27FC236}">
                <a16:creationId xmlns:a16="http://schemas.microsoft.com/office/drawing/2014/main" id="{C8AC3F86-F653-49E9-8BF2-0BEDE9375EBB}"/>
              </a:ext>
            </a:extLst>
          </p:cNvPr>
          <p:cNvSpPr/>
          <p:nvPr/>
        </p:nvSpPr>
        <p:spPr>
          <a:xfrm>
            <a:off x="8854800" y="2554708"/>
            <a:ext cx="173700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F172A"/>
                </a:solidFill>
                <a:effectLst/>
                <a:uFillTx/>
                <a:latin typeface="Aptos"/>
              </a:rPr>
              <a:t>Controller V1</a:t>
            </a:r>
            <a:endParaRPr lang="en-US" sz="2000" b="0" u="none" strike="noStrike">
              <a:solidFill>
                <a:srgbClr val="000000"/>
              </a:solidFill>
              <a:effectLst/>
              <a:uFillTx/>
              <a:latin typeface="Arial"/>
            </a:endParaRPr>
          </a:p>
        </p:txBody>
      </p:sp>
      <p:sp>
        <p:nvSpPr>
          <p:cNvPr id="38" name="Text 12">
            <a:extLst>
              <a:ext uri="{FF2B5EF4-FFF2-40B4-BE49-F238E27FC236}">
                <a16:creationId xmlns:a16="http://schemas.microsoft.com/office/drawing/2014/main" id="{6FEF6F78-57A6-4ABF-BDCE-04302A46D075}"/>
              </a:ext>
            </a:extLst>
          </p:cNvPr>
          <p:cNvSpPr/>
          <p:nvPr/>
        </p:nvSpPr>
        <p:spPr>
          <a:xfrm>
            <a:off x="8717640" y="3075988"/>
            <a:ext cx="20113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166534"/>
                </a:solidFill>
                <a:effectLst/>
                <a:uFillTx/>
                <a:latin typeface="Aptos"/>
              </a:rPr>
              <a:t>Portion → Servo → Weight</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0" u="none" strike="noStrike">
                <a:solidFill>
                  <a:srgbClr val="166534"/>
                </a:solidFill>
                <a:effectLst/>
                <a:uFillTx/>
                <a:latin typeface="Aptos"/>
              </a:rPr>
              <a:t>→ History → Cooldown</a:t>
            </a:r>
            <a:endParaRPr lang="en-US" sz="1300" b="0" u="none" strike="noStrike">
              <a:solidFill>
                <a:srgbClr val="000000"/>
              </a:solidFill>
              <a:effectLst/>
              <a:uFillTx/>
              <a:latin typeface="Arial"/>
            </a:endParaRPr>
          </a:p>
        </p:txBody>
      </p:sp>
      <p:sp>
        <p:nvSpPr>
          <p:cNvPr id="39" name="Shape 13">
            <a:extLst>
              <a:ext uri="{FF2B5EF4-FFF2-40B4-BE49-F238E27FC236}">
                <a16:creationId xmlns:a16="http://schemas.microsoft.com/office/drawing/2014/main" id="{C4D7E87C-F1D2-45C6-9411-EC34D70D9EA1}"/>
              </a:ext>
            </a:extLst>
          </p:cNvPr>
          <p:cNvSpPr/>
          <p:nvPr/>
        </p:nvSpPr>
        <p:spPr>
          <a:xfrm>
            <a:off x="988783" y="4673732"/>
            <a:ext cx="2971440" cy="1142640"/>
          </a:xfrm>
          <a:prstGeom prst="roundRect">
            <a:avLst>
              <a:gd name="adj" fmla="val 4800"/>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 name="Shape 14">
            <a:extLst>
              <a:ext uri="{FF2B5EF4-FFF2-40B4-BE49-F238E27FC236}">
                <a16:creationId xmlns:a16="http://schemas.microsoft.com/office/drawing/2014/main" id="{28ECD5B2-D546-4C9A-B58B-E6674B70D196}"/>
              </a:ext>
            </a:extLst>
          </p:cNvPr>
          <p:cNvSpPr/>
          <p:nvPr/>
        </p:nvSpPr>
        <p:spPr>
          <a:xfrm>
            <a:off x="988783" y="4673732"/>
            <a:ext cx="54360" cy="114264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1" name="Text 15">
            <a:extLst>
              <a:ext uri="{FF2B5EF4-FFF2-40B4-BE49-F238E27FC236}">
                <a16:creationId xmlns:a16="http://schemas.microsoft.com/office/drawing/2014/main" id="{43CEFBAC-46A3-4887-9CEC-55891958CFF4}"/>
              </a:ext>
            </a:extLst>
          </p:cNvPr>
          <p:cNvSpPr/>
          <p:nvPr/>
        </p:nvSpPr>
        <p:spPr>
          <a:xfrm>
            <a:off x="1190023" y="4819892"/>
            <a:ext cx="26056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Ý nghĩa target = 0</a:t>
            </a:r>
            <a:endParaRPr lang="en-US" sz="1400" b="0" u="none" strike="noStrike">
              <a:solidFill>
                <a:srgbClr val="000000"/>
              </a:solidFill>
              <a:effectLst/>
              <a:uFillTx/>
              <a:latin typeface="Arial"/>
            </a:endParaRPr>
          </a:p>
        </p:txBody>
      </p:sp>
      <p:sp>
        <p:nvSpPr>
          <p:cNvPr id="42" name="Text 16">
            <a:extLst>
              <a:ext uri="{FF2B5EF4-FFF2-40B4-BE49-F238E27FC236}">
                <a16:creationId xmlns:a16="http://schemas.microsoft.com/office/drawing/2014/main" id="{0108075E-4C1F-4A42-AA25-3377C821D64E}"/>
              </a:ext>
            </a:extLst>
          </p:cNvPr>
          <p:cNvSpPr/>
          <p:nvPr/>
        </p:nvSpPr>
        <p:spPr>
          <a:xfrm>
            <a:off x="1190023" y="5204012"/>
            <a:ext cx="2605680" cy="48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Controller tự lấy portion từ Firebase hoặc default.</a:t>
            </a:r>
            <a:endParaRPr lang="en-US" sz="1120" b="0" u="none" strike="noStrike">
              <a:solidFill>
                <a:srgbClr val="000000"/>
              </a:solidFill>
              <a:effectLst/>
              <a:uFillTx/>
              <a:latin typeface="Arial"/>
            </a:endParaRPr>
          </a:p>
        </p:txBody>
      </p:sp>
      <p:sp>
        <p:nvSpPr>
          <p:cNvPr id="43" name="Shape 17">
            <a:extLst>
              <a:ext uri="{FF2B5EF4-FFF2-40B4-BE49-F238E27FC236}">
                <a16:creationId xmlns:a16="http://schemas.microsoft.com/office/drawing/2014/main" id="{BF8EC3E9-FE56-4DFD-9534-C81F74F047F4}"/>
              </a:ext>
            </a:extLst>
          </p:cNvPr>
          <p:cNvSpPr/>
          <p:nvPr/>
        </p:nvSpPr>
        <p:spPr>
          <a:xfrm>
            <a:off x="4463503" y="4673732"/>
            <a:ext cx="2971440" cy="1142640"/>
          </a:xfrm>
          <a:prstGeom prst="roundRect">
            <a:avLst>
              <a:gd name="adj" fmla="val 4800"/>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4" name="Shape 18">
            <a:extLst>
              <a:ext uri="{FF2B5EF4-FFF2-40B4-BE49-F238E27FC236}">
                <a16:creationId xmlns:a16="http://schemas.microsoft.com/office/drawing/2014/main" id="{A2BD4C46-FDA0-4255-BF80-5C27F28E7E6B}"/>
              </a:ext>
            </a:extLst>
          </p:cNvPr>
          <p:cNvSpPr/>
          <p:nvPr/>
        </p:nvSpPr>
        <p:spPr>
          <a:xfrm>
            <a:off x="4463503" y="4673732"/>
            <a:ext cx="54360" cy="1142640"/>
          </a:xfrm>
          <a:prstGeom prst="rect">
            <a:avLst/>
          </a:prstGeom>
          <a:solidFill>
            <a:srgbClr val="16A34A"/>
          </a:solidFill>
          <a:ln w="1270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5" name="Text 19">
            <a:extLst>
              <a:ext uri="{FF2B5EF4-FFF2-40B4-BE49-F238E27FC236}">
                <a16:creationId xmlns:a16="http://schemas.microsoft.com/office/drawing/2014/main" id="{04053F69-0C8A-45E9-963E-7FC419F8F8FD}"/>
              </a:ext>
            </a:extLst>
          </p:cNvPr>
          <p:cNvSpPr/>
          <p:nvPr/>
        </p:nvSpPr>
        <p:spPr>
          <a:xfrm>
            <a:off x="4664743" y="4819892"/>
            <a:ext cx="26056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Lợi ích</a:t>
            </a:r>
            <a:endParaRPr lang="en-US" sz="1400" b="0" u="none" strike="noStrike">
              <a:solidFill>
                <a:srgbClr val="000000"/>
              </a:solidFill>
              <a:effectLst/>
              <a:uFillTx/>
              <a:latin typeface="Arial"/>
            </a:endParaRPr>
          </a:p>
        </p:txBody>
      </p:sp>
      <p:sp>
        <p:nvSpPr>
          <p:cNvPr id="46" name="Text 20">
            <a:extLst>
              <a:ext uri="{FF2B5EF4-FFF2-40B4-BE49-F238E27FC236}">
                <a16:creationId xmlns:a16="http://schemas.microsoft.com/office/drawing/2014/main" id="{1759D5BF-A645-4071-8A93-CD13FE5DF499}"/>
              </a:ext>
            </a:extLst>
          </p:cNvPr>
          <p:cNvSpPr/>
          <p:nvPr/>
        </p:nvSpPr>
        <p:spPr>
          <a:xfrm>
            <a:off x="4664743" y="5204012"/>
            <a:ext cx="2605680" cy="48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AI và cơ cấu cấp thức ăn được tách rời, dễ debug.</a:t>
            </a:r>
            <a:endParaRPr lang="en-US" sz="1120" b="0" u="none" strike="noStrike">
              <a:solidFill>
                <a:srgbClr val="000000"/>
              </a:solidFill>
              <a:effectLst/>
              <a:uFillTx/>
              <a:latin typeface="Arial"/>
            </a:endParaRPr>
          </a:p>
        </p:txBody>
      </p:sp>
      <p:sp>
        <p:nvSpPr>
          <p:cNvPr id="47" name="Shape 21">
            <a:extLst>
              <a:ext uri="{FF2B5EF4-FFF2-40B4-BE49-F238E27FC236}">
                <a16:creationId xmlns:a16="http://schemas.microsoft.com/office/drawing/2014/main" id="{DFED10BC-7795-44E3-87ED-E708CE254D88}"/>
              </a:ext>
            </a:extLst>
          </p:cNvPr>
          <p:cNvSpPr/>
          <p:nvPr/>
        </p:nvSpPr>
        <p:spPr>
          <a:xfrm>
            <a:off x="7938223" y="4673732"/>
            <a:ext cx="2971440" cy="1142640"/>
          </a:xfrm>
          <a:prstGeom prst="roundRect">
            <a:avLst>
              <a:gd name="adj" fmla="val 4800"/>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8" name="Shape 22">
            <a:extLst>
              <a:ext uri="{FF2B5EF4-FFF2-40B4-BE49-F238E27FC236}">
                <a16:creationId xmlns:a16="http://schemas.microsoft.com/office/drawing/2014/main" id="{7AF2E9F3-7218-4BB0-91A2-5A88D5618696}"/>
              </a:ext>
            </a:extLst>
          </p:cNvPr>
          <p:cNvSpPr/>
          <p:nvPr/>
        </p:nvSpPr>
        <p:spPr>
          <a:xfrm>
            <a:off x="7938223" y="4673732"/>
            <a:ext cx="54360" cy="114264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9" name="Text 23">
            <a:extLst>
              <a:ext uri="{FF2B5EF4-FFF2-40B4-BE49-F238E27FC236}">
                <a16:creationId xmlns:a16="http://schemas.microsoft.com/office/drawing/2014/main" id="{082361F4-698C-4345-9421-9ADB8D9A9DA3}"/>
              </a:ext>
            </a:extLst>
          </p:cNvPr>
          <p:cNvSpPr/>
          <p:nvPr/>
        </p:nvSpPr>
        <p:spPr>
          <a:xfrm>
            <a:off x="8139463" y="4819892"/>
            <a:ext cx="26056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Bước tiếp theo</a:t>
            </a:r>
            <a:endParaRPr lang="en-US" sz="1400" b="0" u="none" strike="noStrike">
              <a:solidFill>
                <a:srgbClr val="000000"/>
              </a:solidFill>
              <a:effectLst/>
              <a:uFillTx/>
              <a:latin typeface="Arial"/>
            </a:endParaRPr>
          </a:p>
        </p:txBody>
      </p:sp>
      <p:sp>
        <p:nvSpPr>
          <p:cNvPr id="50" name="Text 24">
            <a:extLst>
              <a:ext uri="{FF2B5EF4-FFF2-40B4-BE49-F238E27FC236}">
                <a16:creationId xmlns:a16="http://schemas.microsoft.com/office/drawing/2014/main" id="{8AE0EE01-7587-4E65-930C-399A3CE067FE}"/>
              </a:ext>
            </a:extLst>
          </p:cNvPr>
          <p:cNvSpPr/>
          <p:nvPr/>
        </p:nvSpPr>
        <p:spPr>
          <a:xfrm>
            <a:off x="8139463" y="5204012"/>
            <a:ext cx="2605680" cy="48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Deploy classifier INT8 trên ESP32-S3 và tuning confidence threshold.</a:t>
            </a:r>
            <a:endParaRPr lang="en-US" sz="1120" b="0" u="none" strike="noStrike">
              <a:solidFill>
                <a:srgbClr val="000000"/>
              </a:solidFill>
              <a:effectLst/>
              <a:uFillTx/>
              <a:latin typeface="Arial"/>
            </a:endParaRPr>
          </a:p>
        </p:txBody>
      </p:sp>
    </p:spTree>
    <p:extLst>
      <p:ext uri="{BB962C8B-B14F-4D97-AF65-F5344CB8AC3E}">
        <p14:creationId xmlns:p14="http://schemas.microsoft.com/office/powerpoint/2010/main" val="20682208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51" name="Content Placeholder 2">
            <a:extLst>
              <a:ext uri="{FF2B5EF4-FFF2-40B4-BE49-F238E27FC236}">
                <a16:creationId xmlns:a16="http://schemas.microsoft.com/office/drawing/2014/main" id="{7E3D7437-29CF-43A9-9A4E-F1201877204B}"/>
              </a:ext>
            </a:extLst>
          </p:cNvPr>
          <p:cNvSpPr>
            <a:spLocks noGrp="1"/>
          </p:cNvSpPr>
          <p:nvPr>
            <p:ph idx="1"/>
          </p:nvPr>
        </p:nvSpPr>
        <p:spPr>
          <a:xfrm>
            <a:off x="508000" y="1295400"/>
            <a:ext cx="11074400" cy="4724400"/>
          </a:xfrm>
        </p:spPr>
        <p:txBody>
          <a:bodyPr/>
          <a:lstStyle/>
          <a:p>
            <a:pPr marL="0" indent="0">
              <a:buNone/>
            </a:pPr>
            <a:r>
              <a:rPr lang="en-US"/>
              <a:t>Edge AI literature review</a:t>
            </a:r>
          </a:p>
          <a:p>
            <a:r>
              <a:rPr lang="en-US"/>
              <a:t>Cats and Dogs Classification Dataset: </a:t>
            </a:r>
            <a:r>
              <a:rPr lang="en-US">
                <a:hlinkClick r:id="rId2"/>
              </a:rPr>
              <a:t>https://www.kaggle.com/datasets/bhavikjikadara/dog-and-cat-classification-dataset/data</a:t>
            </a:r>
            <a:r>
              <a:rPr lang="en-US"/>
              <a:t> </a:t>
            </a:r>
          </a:p>
          <a:p>
            <a:r>
              <a:rPr lang="vi-VN" sz="1800"/>
              <a:t>Bộ dữ liệu Cat and Dog Classification là một bộ dữ liệu tiêu chuẩn trong lĩnh vực thị giác máy tính (Computer Vision), được sử dụng cho bài toán phân loại hình ảnh, trong đó mô hình cần xác định một hình ảnh chứa chó (Dog) hay mèo (Cat). Bộ dữ liệu này là một tập con được trích xuất từ một bộ dữ liệu lớn hơn gồm khoảng 25.000 hình ảnh.Bộ dữ liệu bao gồm 24.998 hình ảnh, được chia thành:12.499 hình ảnh mèo (Cat)12.499 hình ảnh chó (Dog)Các hình ảnh trong tập huấn luyện (training set) được phân chia đồng đều giữa hai lớp chó và mèo, trong khi các hình ảnh thuộc tập kiểm thử (test set) không được gán nhãn. Cách tổ chức này cho phép người dùng đánh giá khả năng tổng quát hóa của mô hình trên dữ liệu chưa từng xuất hiện trong quá trình huấn luyện.</a:t>
            </a:r>
            <a:endParaRPr lang="en-US" sz="1800"/>
          </a:p>
        </p:txBody>
      </p:sp>
    </p:spTree>
    <p:extLst>
      <p:ext uri="{BB962C8B-B14F-4D97-AF65-F5344CB8AC3E}">
        <p14:creationId xmlns:p14="http://schemas.microsoft.com/office/powerpoint/2010/main" val="22270370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51" name="Content Placeholder 2">
            <a:extLst>
              <a:ext uri="{FF2B5EF4-FFF2-40B4-BE49-F238E27FC236}">
                <a16:creationId xmlns:a16="http://schemas.microsoft.com/office/drawing/2014/main" id="{7E3D7437-29CF-43A9-9A4E-F1201877204B}"/>
              </a:ext>
            </a:extLst>
          </p:cNvPr>
          <p:cNvSpPr>
            <a:spLocks noGrp="1"/>
          </p:cNvSpPr>
          <p:nvPr>
            <p:ph idx="1"/>
          </p:nvPr>
        </p:nvSpPr>
        <p:spPr>
          <a:xfrm>
            <a:off x="508000" y="1295400"/>
            <a:ext cx="11074400" cy="4724400"/>
          </a:xfrm>
        </p:spPr>
        <p:txBody>
          <a:bodyPr/>
          <a:lstStyle/>
          <a:p>
            <a:pPr marL="0" indent="0">
              <a:buNone/>
            </a:pPr>
            <a:r>
              <a:rPr lang="en-US"/>
              <a:t>Propose Model</a:t>
            </a:r>
          </a:p>
        </p:txBody>
      </p:sp>
    </p:spTree>
    <p:extLst>
      <p:ext uri="{BB962C8B-B14F-4D97-AF65-F5344CB8AC3E}">
        <p14:creationId xmlns:p14="http://schemas.microsoft.com/office/powerpoint/2010/main" val="42098966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51" name="Content Placeholder 2">
            <a:extLst>
              <a:ext uri="{FF2B5EF4-FFF2-40B4-BE49-F238E27FC236}">
                <a16:creationId xmlns:a16="http://schemas.microsoft.com/office/drawing/2014/main" id="{7E3D7437-29CF-43A9-9A4E-F1201877204B}"/>
              </a:ext>
            </a:extLst>
          </p:cNvPr>
          <p:cNvSpPr>
            <a:spLocks noGrp="1"/>
          </p:cNvSpPr>
          <p:nvPr>
            <p:ph idx="1"/>
          </p:nvPr>
        </p:nvSpPr>
        <p:spPr>
          <a:xfrm>
            <a:off x="508000" y="1295400"/>
            <a:ext cx="11074400" cy="4724400"/>
          </a:xfrm>
        </p:spPr>
        <p:txBody>
          <a:bodyPr/>
          <a:lstStyle/>
          <a:p>
            <a:pPr marL="0" indent="0">
              <a:buNone/>
            </a:pPr>
            <a:r>
              <a:rPr lang="en-US"/>
              <a:t>Edge AI- result  </a:t>
            </a:r>
          </a:p>
          <a:p>
            <a:pPr marL="0" indent="0">
              <a:buNone/>
            </a:pPr>
            <a:endParaRPr lang="en-US"/>
          </a:p>
        </p:txBody>
      </p:sp>
      <p:graphicFrame>
        <p:nvGraphicFramePr>
          <p:cNvPr id="4" name="Table 3">
            <a:extLst>
              <a:ext uri="{FF2B5EF4-FFF2-40B4-BE49-F238E27FC236}">
                <a16:creationId xmlns:a16="http://schemas.microsoft.com/office/drawing/2014/main" id="{927B1FCD-163B-4069-9ECB-C285AAB54B12}"/>
              </a:ext>
            </a:extLst>
          </p:cNvPr>
          <p:cNvGraphicFramePr>
            <a:graphicFrameLocks noGrp="1"/>
          </p:cNvGraphicFramePr>
          <p:nvPr>
            <p:extLst>
              <p:ext uri="{D42A27DB-BD31-4B8C-83A1-F6EECF244321}">
                <p14:modId xmlns:p14="http://schemas.microsoft.com/office/powerpoint/2010/main" val="3637440860"/>
              </p:ext>
            </p:extLst>
          </p:nvPr>
        </p:nvGraphicFramePr>
        <p:xfrm>
          <a:off x="508000" y="1920240"/>
          <a:ext cx="10693400" cy="3474720"/>
        </p:xfrm>
        <a:graphic>
          <a:graphicData uri="http://schemas.openxmlformats.org/drawingml/2006/table">
            <a:tbl>
              <a:tblPr/>
              <a:tblGrid>
                <a:gridCol w="2159000">
                  <a:extLst>
                    <a:ext uri="{9D8B030D-6E8A-4147-A177-3AD203B41FA5}">
                      <a16:colId xmlns:a16="http://schemas.microsoft.com/office/drawing/2014/main" val="3252022535"/>
                    </a:ext>
                  </a:extLst>
                </a:gridCol>
                <a:gridCol w="1295400">
                  <a:extLst>
                    <a:ext uri="{9D8B030D-6E8A-4147-A177-3AD203B41FA5}">
                      <a16:colId xmlns:a16="http://schemas.microsoft.com/office/drawing/2014/main" val="3017590357"/>
                    </a:ext>
                  </a:extLst>
                </a:gridCol>
                <a:gridCol w="1219200">
                  <a:extLst>
                    <a:ext uri="{9D8B030D-6E8A-4147-A177-3AD203B41FA5}">
                      <a16:colId xmlns:a16="http://schemas.microsoft.com/office/drawing/2014/main" val="3582211968"/>
                    </a:ext>
                  </a:extLst>
                </a:gridCol>
                <a:gridCol w="990600">
                  <a:extLst>
                    <a:ext uri="{9D8B030D-6E8A-4147-A177-3AD203B41FA5}">
                      <a16:colId xmlns:a16="http://schemas.microsoft.com/office/drawing/2014/main" val="2735605935"/>
                    </a:ext>
                  </a:extLst>
                </a:gridCol>
                <a:gridCol w="2133600">
                  <a:extLst>
                    <a:ext uri="{9D8B030D-6E8A-4147-A177-3AD203B41FA5}">
                      <a16:colId xmlns:a16="http://schemas.microsoft.com/office/drawing/2014/main" val="3800278434"/>
                    </a:ext>
                  </a:extLst>
                </a:gridCol>
                <a:gridCol w="914400">
                  <a:extLst>
                    <a:ext uri="{9D8B030D-6E8A-4147-A177-3AD203B41FA5}">
                      <a16:colId xmlns:a16="http://schemas.microsoft.com/office/drawing/2014/main" val="945744992"/>
                    </a:ext>
                  </a:extLst>
                </a:gridCol>
                <a:gridCol w="1981200">
                  <a:extLst>
                    <a:ext uri="{9D8B030D-6E8A-4147-A177-3AD203B41FA5}">
                      <a16:colId xmlns:a16="http://schemas.microsoft.com/office/drawing/2014/main" val="253709661"/>
                    </a:ext>
                  </a:extLst>
                </a:gridCol>
              </a:tblGrid>
              <a:tr h="914400">
                <a:tc>
                  <a:txBody>
                    <a:bodyPr/>
                    <a:lstStyle/>
                    <a:p>
                      <a:r>
                        <a:rPr lang="en-US" sz="1800"/>
                        <a:t>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Params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MACs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FP32 Acc.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INT8 Acc.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Model Size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Latency ESP32-S3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0326076"/>
                  </a:ext>
                </a:extLst>
              </a:tr>
              <a:tr h="640080">
                <a:tc>
                  <a:txBody>
                    <a:bodyPr/>
                    <a:lstStyle/>
                    <a:p>
                      <a:r>
                        <a:rPr lang="en-US" sz="1800"/>
                        <a:t>Yolov11-n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8073381"/>
                  </a:ext>
                </a:extLst>
              </a:tr>
              <a:tr h="640080">
                <a:tc>
                  <a:txBody>
                    <a:bodyPr/>
                    <a:lstStyle/>
                    <a:p>
                      <a:r>
                        <a:rPr lang="en-US" sz="1800"/>
                        <a:t>MobileNetV2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6864081"/>
                  </a:ext>
                </a:extLst>
              </a:tr>
              <a:tr h="640080">
                <a:tc>
                  <a:txBody>
                    <a:bodyPr/>
                    <a:lstStyle/>
                    <a:p>
                      <a:r>
                        <a:rPr lang="en-US" sz="1800"/>
                        <a:t>MobileNetV3-Small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5462709"/>
                  </a:ext>
                </a:extLst>
              </a:tr>
              <a:tr h="640080">
                <a:tc>
                  <a:txBody>
                    <a:bodyPr/>
                    <a:lstStyle/>
                    <a:p>
                      <a:r>
                        <a:rPr lang="en-US" sz="1800" b="1"/>
                        <a:t>Proposed Model</a:t>
                      </a:r>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9996654"/>
                  </a:ext>
                </a:extLst>
              </a:tr>
            </a:tbl>
          </a:graphicData>
        </a:graphic>
      </p:graphicFrame>
    </p:spTree>
    <p:extLst>
      <p:ext uri="{BB962C8B-B14F-4D97-AF65-F5344CB8AC3E}">
        <p14:creationId xmlns:p14="http://schemas.microsoft.com/office/powerpoint/2010/main" val="6137212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EF06C-41C4-4254-9FC4-B6680C3EEE84}"/>
              </a:ext>
            </a:extLst>
          </p:cNvPr>
          <p:cNvSpPr>
            <a:spLocks noGrp="1"/>
          </p:cNvSpPr>
          <p:nvPr>
            <p:ph type="title"/>
          </p:nvPr>
        </p:nvSpPr>
        <p:spPr/>
        <p:txBody>
          <a:bodyPr/>
          <a:lstStyle/>
          <a:p>
            <a:r>
              <a:rPr lang="en-US"/>
              <a:t>3. Viết cuốn báo cáo</a:t>
            </a:r>
          </a:p>
        </p:txBody>
      </p:sp>
      <p:sp>
        <p:nvSpPr>
          <p:cNvPr id="3" name="Content Placeholder 2">
            <a:extLst>
              <a:ext uri="{FF2B5EF4-FFF2-40B4-BE49-F238E27FC236}">
                <a16:creationId xmlns:a16="http://schemas.microsoft.com/office/drawing/2014/main" id="{68D052C7-25C8-4B47-BEA7-580C29C22070}"/>
              </a:ext>
            </a:extLst>
          </p:cNvPr>
          <p:cNvSpPr>
            <a:spLocks noGrp="1"/>
          </p:cNvSpPr>
          <p:nvPr>
            <p:ph idx="1"/>
          </p:nvPr>
        </p:nvSpPr>
        <p:spPr/>
        <p:txBody>
          <a:bodyPr/>
          <a:lstStyle/>
          <a:p>
            <a:r>
              <a:rPr lang="en-US"/>
              <a:t>Mẫu cuốn báo cáo. </a:t>
            </a:r>
            <a:r>
              <a:rPr lang="en-US">
                <a:hlinkClick r:id="rId2"/>
              </a:rPr>
              <a:t>Link</a:t>
            </a:r>
            <a:endParaRPr lang="en-US"/>
          </a:p>
          <a:p>
            <a:r>
              <a:rPr lang="en-US"/>
              <a:t>Yêu cầu:</a:t>
            </a:r>
          </a:p>
          <a:p>
            <a:pPr lvl="1"/>
            <a:r>
              <a:rPr lang="en-US"/>
              <a:t>Ch</a:t>
            </a:r>
            <a:r>
              <a:rPr lang="vi-VN"/>
              <a:t>ư</a:t>
            </a:r>
            <a:r>
              <a:rPr lang="en-US"/>
              <a:t>ơng 1: Tổng quan (1 tuần)</a:t>
            </a:r>
          </a:p>
          <a:p>
            <a:pPr lvl="1"/>
            <a:r>
              <a:rPr lang="en-US"/>
              <a:t>Ch</a:t>
            </a:r>
            <a:r>
              <a:rPr lang="vi-VN"/>
              <a:t>ư</a:t>
            </a:r>
            <a:r>
              <a:rPr lang="en-US"/>
              <a:t>ơng 2: C</a:t>
            </a:r>
            <a:r>
              <a:rPr lang="vi-VN"/>
              <a:t>ơ</a:t>
            </a:r>
            <a:r>
              <a:rPr lang="en-US"/>
              <a:t> sở lý thuyết (1 tuần)</a:t>
            </a:r>
          </a:p>
          <a:p>
            <a:pPr lvl="1"/>
            <a:r>
              <a:rPr lang="en-US"/>
              <a:t>Ch</a:t>
            </a:r>
            <a:r>
              <a:rPr lang="vi-VN"/>
              <a:t>ư</a:t>
            </a:r>
            <a:r>
              <a:rPr lang="en-US"/>
              <a:t>ơng 3: Phân tích và thiết kế hệ thống (2 tuần)</a:t>
            </a:r>
          </a:p>
          <a:p>
            <a:pPr lvl="1"/>
            <a:r>
              <a:rPr lang="en-US"/>
              <a:t>Ch</a:t>
            </a:r>
            <a:r>
              <a:rPr lang="vi-VN"/>
              <a:t>ư</a:t>
            </a:r>
            <a:r>
              <a:rPr lang="en-US"/>
              <a:t>ơng 4: Phân tích kết quả (1 tuần)</a:t>
            </a:r>
          </a:p>
          <a:p>
            <a:pPr lvl="1"/>
            <a:r>
              <a:rPr lang="en-US"/>
              <a:t>Ch</a:t>
            </a:r>
            <a:r>
              <a:rPr lang="vi-VN"/>
              <a:t>ư</a:t>
            </a:r>
            <a:r>
              <a:rPr lang="en-US"/>
              <a:t>ơng 5: Kết luận (1 tuần) -&gt; Nộp hoàn thiện</a:t>
            </a:r>
          </a:p>
        </p:txBody>
      </p:sp>
    </p:spTree>
    <p:extLst>
      <p:ext uri="{BB962C8B-B14F-4D97-AF65-F5344CB8AC3E}">
        <p14:creationId xmlns:p14="http://schemas.microsoft.com/office/powerpoint/2010/main" val="4590057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WordArt 3"/>
          <p:cNvSpPr>
            <a:spLocks noChangeArrowheads="1" noChangeShapeType="1" noTextEdit="1"/>
          </p:cNvSpPr>
          <p:nvPr/>
        </p:nvSpPr>
        <p:spPr bwMode="gray">
          <a:xfrm>
            <a:off x="2842661" y="2819400"/>
            <a:ext cx="6858000" cy="762000"/>
          </a:xfrm>
          <a:prstGeom prst="rect">
            <a:avLst/>
          </a:prstGeom>
        </p:spPr>
        <p:txBody>
          <a:bodyPr wrap="none" fromWordArt="1">
            <a:prstTxWarp prst="textDeflate">
              <a:avLst>
                <a:gd name="adj" fmla="val 0"/>
              </a:avLst>
            </a:prstTxWarp>
          </a:bodyPr>
          <a:lstStyle/>
          <a:p>
            <a:pPr algn="ctr"/>
            <a:r>
              <a:rPr lang="en-US" sz="5400" b="1" kern="10" dirty="0">
                <a:ln w="19050">
                  <a:solidFill>
                    <a:schemeClr val="bg1"/>
                  </a:solidFill>
                  <a:round/>
                  <a:headEnd/>
                  <a:tailEnd/>
                </a:ln>
                <a:gradFill rotWithShape="1">
                  <a:gsLst>
                    <a:gs pos="0">
                      <a:schemeClr val="accent1"/>
                    </a:gs>
                    <a:gs pos="100000">
                      <a:schemeClr val="folHlink"/>
                    </a:gs>
                  </a:gsLst>
                  <a:lin ang="5400000" scaled="1"/>
                </a:gradFill>
                <a:effectLst>
                  <a:outerShdw dist="71842" dir="2700000" algn="ctr" rotWithShape="0">
                    <a:schemeClr val="tx1">
                      <a:alpha val="50000"/>
                    </a:schemeClr>
                  </a:outerShdw>
                </a:effectLst>
                <a:latin typeface="Verdana"/>
                <a:ea typeface="Verdana"/>
                <a:cs typeface="Verdana"/>
              </a:rPr>
              <a:t>Thank You</a:t>
            </a:r>
          </a:p>
        </p:txBody>
      </p:sp>
      <p:sp>
        <p:nvSpPr>
          <p:cNvPr id="59396" name="Rectangle 4"/>
          <p:cNvSpPr>
            <a:spLocks noChangeArrowheads="1"/>
          </p:cNvSpPr>
          <p:nvPr/>
        </p:nvSpPr>
        <p:spPr bwMode="white">
          <a:xfrm>
            <a:off x="5181600" y="5867400"/>
            <a:ext cx="3581400" cy="381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r">
              <a:lnSpc>
                <a:spcPct val="90000"/>
              </a:lnSpc>
              <a:spcBef>
                <a:spcPct val="20000"/>
              </a:spcBef>
              <a:buClr>
                <a:schemeClr val="tx2"/>
              </a:buClr>
              <a:buFont typeface="Wingdings" pitchFamily="2" charset="2"/>
              <a:buNone/>
            </a:pPr>
            <a:r>
              <a:rPr lang="en-US" sz="1400" b="1" dirty="0" err="1">
                <a:solidFill>
                  <a:schemeClr val="bg1"/>
                </a:solidFill>
              </a:rPr>
              <a:t>www.themegallery.com</a:t>
            </a:r>
            <a:endParaRPr lang="en-US" sz="1400" b="1">
              <a:solidFill>
                <a:schemeClr val="bg1"/>
              </a:solidFill>
            </a:endParaRPr>
          </a:p>
        </p:txBody>
      </p:sp>
    </p:spTree>
  </p:cSld>
  <p:clrMapOvr>
    <a:masterClrMapping/>
  </p:clrMapOvr>
</p:sld>
</file>

<file path=ppt/theme/theme1.xml><?xml version="1.0" encoding="utf-8"?>
<a:theme xmlns:a="http://schemas.openxmlformats.org/drawingml/2006/main" name="cdb2004212gl">
  <a:themeElements>
    <a:clrScheme name="Office Theme 1">
      <a:dk1>
        <a:srgbClr val="000000"/>
      </a:dk1>
      <a:lt1>
        <a:srgbClr val="FFFFFF"/>
      </a:lt1>
      <a:dk2>
        <a:srgbClr val="4B546F"/>
      </a:dk2>
      <a:lt2>
        <a:srgbClr val="C0C0C0"/>
      </a:lt2>
      <a:accent1>
        <a:srgbClr val="4987E3"/>
      </a:accent1>
      <a:accent2>
        <a:srgbClr val="D9520F"/>
      </a:accent2>
      <a:accent3>
        <a:srgbClr val="FFFFFF"/>
      </a:accent3>
      <a:accent4>
        <a:srgbClr val="000000"/>
      </a:accent4>
      <a:accent5>
        <a:srgbClr val="B1C3EF"/>
      </a:accent5>
      <a:accent6>
        <a:srgbClr val="C4490C"/>
      </a:accent6>
      <a:hlink>
        <a:srgbClr val="36A1B6"/>
      </a:hlink>
      <a:folHlink>
        <a:srgbClr val="9CC769"/>
      </a:folHlink>
    </a:clrScheme>
    <a:fontScheme name="Office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Office Theme 1">
        <a:dk1>
          <a:srgbClr val="000000"/>
        </a:dk1>
        <a:lt1>
          <a:srgbClr val="FFFFFF"/>
        </a:lt1>
        <a:dk2>
          <a:srgbClr val="4B546F"/>
        </a:dk2>
        <a:lt2>
          <a:srgbClr val="C0C0C0"/>
        </a:lt2>
        <a:accent1>
          <a:srgbClr val="4987E3"/>
        </a:accent1>
        <a:accent2>
          <a:srgbClr val="D9520F"/>
        </a:accent2>
        <a:accent3>
          <a:srgbClr val="FFFFFF"/>
        </a:accent3>
        <a:accent4>
          <a:srgbClr val="000000"/>
        </a:accent4>
        <a:accent5>
          <a:srgbClr val="B1C3EF"/>
        </a:accent5>
        <a:accent6>
          <a:srgbClr val="C4490C"/>
        </a:accent6>
        <a:hlink>
          <a:srgbClr val="36A1B6"/>
        </a:hlink>
        <a:folHlink>
          <a:srgbClr val="9CC769"/>
        </a:folHlink>
      </a:clrScheme>
      <a:clrMap bg1="lt1" tx1="dk1" bg2="lt2" tx2="dk2" accent1="accent1" accent2="accent2" accent3="accent3" accent4="accent4" accent5="accent5" accent6="accent6" hlink="hlink" folHlink="folHlink"/>
    </a:extraClrScheme>
    <a:extraClrScheme>
      <a:clrScheme name="Office Theme 2">
        <a:dk1>
          <a:srgbClr val="000000"/>
        </a:dk1>
        <a:lt1>
          <a:srgbClr val="FFFFFF"/>
        </a:lt1>
        <a:dk2>
          <a:srgbClr val="135377"/>
        </a:dk2>
        <a:lt2>
          <a:srgbClr val="969696"/>
        </a:lt2>
        <a:accent1>
          <a:srgbClr val="2AA08A"/>
        </a:accent1>
        <a:accent2>
          <a:srgbClr val="9C88E6"/>
        </a:accent2>
        <a:accent3>
          <a:srgbClr val="FFFFFF"/>
        </a:accent3>
        <a:accent4>
          <a:srgbClr val="000000"/>
        </a:accent4>
        <a:accent5>
          <a:srgbClr val="ACCDC4"/>
        </a:accent5>
        <a:accent6>
          <a:srgbClr val="8D7BD0"/>
        </a:accent6>
        <a:hlink>
          <a:srgbClr val="7D96D3"/>
        </a:hlink>
        <a:folHlink>
          <a:srgbClr val="DEDB70"/>
        </a:folHlink>
      </a:clrScheme>
      <a:clrMap bg1="lt1" tx1="dk1" bg2="lt2" tx2="dk2" accent1="accent1" accent2="accent2" accent3="accent3" accent4="accent4" accent5="accent5" accent6="accent6" hlink="hlink" folHlink="folHlink"/>
    </a:extraClrScheme>
    <a:extraClrScheme>
      <a:clrScheme name="Office Theme 3">
        <a:dk1>
          <a:srgbClr val="000000"/>
        </a:dk1>
        <a:lt1>
          <a:srgbClr val="FFFFFF"/>
        </a:lt1>
        <a:dk2>
          <a:srgbClr val="351155"/>
        </a:dk2>
        <a:lt2>
          <a:srgbClr val="969696"/>
        </a:lt2>
        <a:accent1>
          <a:srgbClr val="117AC1"/>
        </a:accent1>
        <a:accent2>
          <a:srgbClr val="38B890"/>
        </a:accent2>
        <a:accent3>
          <a:srgbClr val="FFFFFF"/>
        </a:accent3>
        <a:accent4>
          <a:srgbClr val="000000"/>
        </a:accent4>
        <a:accent5>
          <a:srgbClr val="AABEDD"/>
        </a:accent5>
        <a:accent6>
          <a:srgbClr val="32A682"/>
        </a:accent6>
        <a:hlink>
          <a:srgbClr val="D17FB6"/>
        </a:hlink>
        <a:folHlink>
          <a:srgbClr val="E3981D"/>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cdb2004212gl</Template>
  <TotalTime>4581</TotalTime>
  <Words>1100</Words>
  <Application>Microsoft Office PowerPoint</Application>
  <PresentationFormat>Widescreen</PresentationFormat>
  <Paragraphs>174</Paragraphs>
  <Slides>14</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Aptos</vt:lpstr>
      <vt:lpstr>Arial</vt:lpstr>
      <vt:lpstr>Calibri</vt:lpstr>
      <vt:lpstr>Courier New</vt:lpstr>
      <vt:lpstr>Tahoma</vt:lpstr>
      <vt:lpstr>Verdana</vt:lpstr>
      <vt:lpstr>Wingdings</vt:lpstr>
      <vt:lpstr>cdb2004212gl</vt:lpstr>
      <vt:lpstr>Môn: Phát triển ứng dụng di động (Tuần 3 – Viết cuốn báo cáo)</vt:lpstr>
      <vt:lpstr>1. Tiến độ thực tế (dự kiến)</vt:lpstr>
      <vt:lpstr>2. Report mỗi tuần (  đồng bộ lên github  Nộp utex)</vt:lpstr>
      <vt:lpstr>2. Report mỗi tuần</vt:lpstr>
      <vt:lpstr>2. Report mỗi tuần</vt:lpstr>
      <vt:lpstr>2. Report mỗi tuần</vt:lpstr>
      <vt:lpstr>2. Report mỗi tuần</vt:lpstr>
      <vt:lpstr>2. Report mỗi tuần</vt:lpstr>
      <vt:lpstr>2. Report mỗi tuần</vt:lpstr>
      <vt:lpstr>2. Report mỗi tuần</vt:lpstr>
      <vt:lpstr>2. Report mỗi tuần</vt:lpstr>
      <vt:lpstr>2. Report mỗi tuần</vt:lpstr>
      <vt:lpstr>3. Viết cuốn báo cáo</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Overview of  Research &amp; Technology and Training</dc:title>
  <dc:creator>FANCA</dc:creator>
  <cp:lastModifiedBy>Dung Hoang</cp:lastModifiedBy>
  <cp:revision>402</cp:revision>
  <cp:lastPrinted>2018-01-16T10:17:52Z</cp:lastPrinted>
  <dcterms:created xsi:type="dcterms:W3CDTF">2017-11-10T03:20:57Z</dcterms:created>
  <dcterms:modified xsi:type="dcterms:W3CDTF">2026-09-12T14:20:00Z</dcterms:modified>
</cp:coreProperties>
</file>