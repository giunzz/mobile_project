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handoutMasterIdLst>
    <p:handoutMasterId r:id="rId19"/>
  </p:handoutMasterIdLst>
  <p:sldIdLst>
    <p:sldId id="276" r:id="rId2"/>
    <p:sldId id="302" r:id="rId3"/>
    <p:sldId id="301" r:id="rId4"/>
    <p:sldId id="258" r:id="rId5"/>
    <p:sldId id="314" r:id="rId6"/>
    <p:sldId id="311" r:id="rId7"/>
    <p:sldId id="319" r:id="rId8"/>
    <p:sldId id="320" r:id="rId9"/>
    <p:sldId id="321" r:id="rId10"/>
    <p:sldId id="322" r:id="rId11"/>
    <p:sldId id="323" r:id="rId12"/>
    <p:sldId id="315" r:id="rId13"/>
    <p:sldId id="304" r:id="rId14"/>
    <p:sldId id="305" r:id="rId15"/>
    <p:sldId id="324" r:id="rId16"/>
    <p:sldId id="275" r:id="rId17"/>
  </p:sldIdLst>
  <p:sldSz cx="12192000" cy="6858000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3300"/>
    <a:srgbClr val="969696"/>
    <a:srgbClr val="FAA90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178" autoAdjust="0"/>
    <p:restoredTop sz="95657" autoAdjust="0"/>
  </p:normalViewPr>
  <p:slideViewPr>
    <p:cSldViewPr>
      <p:cViewPr varScale="1">
        <p:scale>
          <a:sx n="81" d="100"/>
          <a:sy n="81" d="100"/>
        </p:scale>
        <p:origin x="835" y="62"/>
      </p:cViewPr>
      <p:guideLst>
        <p:guide orient="horz" pos="2160"/>
        <p:guide pos="3840"/>
      </p:guideLst>
    </p:cSldViewPr>
  </p:slideViewPr>
  <p:notesTextViewPr>
    <p:cViewPr>
      <p:scale>
        <a:sx n="125" d="100"/>
        <a:sy n="125" d="100"/>
      </p:scale>
      <p:origin x="0" y="0"/>
    </p:cViewPr>
  </p:notesTextViewPr>
  <p:notesViewPr>
    <p:cSldViewPr>
      <p:cViewPr varScale="1"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5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en-US"/>
          </a:p>
        </p:txBody>
      </p:sp>
      <p:sp>
        <p:nvSpPr>
          <p:cNvPr id="70659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endParaRPr lang="en-US"/>
          </a:p>
        </p:txBody>
      </p:sp>
      <p:sp>
        <p:nvSpPr>
          <p:cNvPr id="70660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en-US"/>
          </a:p>
        </p:txBody>
      </p:sp>
      <p:sp>
        <p:nvSpPr>
          <p:cNvPr id="70661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0DD9B359-3C40-40D0-9641-0AF6D6B0EE16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058804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3BC1FF4-501E-417A-B71B-CA534D31E637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8DA621D-D213-47E6-8EF4-77EE7EB23D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52602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8DA621D-D213-47E6-8EF4-77EE7EB23DD1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728137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3"/>
          <p:cNvSpPr>
            <a:spLocks noGrp="1" noChangeArrowheads="1"/>
          </p:cNvSpPr>
          <p:nvPr>
            <p:ph type="subTitle" idx="1"/>
          </p:nvPr>
        </p:nvSpPr>
        <p:spPr bwMode="gray">
          <a:xfrm>
            <a:off x="3352800" y="5791200"/>
            <a:ext cx="6299200" cy="381000"/>
          </a:xfrm>
          <a:extLst>
            <a:ext uri="{91240B29-F687-4F45-9708-019B960494DF}">
              <a14:hiddenLine xmlns:a14="http://schemas.microsoft.com/office/drawing/2010/main" w="9525">
                <a:solidFill>
                  <a:schemeClr val="bg1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0" indent="0" algn="r">
              <a:buFont typeface="Wingdings" pitchFamily="2" charset="2"/>
              <a:buNone/>
              <a:defRPr sz="16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subtitle style</a:t>
            </a:r>
          </a:p>
        </p:txBody>
      </p:sp>
      <p:sp>
        <p:nvSpPr>
          <p:cNvPr id="3074" name="Rectangle 2"/>
          <p:cNvSpPr>
            <a:spLocks noGrp="1" noChangeArrowheads="1"/>
          </p:cNvSpPr>
          <p:nvPr>
            <p:ph type="ctrTitle"/>
          </p:nvPr>
        </p:nvSpPr>
        <p:spPr>
          <a:xfrm>
            <a:off x="3759200" y="2667000"/>
            <a:ext cx="7620000" cy="914400"/>
          </a:xfrm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 algn="r">
              <a:defRPr sz="4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noProof="0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blipFill dpi="0" rotWithShape="0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625600" y="6629400"/>
            <a:ext cx="1828800" cy="228600"/>
          </a:xfrm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4673600" y="6629400"/>
            <a:ext cx="1320800" cy="228600"/>
          </a:xfrm>
        </p:spPr>
        <p:txBody>
          <a:bodyPr/>
          <a:lstStyle>
            <a:lvl1pPr>
              <a:defRPr/>
            </a:lvl1pPr>
          </a:lstStyle>
          <a:p>
            <a:fld id="{4CABA248-E004-490A-87A7-AF5AE6C8CF6F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62404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ltGray">
      <p:bgPr>
        <a:blipFill dpi="0" rotWithShape="0">
          <a:blip r:embed="rId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03" name="Group 79"/>
          <p:cNvGrpSpPr>
            <a:grpSpLocks/>
          </p:cNvGrpSpPr>
          <p:nvPr/>
        </p:nvGrpSpPr>
        <p:grpSpPr bwMode="auto">
          <a:xfrm>
            <a:off x="914400" y="685800"/>
            <a:ext cx="11277600" cy="260350"/>
            <a:chOff x="2448" y="384"/>
            <a:chExt cx="3312" cy="212"/>
          </a:xfrm>
        </p:grpSpPr>
        <p:sp>
          <p:nvSpPr>
            <p:cNvPr id="1101" name="Rectangle 77"/>
            <p:cNvSpPr>
              <a:spLocks noChangeArrowheads="1"/>
            </p:cNvSpPr>
            <p:nvPr userDrawn="1"/>
          </p:nvSpPr>
          <p:spPr bwMode="gray">
            <a:xfrm>
              <a:off x="2448" y="384"/>
              <a:ext cx="3312" cy="96"/>
            </a:xfrm>
            <a:prstGeom prst="rect">
              <a:avLst/>
            </a:prstGeom>
            <a:gradFill rotWithShape="1">
              <a:gsLst>
                <a:gs pos="0">
                  <a:srgbClr val="969696">
                    <a:gamma/>
                    <a:tint val="0"/>
                    <a:invGamma/>
                    <a:alpha val="0"/>
                  </a:srgbClr>
                </a:gs>
                <a:gs pos="100000">
                  <a:srgbClr val="969696">
                    <a:alpha val="27000"/>
                  </a:srgbClr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102" name="Rectangle 78"/>
            <p:cNvSpPr>
              <a:spLocks noChangeArrowheads="1"/>
            </p:cNvSpPr>
            <p:nvPr userDrawn="1"/>
          </p:nvSpPr>
          <p:spPr bwMode="gray">
            <a:xfrm>
              <a:off x="2448" y="500"/>
              <a:ext cx="3312" cy="96"/>
            </a:xfrm>
            <a:prstGeom prst="rect">
              <a:avLst/>
            </a:prstGeom>
            <a:gradFill rotWithShape="1">
              <a:gsLst>
                <a:gs pos="0">
                  <a:srgbClr val="969696">
                    <a:gamma/>
                    <a:tint val="0"/>
                    <a:invGamma/>
                    <a:alpha val="0"/>
                  </a:srgbClr>
                </a:gs>
                <a:gs pos="100000">
                  <a:srgbClr val="969696">
                    <a:alpha val="27000"/>
                  </a:srgbClr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</p:grp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508000" y="1295400"/>
            <a:ext cx="11074400" cy="4724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dt" sz="half" idx="2"/>
          </p:nvPr>
        </p:nvSpPr>
        <p:spPr bwMode="white">
          <a:xfrm>
            <a:off x="1625600" y="6622078"/>
            <a:ext cx="1930400" cy="228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white">
          <a:xfrm>
            <a:off x="11250705" y="6619253"/>
            <a:ext cx="965200" cy="228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200">
                <a:solidFill>
                  <a:schemeClr val="bg1"/>
                </a:solidFill>
              </a:defRPr>
            </a:lvl1pPr>
          </a:lstStyle>
          <a:p>
            <a:fld id="{B608ACBE-18DD-4A3E-988B-5FCF99E57120}" type="slidenum">
              <a:rPr lang="en-US"/>
              <a:pPr/>
              <a:t>‹#›</a:t>
            </a:fld>
            <a:endParaRPr lang="en-US"/>
          </a:p>
        </p:txBody>
      </p:sp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1219200" y="457201"/>
            <a:ext cx="10058400" cy="563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bg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53882" dir="2700000" algn="ctr" rotWithShape="0">
                    <a:schemeClr val="bg2">
                      <a:alpha val="50000"/>
                    </a:schemeClr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grpSp>
        <p:nvGrpSpPr>
          <p:cNvPr id="1097" name="Group 73"/>
          <p:cNvGrpSpPr>
            <a:grpSpLocks/>
          </p:cNvGrpSpPr>
          <p:nvPr/>
        </p:nvGrpSpPr>
        <p:grpSpPr bwMode="auto">
          <a:xfrm>
            <a:off x="480484" y="457200"/>
            <a:ext cx="711200" cy="609600"/>
            <a:chOff x="4128" y="1920"/>
            <a:chExt cx="1010" cy="1104"/>
          </a:xfrm>
        </p:grpSpPr>
        <p:sp>
          <p:nvSpPr>
            <p:cNvPr id="1093" name="Freeform 69"/>
            <p:cNvSpPr>
              <a:spLocks/>
            </p:cNvSpPr>
            <p:nvPr userDrawn="1"/>
          </p:nvSpPr>
          <p:spPr bwMode="gray">
            <a:xfrm>
              <a:off x="4128" y="1920"/>
              <a:ext cx="528" cy="530"/>
            </a:xfrm>
            <a:custGeom>
              <a:avLst/>
              <a:gdLst>
                <a:gd name="T0" fmla="*/ 0 w 528"/>
                <a:gd name="T1" fmla="*/ 0 h 530"/>
                <a:gd name="T2" fmla="*/ 0 w 528"/>
                <a:gd name="T3" fmla="*/ 192 h 530"/>
                <a:gd name="T4" fmla="*/ 340 w 528"/>
                <a:gd name="T5" fmla="*/ 530 h 530"/>
                <a:gd name="T6" fmla="*/ 528 w 528"/>
                <a:gd name="T7" fmla="*/ 528 h 530"/>
                <a:gd name="T8" fmla="*/ 528 w 528"/>
                <a:gd name="T9" fmla="*/ 336 h 530"/>
                <a:gd name="T10" fmla="*/ 196 w 528"/>
                <a:gd name="T11" fmla="*/ 0 h 530"/>
                <a:gd name="T12" fmla="*/ 0 w 528"/>
                <a:gd name="T13" fmla="*/ 0 h 5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528" h="530">
                  <a:moveTo>
                    <a:pt x="0" y="0"/>
                  </a:moveTo>
                  <a:lnTo>
                    <a:pt x="0" y="192"/>
                  </a:lnTo>
                  <a:lnTo>
                    <a:pt x="340" y="530"/>
                  </a:lnTo>
                  <a:lnTo>
                    <a:pt x="528" y="528"/>
                  </a:lnTo>
                  <a:lnTo>
                    <a:pt x="528" y="336"/>
                  </a:lnTo>
                  <a:lnTo>
                    <a:pt x="19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94" name="Freeform 70"/>
            <p:cNvSpPr>
              <a:spLocks/>
            </p:cNvSpPr>
            <p:nvPr userDrawn="1"/>
          </p:nvSpPr>
          <p:spPr bwMode="gray">
            <a:xfrm rot="5400000">
              <a:off x="4129" y="2495"/>
              <a:ext cx="528" cy="530"/>
            </a:xfrm>
            <a:custGeom>
              <a:avLst/>
              <a:gdLst>
                <a:gd name="T0" fmla="*/ 0 w 528"/>
                <a:gd name="T1" fmla="*/ 0 h 530"/>
                <a:gd name="T2" fmla="*/ 0 w 528"/>
                <a:gd name="T3" fmla="*/ 192 h 530"/>
                <a:gd name="T4" fmla="*/ 340 w 528"/>
                <a:gd name="T5" fmla="*/ 530 h 530"/>
                <a:gd name="T6" fmla="*/ 528 w 528"/>
                <a:gd name="T7" fmla="*/ 528 h 530"/>
                <a:gd name="T8" fmla="*/ 528 w 528"/>
                <a:gd name="T9" fmla="*/ 336 h 530"/>
                <a:gd name="T10" fmla="*/ 196 w 528"/>
                <a:gd name="T11" fmla="*/ 0 h 530"/>
                <a:gd name="T12" fmla="*/ 0 w 528"/>
                <a:gd name="T13" fmla="*/ 0 h 5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528" h="530">
                  <a:moveTo>
                    <a:pt x="0" y="0"/>
                  </a:moveTo>
                  <a:lnTo>
                    <a:pt x="0" y="192"/>
                  </a:lnTo>
                  <a:lnTo>
                    <a:pt x="340" y="530"/>
                  </a:lnTo>
                  <a:lnTo>
                    <a:pt x="528" y="528"/>
                  </a:lnTo>
                  <a:lnTo>
                    <a:pt x="528" y="336"/>
                  </a:lnTo>
                  <a:lnTo>
                    <a:pt x="19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95" name="Freeform 71"/>
            <p:cNvSpPr>
              <a:spLocks/>
            </p:cNvSpPr>
            <p:nvPr userDrawn="1"/>
          </p:nvSpPr>
          <p:spPr bwMode="gray">
            <a:xfrm>
              <a:off x="4608" y="1920"/>
              <a:ext cx="528" cy="530"/>
            </a:xfrm>
            <a:custGeom>
              <a:avLst/>
              <a:gdLst>
                <a:gd name="T0" fmla="*/ 0 w 528"/>
                <a:gd name="T1" fmla="*/ 0 h 530"/>
                <a:gd name="T2" fmla="*/ 0 w 528"/>
                <a:gd name="T3" fmla="*/ 192 h 530"/>
                <a:gd name="T4" fmla="*/ 340 w 528"/>
                <a:gd name="T5" fmla="*/ 530 h 530"/>
                <a:gd name="T6" fmla="*/ 528 w 528"/>
                <a:gd name="T7" fmla="*/ 528 h 530"/>
                <a:gd name="T8" fmla="*/ 528 w 528"/>
                <a:gd name="T9" fmla="*/ 336 h 530"/>
                <a:gd name="T10" fmla="*/ 196 w 528"/>
                <a:gd name="T11" fmla="*/ 0 h 530"/>
                <a:gd name="T12" fmla="*/ 0 w 528"/>
                <a:gd name="T13" fmla="*/ 0 h 5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528" h="530">
                  <a:moveTo>
                    <a:pt x="0" y="0"/>
                  </a:moveTo>
                  <a:lnTo>
                    <a:pt x="0" y="192"/>
                  </a:lnTo>
                  <a:lnTo>
                    <a:pt x="340" y="530"/>
                  </a:lnTo>
                  <a:lnTo>
                    <a:pt x="528" y="528"/>
                  </a:lnTo>
                  <a:lnTo>
                    <a:pt x="528" y="336"/>
                  </a:lnTo>
                  <a:lnTo>
                    <a:pt x="19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96" name="Freeform 72"/>
            <p:cNvSpPr>
              <a:spLocks/>
            </p:cNvSpPr>
            <p:nvPr userDrawn="1"/>
          </p:nvSpPr>
          <p:spPr bwMode="gray">
            <a:xfrm rot="5400000">
              <a:off x="4609" y="2495"/>
              <a:ext cx="528" cy="530"/>
            </a:xfrm>
            <a:custGeom>
              <a:avLst/>
              <a:gdLst>
                <a:gd name="T0" fmla="*/ 0 w 528"/>
                <a:gd name="T1" fmla="*/ 0 h 530"/>
                <a:gd name="T2" fmla="*/ 0 w 528"/>
                <a:gd name="T3" fmla="*/ 192 h 530"/>
                <a:gd name="T4" fmla="*/ 340 w 528"/>
                <a:gd name="T5" fmla="*/ 530 h 530"/>
                <a:gd name="T6" fmla="*/ 528 w 528"/>
                <a:gd name="T7" fmla="*/ 528 h 530"/>
                <a:gd name="T8" fmla="*/ 528 w 528"/>
                <a:gd name="T9" fmla="*/ 336 h 530"/>
                <a:gd name="T10" fmla="*/ 196 w 528"/>
                <a:gd name="T11" fmla="*/ 0 h 530"/>
                <a:gd name="T12" fmla="*/ 0 w 528"/>
                <a:gd name="T13" fmla="*/ 0 h 5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528" h="530">
                  <a:moveTo>
                    <a:pt x="0" y="0"/>
                  </a:moveTo>
                  <a:lnTo>
                    <a:pt x="0" y="192"/>
                  </a:lnTo>
                  <a:lnTo>
                    <a:pt x="340" y="530"/>
                  </a:lnTo>
                  <a:lnTo>
                    <a:pt x="528" y="528"/>
                  </a:lnTo>
                  <a:lnTo>
                    <a:pt x="528" y="336"/>
                  </a:lnTo>
                  <a:lnTo>
                    <a:pt x="19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5" name="TextBox 14"/>
          <p:cNvSpPr txBox="1"/>
          <p:nvPr userDrawn="1"/>
        </p:nvSpPr>
        <p:spPr>
          <a:xfrm>
            <a:off x="5689600" y="6465366"/>
            <a:ext cx="55372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b="1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HCMC</a:t>
            </a:r>
            <a:r>
              <a:rPr lang="en-US" sz="14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en-US" sz="1400" b="1" baseline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University of Technology and Education</a:t>
            </a:r>
            <a:endParaRPr lang="en-US" sz="1400" b="1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2800" b="1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2800" b="1">
          <a:solidFill>
            <a:schemeClr val="tx2"/>
          </a:solidFill>
          <a:latin typeface="Arial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2800" b="1">
          <a:solidFill>
            <a:schemeClr val="tx2"/>
          </a:solidFill>
          <a:latin typeface="Arial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2800" b="1">
          <a:solidFill>
            <a:schemeClr val="tx2"/>
          </a:solidFill>
          <a:latin typeface="Arial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2800" b="1">
          <a:solidFill>
            <a:schemeClr val="tx2"/>
          </a:solidFill>
          <a:latin typeface="Arial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2800" b="1">
          <a:solidFill>
            <a:schemeClr val="tx2"/>
          </a:solidFill>
          <a:latin typeface="Arial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2800" b="1">
          <a:solidFill>
            <a:schemeClr val="tx2"/>
          </a:solidFill>
          <a:latin typeface="Arial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2800" b="1">
          <a:solidFill>
            <a:schemeClr val="tx2"/>
          </a:solidFill>
          <a:latin typeface="Arial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2800" b="1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chemeClr val="tx2"/>
        </a:buClr>
        <a:buFont typeface="Wingdings" pitchFamily="2" charset="2"/>
        <a:buChar char="§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Font typeface="Wingdings" pitchFamily="2" charset="2"/>
        <a:buChar char="§"/>
        <a:defRPr sz="2400">
          <a:solidFill>
            <a:schemeClr val="tx1"/>
          </a:solidFill>
          <a:latin typeface="+mn-lt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Char char="•"/>
        <a:defRPr sz="2000">
          <a:solidFill>
            <a:schemeClr val="tx1"/>
          </a:solidFill>
          <a:latin typeface="+mn-lt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har char="–"/>
        <a:defRPr>
          <a:solidFill>
            <a:schemeClr val="tx1"/>
          </a:solidFill>
          <a:latin typeface="+mn-lt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hyperlink" Target="https://github.com/giunzz/mobile_project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kaggle.com/datasets/bhavikjikadara/dog-and-cat-classification-dataset/data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 bwMode="ltGray">
      <p:bgPr>
        <a:blipFill dpi="0" rotWithShape="0">
          <a:blip r:embed="rId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08" name="Rectangle 4"/>
          <p:cNvSpPr>
            <a:spLocks noGrp="1" noChangeArrowheads="1"/>
          </p:cNvSpPr>
          <p:nvPr>
            <p:ph type="ctrTitle"/>
          </p:nvPr>
        </p:nvSpPr>
        <p:spPr>
          <a:xfrm>
            <a:off x="3200400" y="2143115"/>
            <a:ext cx="8610600" cy="1752599"/>
          </a:xfrm>
        </p:spPr>
        <p:txBody>
          <a:bodyPr/>
          <a:lstStyle/>
          <a:p>
            <a:r>
              <a:rPr lang="en-US">
                <a:solidFill>
                  <a:srgbClr val="FF0000"/>
                </a:solidFill>
              </a:rPr>
              <a:t>Môn: Phát triển ứng dụng di động</a:t>
            </a:r>
            <a:br>
              <a:rPr lang="en-US">
                <a:solidFill>
                  <a:srgbClr val="FF0000"/>
                </a:solidFill>
              </a:rPr>
            </a:br>
            <a:r>
              <a:rPr lang="en-US">
                <a:solidFill>
                  <a:srgbClr val="FF0000"/>
                </a:solidFill>
              </a:rPr>
              <a:t>(Tuần 4 – Viết cuốn báo cáo)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72710" name="Text Box 6"/>
          <p:cNvSpPr txBox="1">
            <a:spLocks noChangeArrowheads="1"/>
          </p:cNvSpPr>
          <p:nvPr/>
        </p:nvSpPr>
        <p:spPr bwMode="auto">
          <a:xfrm>
            <a:off x="6852979" y="3864320"/>
            <a:ext cx="3265638" cy="4912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2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>
              <a:lnSpc>
                <a:spcPct val="150000"/>
              </a:lnSpc>
            </a:pPr>
            <a:r>
              <a:rPr lang="en-US" sz="2000" b="1">
                <a:solidFill>
                  <a:schemeClr val="accent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Guide: </a:t>
            </a:r>
            <a:r>
              <a:rPr lang="en-US" sz="2000" b="1" dirty="0" err="1">
                <a:solidFill>
                  <a:schemeClr val="accent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Huỳnh</a:t>
            </a:r>
            <a:r>
              <a:rPr lang="en-US" sz="2000" b="1">
                <a:solidFill>
                  <a:schemeClr val="accent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Hoàng Hà</a:t>
            </a:r>
            <a:endParaRPr lang="en-US" sz="2000" b="1" dirty="0">
              <a:solidFill>
                <a:schemeClr val="accent2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pic>
        <p:nvPicPr>
          <p:cNvPr id="5" name="Hình ảnh 4">
            <a:extLst>
              <a:ext uri="{FF2B5EF4-FFF2-40B4-BE49-F238E27FC236}">
                <a16:creationId xmlns:a16="http://schemas.microsoft.com/office/drawing/2014/main" id="{F6F2E0B4-01DD-EDA6-127D-3B979E1539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175259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0FA2BC7-3D15-4008-93F5-9AF4CD66E5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087" y="273581"/>
            <a:ext cx="11887200" cy="65844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48872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436A3E-140F-4D7F-BC63-99920247FE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1. Mô hình tổng quát</a:t>
            </a:r>
          </a:p>
        </p:txBody>
      </p:sp>
      <p:pic>
        <p:nvPicPr>
          <p:cNvPr id="8" name="Google Shape;44;p2">
            <a:extLst>
              <a:ext uri="{FF2B5EF4-FFF2-40B4-BE49-F238E27FC236}">
                <a16:creationId xmlns:a16="http://schemas.microsoft.com/office/drawing/2014/main" id="{B9D72842-4B88-4795-92A1-64DEC2EC992A}"/>
              </a:ext>
            </a:extLst>
          </p:cNvPr>
          <p:cNvPicPr preferRelativeResize="0">
            <a:picLocks noGrp="1"/>
          </p:cNvPicPr>
          <p:nvPr>
            <p:ph idx="1"/>
          </p:nvPr>
        </p:nvPicPr>
        <p:blipFill>
          <a:blip r:embed="rId2">
            <a:alphaModFix/>
          </a:blip>
          <a:stretch>
            <a:fillRect/>
          </a:stretch>
        </p:blipFill>
        <p:spPr>
          <a:xfrm>
            <a:off x="2403149" y="1219200"/>
            <a:ext cx="7385702" cy="47244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953102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3"/>
          <p:cNvSpPr txBox="1">
            <a:spLocks noGrp="1"/>
          </p:cNvSpPr>
          <p:nvPr>
            <p:ph type="title"/>
          </p:nvPr>
        </p:nvSpPr>
        <p:spPr>
          <a:xfrm>
            <a:off x="1219200" y="457201"/>
            <a:ext cx="10058400" cy="563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2. Chức năng Mobile App </a:t>
            </a:r>
            <a:endParaRPr/>
          </a:p>
        </p:txBody>
      </p:sp>
      <p:pic>
        <p:nvPicPr>
          <p:cNvPr id="50" name="Google Shape;50;p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173175"/>
            <a:ext cx="11887199" cy="45509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B3062A-B583-4BF2-B6BF-0593EEBF68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2. Report mỗi tuần ( </a:t>
            </a:r>
            <a:r>
              <a:rPr lang="en-US">
                <a:solidFill>
                  <a:srgbClr val="FF0000"/>
                </a:solidFill>
                <a:sym typeface="Wingdings" panose="05000000000000000000" pitchFamily="2" charset="2"/>
              </a:rPr>
              <a:t></a:t>
            </a:r>
            <a:r>
              <a:rPr lang="en-US">
                <a:solidFill>
                  <a:srgbClr val="FF0000"/>
                </a:solidFill>
              </a:rPr>
              <a:t> đồng bộ lên github </a:t>
            </a:r>
            <a:r>
              <a:rPr lang="en-US">
                <a:solidFill>
                  <a:srgbClr val="FF0000"/>
                </a:solidFill>
                <a:sym typeface="Wingdings" panose="05000000000000000000" pitchFamily="2" charset="2"/>
              </a:rPr>
              <a:t> Nộp utex</a:t>
            </a:r>
            <a:r>
              <a:rPr lang="en-US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55E681-6D67-4CD4-8AC0-AD826623E5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Gồm:</a:t>
            </a:r>
          </a:p>
          <a:p>
            <a:r>
              <a:rPr lang="en-US"/>
              <a:t>Github:</a:t>
            </a:r>
            <a:r>
              <a:rPr lang="en-US">
                <a:hlinkClick r:id="rId2"/>
              </a:rPr>
              <a:t>giunzz/mobile_project</a:t>
            </a:r>
            <a:endParaRPr lang="en-US"/>
          </a:p>
          <a:p>
            <a:r>
              <a:rPr lang="en-US"/>
              <a:t>File word: tổng kết</a:t>
            </a:r>
          </a:p>
          <a:p>
            <a:pPr marL="0" indent="0">
              <a:buNone/>
            </a:pPr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6333469-82A0-44EE-8FAA-B2BE8C129D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07334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B3062A-B583-4BF2-B6BF-0593EEBF68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3. Lưu đồ thuật toán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72A2B2C4-88E7-4289-BDCF-B5A9031928C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90600" y="1066800"/>
            <a:ext cx="2833212" cy="4724400"/>
          </a:xfr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1C39036-6D6F-4742-A584-80AC7D1363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3585" y="1020764"/>
            <a:ext cx="3177815" cy="508298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F926D0A-40D5-44CE-9D72-888A56FC4B86}"/>
              </a:ext>
            </a:extLst>
          </p:cNvPr>
          <p:cNvSpPr txBox="1"/>
          <p:nvPr/>
        </p:nvSpPr>
        <p:spPr>
          <a:xfrm>
            <a:off x="4455735" y="1261161"/>
            <a:ext cx="403938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>
                <a:effectLst/>
              </a:rPr>
              <a:t>Hình 2: </a:t>
            </a:r>
            <a:r>
              <a:rPr lang="vi-VN" b="0" i="0">
                <a:effectLst/>
              </a:rPr>
              <a:t>Lưu đồ điều khiển cấp thức ăn dựa trên phản hồi khối lượng</a:t>
            </a:r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3A3CCBE-1055-41D2-B304-CD577AE3AB8C}"/>
              </a:ext>
            </a:extLst>
          </p:cNvPr>
          <p:cNvSpPr txBox="1"/>
          <p:nvPr/>
        </p:nvSpPr>
        <p:spPr>
          <a:xfrm>
            <a:off x="381000" y="5919078"/>
            <a:ext cx="60944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 b="0" i="0">
                <a:effectLst/>
              </a:rPr>
              <a:t>Hình 1: . Lưu đồ thuật toán cấp thức ăn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70370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B3062A-B583-4BF2-B6BF-0593EEBF68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4. Edge AI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7E3D7437-29CF-43A9-9A4E-F120187720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1295400"/>
            <a:ext cx="11074400" cy="4724400"/>
          </a:xfrm>
        </p:spPr>
        <p:txBody>
          <a:bodyPr/>
          <a:lstStyle/>
          <a:p>
            <a:pPr marL="0" indent="0">
              <a:buNone/>
            </a:pPr>
            <a:r>
              <a:rPr lang="en-US"/>
              <a:t>Edge AI literature review</a:t>
            </a:r>
          </a:p>
          <a:p>
            <a:r>
              <a:rPr lang="en-US"/>
              <a:t>Cats and Dogs Classification Dataset: </a:t>
            </a:r>
            <a:r>
              <a:rPr lang="en-US">
                <a:hlinkClick r:id="rId2"/>
              </a:rPr>
              <a:t>https://www.kaggle.com/datasets/bhavikjikadara/dog-and-cat-classification-dataset/data</a:t>
            </a:r>
            <a:r>
              <a:rPr lang="en-US"/>
              <a:t> </a:t>
            </a:r>
          </a:p>
          <a:p>
            <a:r>
              <a:rPr kumimoji="0" lang="en-US" altLang="en-US" sz="16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Bộ dữ liệu hiện tại gồm 24.998 ảnh có nhãn, cân bằng hoàn toàn giữa hai lớp. Việc chia tập được thực hiện stratified theo lớp với seed = 42. Test được khóa trong giai đoạn chọn kiến trúc và hyperparameter; chỉ được mở một lần sau khi toàn bộ quyết định mô hình đã cố định.</a:t>
            </a:r>
            <a:endParaRPr kumimoji="0" lang="en-US" altLang="en-US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288925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40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endParaRPr lang="en-US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4FF63F1-CB56-4A16-B4D2-5AE945411FE2}"/>
              </a:ext>
            </a:extLst>
          </p:cNvPr>
          <p:cNvGraphicFramePr>
            <a:graphicFrameLocks noGrp="1"/>
          </p:cNvGraphicFramePr>
          <p:nvPr/>
        </p:nvGraphicFramePr>
        <p:xfrm>
          <a:off x="4724400" y="3914829"/>
          <a:ext cx="6083935" cy="2306447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080135">
                  <a:extLst>
                    <a:ext uri="{9D8B030D-6E8A-4147-A177-3AD203B41FA5}">
                      <a16:colId xmlns:a16="http://schemas.microsoft.com/office/drawing/2014/main" val="1859991774"/>
                    </a:ext>
                  </a:extLst>
                </a:gridCol>
                <a:gridCol w="791845">
                  <a:extLst>
                    <a:ext uri="{9D8B030D-6E8A-4147-A177-3AD203B41FA5}">
                      <a16:colId xmlns:a16="http://schemas.microsoft.com/office/drawing/2014/main" val="4163936885"/>
                    </a:ext>
                  </a:extLst>
                </a:gridCol>
                <a:gridCol w="791845">
                  <a:extLst>
                    <a:ext uri="{9D8B030D-6E8A-4147-A177-3AD203B41FA5}">
                      <a16:colId xmlns:a16="http://schemas.microsoft.com/office/drawing/2014/main" val="4202057805"/>
                    </a:ext>
                  </a:extLst>
                </a:gridCol>
                <a:gridCol w="899795">
                  <a:extLst>
                    <a:ext uri="{9D8B030D-6E8A-4147-A177-3AD203B41FA5}">
                      <a16:colId xmlns:a16="http://schemas.microsoft.com/office/drawing/2014/main" val="1796371697"/>
                    </a:ext>
                  </a:extLst>
                </a:gridCol>
                <a:gridCol w="2520315">
                  <a:extLst>
                    <a:ext uri="{9D8B030D-6E8A-4147-A177-3AD203B41FA5}">
                      <a16:colId xmlns:a16="http://schemas.microsoft.com/office/drawing/2014/main" val="282655327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Tập</a:t>
                      </a:r>
                      <a:endParaRPr lang="en-US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7150" marR="57150" marT="50800" marB="50800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Cat</a:t>
                      </a:r>
                      <a:endParaRPr lang="en-US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7150" marR="57150" marT="50800" marB="50800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Dog</a:t>
                      </a:r>
                      <a:endParaRPr lang="en-US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7150" marR="57150" marT="50800" marB="50800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Tổng</a:t>
                      </a:r>
                      <a:endParaRPr lang="en-US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7150" marR="57150" marT="50800" marB="50800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Vai trò</a:t>
                      </a:r>
                      <a:endParaRPr lang="en-US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7150" marR="57150" marT="50800" marB="50800" anchor="ctr"/>
                </a:tc>
                <a:extLst>
                  <a:ext uri="{0D108BD9-81ED-4DB2-BD59-A6C34878D82A}">
                    <a16:rowId xmlns:a16="http://schemas.microsoft.com/office/drawing/2014/main" val="25455668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Train</a:t>
                      </a:r>
                      <a:endParaRPr lang="en-US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75" marR="53975" marT="44450" marB="4445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9.999</a:t>
                      </a:r>
                      <a:endParaRPr lang="en-US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75" marR="53975" marT="44450" marB="4445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9.999</a:t>
                      </a:r>
                      <a:endParaRPr lang="en-US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75" marR="53975" marT="44450" marB="4445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19.998</a:t>
                      </a:r>
                      <a:endParaRPr lang="en-US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75" marR="53975" marT="44450" marB="4445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Tối ưu tham số mô hình.</a:t>
                      </a:r>
                      <a:endParaRPr lang="en-US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75" marR="53975" marT="44450" marB="44450" anchor="ctr"/>
                </a:tc>
                <a:extLst>
                  <a:ext uri="{0D108BD9-81ED-4DB2-BD59-A6C34878D82A}">
                    <a16:rowId xmlns:a16="http://schemas.microsoft.com/office/drawing/2014/main" val="305618995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Validation</a:t>
                      </a:r>
                      <a:endParaRPr lang="en-US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75" marR="53975" marT="44450" marB="4445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1.250</a:t>
                      </a:r>
                      <a:endParaRPr lang="en-US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75" marR="53975" marT="44450" marB="4445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1.250</a:t>
                      </a:r>
                      <a:endParaRPr lang="en-US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75" marR="53975" marT="44450" marB="4445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2.500</a:t>
                      </a:r>
                      <a:endParaRPr lang="en-US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75" marR="53975" marT="44450" marB="4445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Chọn checkpoint, early stopping, ablation.</a:t>
                      </a:r>
                      <a:endParaRPr lang="en-US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75" marR="53975" marT="44450" marB="44450" anchor="ctr"/>
                </a:tc>
                <a:extLst>
                  <a:ext uri="{0D108BD9-81ED-4DB2-BD59-A6C34878D82A}">
                    <a16:rowId xmlns:a16="http://schemas.microsoft.com/office/drawing/2014/main" val="17933750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Test</a:t>
                      </a:r>
                      <a:endParaRPr lang="en-US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75" marR="53975" marT="44450" marB="4445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1.250</a:t>
                      </a:r>
                      <a:endParaRPr lang="en-US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75" marR="53975" marT="44450" marB="4445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1.250</a:t>
                      </a:r>
                      <a:endParaRPr lang="en-US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75" marR="53975" marT="44450" marB="4445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2.500</a:t>
                      </a:r>
                      <a:endParaRPr lang="en-US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75" marR="53975" marT="44450" marB="4445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Đánh giá cuối cùng; không dùng để tuning.</a:t>
                      </a:r>
                      <a:endParaRPr lang="en-US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75" marR="53975" marT="44450" marB="44450" anchor="ctr"/>
                </a:tc>
                <a:extLst>
                  <a:ext uri="{0D108BD9-81ED-4DB2-BD59-A6C34878D82A}">
                    <a16:rowId xmlns:a16="http://schemas.microsoft.com/office/drawing/2014/main" val="31014855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Tổng</a:t>
                      </a:r>
                      <a:endParaRPr lang="en-US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75" marR="53975" marT="44450" marB="4445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12.499</a:t>
                      </a:r>
                      <a:endParaRPr lang="en-US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75" marR="53975" marT="44450" marB="4445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12.499</a:t>
                      </a:r>
                      <a:endParaRPr lang="en-US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75" marR="53975" marT="44450" marB="4445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24.998</a:t>
                      </a:r>
                      <a:endParaRPr lang="en-US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75" marR="53975" marT="44450" marB="4445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Dữ liệu có nhãn.</a:t>
                      </a:r>
                      <a:endParaRPr lang="en-US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75" marR="53975" marT="44450" marB="44450" anchor="ctr"/>
                </a:tc>
                <a:extLst>
                  <a:ext uri="{0D108BD9-81ED-4DB2-BD59-A6C34878D82A}">
                    <a16:rowId xmlns:a16="http://schemas.microsoft.com/office/drawing/2014/main" val="36512154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889925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7E3D7437-29CF-43A9-9A4E-F120187720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8601" y="1020764"/>
            <a:ext cx="3073400" cy="1524000"/>
          </a:xfrm>
        </p:spPr>
        <p:txBody>
          <a:bodyPr/>
          <a:lstStyle/>
          <a:p>
            <a:pPr marL="0" indent="0">
              <a:buNone/>
            </a:pPr>
            <a:r>
              <a:rPr lang="en-US"/>
              <a:t>Propose Model</a:t>
            </a:r>
          </a:p>
          <a:p>
            <a:pPr marL="0" indent="0">
              <a:buNone/>
            </a:pPr>
            <a:r>
              <a:rPr lang="en-US" sz="180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SSR-UnrollNet-S3 (Shared-Specific Sparse Unrolling Network for ESP32-S3). </a:t>
            </a:r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AD6C97C-2295-4BB8-BACE-7337CF7E26ED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3048000" y="1020764"/>
            <a:ext cx="8915399" cy="516381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DF03A4C-64FC-4716-8E10-F9D4D858BE59}"/>
              </a:ext>
            </a:extLst>
          </p:cNvPr>
          <p:cNvSpPr txBox="1"/>
          <p:nvPr/>
        </p:nvSpPr>
        <p:spPr>
          <a:xfrm>
            <a:off x="304800" y="2499808"/>
            <a:ext cx="27432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Kết quả validation sơ bộ của student có KD đạt Accuracy = 94,04% và Macro-F1 = 93,08% với 20.607 tham số và 10,284M MACs</a:t>
            </a:r>
            <a:endParaRPr lang="en-US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89603A60-5844-4073-8B5E-FA4BCF24423F}"/>
              </a:ext>
            </a:extLst>
          </p:cNvPr>
          <p:cNvGraphicFramePr>
            <a:graphicFrameLocks noGrp="1"/>
          </p:cNvGraphicFramePr>
          <p:nvPr/>
        </p:nvGraphicFramePr>
        <p:xfrm>
          <a:off x="-3733800" y="2707317"/>
          <a:ext cx="3240405" cy="3512825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080135">
                  <a:extLst>
                    <a:ext uri="{9D8B030D-6E8A-4147-A177-3AD203B41FA5}">
                      <a16:colId xmlns:a16="http://schemas.microsoft.com/office/drawing/2014/main" val="753416517"/>
                    </a:ext>
                  </a:extLst>
                </a:gridCol>
                <a:gridCol w="2160270">
                  <a:extLst>
                    <a:ext uri="{9D8B030D-6E8A-4147-A177-3AD203B41FA5}">
                      <a16:colId xmlns:a16="http://schemas.microsoft.com/office/drawing/2014/main" val="21699397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>
                          <a:effectLst/>
                        </a:rPr>
                        <a:t>Cơ chế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7150" marR="57150" marT="50800" marB="50800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>
                          <a:effectLst/>
                        </a:rPr>
                        <a:t>Thiết lập / nguyên tắc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7150" marR="57150" marT="50800" marB="50800" anchor="ctr"/>
                </a:tc>
                <a:extLst>
                  <a:ext uri="{0D108BD9-81ED-4DB2-BD59-A6C34878D82A}">
                    <a16:rowId xmlns:a16="http://schemas.microsoft.com/office/drawing/2014/main" val="33937468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>
                          <a:effectLst/>
                        </a:rPr>
                        <a:t>Stratified split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75" marR="53975" marT="44450" marB="4445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>
                          <a:effectLst/>
                        </a:rPr>
                        <a:t>80/10/10, seed 42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75" marR="53975" marT="44450" marB="44450" anchor="ctr"/>
                </a:tc>
                <a:extLst>
                  <a:ext uri="{0D108BD9-81ED-4DB2-BD59-A6C34878D82A}">
                    <a16:rowId xmlns:a16="http://schemas.microsoft.com/office/drawing/2014/main" val="20276338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>
                          <a:effectLst/>
                        </a:rPr>
                        <a:t>Test lock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75" marR="53975" marT="44450" marB="4445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>
                          <a:effectLst/>
                        </a:rPr>
                        <a:t>Không đánh giá test trong model selection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75" marR="53975" marT="44450" marB="44450" anchor="ctr"/>
                </a:tc>
                <a:extLst>
                  <a:ext uri="{0D108BD9-81ED-4DB2-BD59-A6C34878D82A}">
                    <a16:rowId xmlns:a16="http://schemas.microsoft.com/office/drawing/2014/main" val="11713883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>
                          <a:effectLst/>
                        </a:rPr>
                        <a:t>Augmentation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75" marR="53975" marT="44450" marB="4445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>
                          <a:effectLst/>
                        </a:rPr>
                        <a:t>Crop, flip, jitter, rotation; erasing off ban đầu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75" marR="53975" marT="44450" marB="44450" anchor="ctr"/>
                </a:tc>
                <a:extLst>
                  <a:ext uri="{0D108BD9-81ED-4DB2-BD59-A6C34878D82A}">
                    <a16:rowId xmlns:a16="http://schemas.microsoft.com/office/drawing/2014/main" val="22193811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>
                          <a:effectLst/>
                        </a:rPr>
                        <a:t>Weight decay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75" marR="53975" marT="44450" marB="4445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>
                          <a:effectLst/>
                        </a:rPr>
                        <a:t>5e−4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75" marR="53975" marT="44450" marB="44450" anchor="ctr"/>
                </a:tc>
                <a:extLst>
                  <a:ext uri="{0D108BD9-81ED-4DB2-BD59-A6C34878D82A}">
                    <a16:rowId xmlns:a16="http://schemas.microsoft.com/office/drawing/2014/main" val="24387553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>
                          <a:effectLst/>
                        </a:rPr>
                        <a:t>Label smoothing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75" marR="53975" marT="44450" marB="4445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>
                          <a:effectLst/>
                        </a:rPr>
                        <a:t>0.05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75" marR="53975" marT="44450" marB="44450" anchor="ctr"/>
                </a:tc>
                <a:extLst>
                  <a:ext uri="{0D108BD9-81ED-4DB2-BD59-A6C34878D82A}">
                    <a16:rowId xmlns:a16="http://schemas.microsoft.com/office/drawing/2014/main" val="148405269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>
                          <a:effectLst/>
                        </a:rPr>
                        <a:t>EMA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75" marR="53975" marT="44450" marB="4445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>
                          <a:effectLst/>
                        </a:rPr>
                        <a:t>0.999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75" marR="53975" marT="44450" marB="44450" anchor="ctr"/>
                </a:tc>
                <a:extLst>
                  <a:ext uri="{0D108BD9-81ED-4DB2-BD59-A6C34878D82A}">
                    <a16:rowId xmlns:a16="http://schemas.microsoft.com/office/drawing/2014/main" val="207006839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>
                          <a:effectLst/>
                        </a:rPr>
                        <a:t>Early stopping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75" marR="53975" marT="44450" marB="4445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>
                          <a:effectLst/>
                        </a:rPr>
                        <a:t>Patience 8; min_delta 0.001 macro-F1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75" marR="53975" marT="44450" marB="44450" anchor="ctr"/>
                </a:tc>
                <a:extLst>
                  <a:ext uri="{0D108BD9-81ED-4DB2-BD59-A6C34878D82A}">
                    <a16:rowId xmlns:a16="http://schemas.microsoft.com/office/drawing/2014/main" val="30596113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>
                          <a:effectLst/>
                        </a:rPr>
                        <a:t>KD ramp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75" marR="53975" marT="44450" marB="4445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>
                          <a:effectLst/>
                        </a:rPr>
                        <a:t>Tăng dần KD weight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75" marR="53975" marT="44450" marB="44450" anchor="ctr"/>
                </a:tc>
                <a:extLst>
                  <a:ext uri="{0D108BD9-81ED-4DB2-BD59-A6C34878D82A}">
                    <a16:rowId xmlns:a16="http://schemas.microsoft.com/office/drawing/2014/main" val="12774921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>
                          <a:effectLst/>
                        </a:rPr>
                        <a:t>Numerical guard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75" marR="53975" marT="44450" marB="4445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>
                          <a:effectLst/>
                        </a:rPr>
                        <a:t>Margin FP32 + epsilon &gt;=1e−6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75" marR="53975" marT="44450" marB="44450" anchor="ctr"/>
                </a:tc>
                <a:extLst>
                  <a:ext uri="{0D108BD9-81ED-4DB2-BD59-A6C34878D82A}">
                    <a16:rowId xmlns:a16="http://schemas.microsoft.com/office/drawing/2014/main" val="3417597638"/>
                  </a:ext>
                </a:extLst>
              </a:tr>
            </a:tbl>
          </a:graphicData>
        </a:graphic>
      </p:graphicFrame>
      <p:sp>
        <p:nvSpPr>
          <p:cNvPr id="8" name="Title 1">
            <a:extLst>
              <a:ext uri="{FF2B5EF4-FFF2-40B4-BE49-F238E27FC236}">
                <a16:creationId xmlns:a16="http://schemas.microsoft.com/office/drawing/2014/main" id="{EFE3F1D7-2B52-42E9-AC1A-1EF9F2810C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457200"/>
            <a:ext cx="10058400" cy="563563"/>
          </a:xfrm>
        </p:spPr>
        <p:txBody>
          <a:bodyPr/>
          <a:lstStyle/>
          <a:p>
            <a:r>
              <a:rPr lang="en-US"/>
              <a:t>4. Edge AI</a:t>
            </a:r>
          </a:p>
        </p:txBody>
      </p:sp>
    </p:spTree>
    <p:extLst>
      <p:ext uri="{BB962C8B-B14F-4D97-AF65-F5344CB8AC3E}">
        <p14:creationId xmlns:p14="http://schemas.microsoft.com/office/powerpoint/2010/main" val="2188926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7E3D7437-29CF-43A9-9A4E-F120187720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8601" y="1020764"/>
            <a:ext cx="3073400" cy="1524000"/>
          </a:xfrm>
        </p:spPr>
        <p:txBody>
          <a:bodyPr/>
          <a:lstStyle/>
          <a:p>
            <a:pPr marL="0" indent="0">
              <a:buNone/>
            </a:pPr>
            <a:r>
              <a:rPr lang="en-US"/>
              <a:t>Propose Model</a:t>
            </a:r>
          </a:p>
          <a:p>
            <a:pPr marL="0" indent="0">
              <a:buNone/>
            </a:pPr>
            <a:r>
              <a:rPr lang="en-US" sz="180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SSR-UnrollNet-S3 (Shared-Specific Sparse Unrolling Network for ESP32-S3). </a:t>
            </a:r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DF03A4C-64FC-4716-8E10-F9D4D858BE59}"/>
              </a:ext>
            </a:extLst>
          </p:cNvPr>
          <p:cNvSpPr txBox="1"/>
          <p:nvPr/>
        </p:nvSpPr>
        <p:spPr>
          <a:xfrm>
            <a:off x="304800" y="2499808"/>
            <a:ext cx="27432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Kết quả validation sơ bộ của student có KD đạt Accuracy = 94,04% và Macro-F1 = 93,08% với 20.607 tham số và 10,284M MACs</a:t>
            </a:r>
            <a:endParaRPr lang="en-US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89603A60-5844-4073-8B5E-FA4BCF24423F}"/>
              </a:ext>
            </a:extLst>
          </p:cNvPr>
          <p:cNvGraphicFramePr>
            <a:graphicFrameLocks noGrp="1"/>
          </p:cNvGraphicFramePr>
          <p:nvPr/>
        </p:nvGraphicFramePr>
        <p:xfrm>
          <a:off x="3962400" y="3581400"/>
          <a:ext cx="6324600" cy="259271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108200">
                  <a:extLst>
                    <a:ext uri="{9D8B030D-6E8A-4147-A177-3AD203B41FA5}">
                      <a16:colId xmlns:a16="http://schemas.microsoft.com/office/drawing/2014/main" val="753416517"/>
                    </a:ext>
                  </a:extLst>
                </a:gridCol>
                <a:gridCol w="4216400">
                  <a:extLst>
                    <a:ext uri="{9D8B030D-6E8A-4147-A177-3AD203B41FA5}">
                      <a16:colId xmlns:a16="http://schemas.microsoft.com/office/drawing/2014/main" val="21699397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>
                          <a:effectLst/>
                        </a:rPr>
                        <a:t>Cơ chế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7150" marR="57150" marT="50800" marB="50800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>
                          <a:effectLst/>
                        </a:rPr>
                        <a:t>Thiết lập / nguyên tắc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7150" marR="57150" marT="50800" marB="50800" anchor="ctr"/>
                </a:tc>
                <a:extLst>
                  <a:ext uri="{0D108BD9-81ED-4DB2-BD59-A6C34878D82A}">
                    <a16:rowId xmlns:a16="http://schemas.microsoft.com/office/drawing/2014/main" val="33937468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>
                          <a:effectLst/>
                        </a:rPr>
                        <a:t>Stratified split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75" marR="53975" marT="44450" marB="4445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>
                          <a:effectLst/>
                        </a:rPr>
                        <a:t>80/10/10, seed 42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75" marR="53975" marT="44450" marB="44450" anchor="ctr"/>
                </a:tc>
                <a:extLst>
                  <a:ext uri="{0D108BD9-81ED-4DB2-BD59-A6C34878D82A}">
                    <a16:rowId xmlns:a16="http://schemas.microsoft.com/office/drawing/2014/main" val="20276338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>
                          <a:effectLst/>
                        </a:rPr>
                        <a:t>Test lock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75" marR="53975" marT="44450" marB="4445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>
                          <a:effectLst/>
                        </a:rPr>
                        <a:t>Không đánh giá test trong model selection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75" marR="53975" marT="44450" marB="44450" anchor="ctr"/>
                </a:tc>
                <a:extLst>
                  <a:ext uri="{0D108BD9-81ED-4DB2-BD59-A6C34878D82A}">
                    <a16:rowId xmlns:a16="http://schemas.microsoft.com/office/drawing/2014/main" val="11713883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>
                          <a:effectLst/>
                        </a:rPr>
                        <a:t>Augmentation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75" marR="53975" marT="44450" marB="4445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>
                          <a:effectLst/>
                        </a:rPr>
                        <a:t>Crop, flip, jitter, rotation; erasing off ban đầu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75" marR="53975" marT="44450" marB="44450" anchor="ctr"/>
                </a:tc>
                <a:extLst>
                  <a:ext uri="{0D108BD9-81ED-4DB2-BD59-A6C34878D82A}">
                    <a16:rowId xmlns:a16="http://schemas.microsoft.com/office/drawing/2014/main" val="22193811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>
                          <a:effectLst/>
                        </a:rPr>
                        <a:t>Weight decay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75" marR="53975" marT="44450" marB="4445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>
                          <a:effectLst/>
                        </a:rPr>
                        <a:t>5e−4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75" marR="53975" marT="44450" marB="44450" anchor="ctr"/>
                </a:tc>
                <a:extLst>
                  <a:ext uri="{0D108BD9-81ED-4DB2-BD59-A6C34878D82A}">
                    <a16:rowId xmlns:a16="http://schemas.microsoft.com/office/drawing/2014/main" val="24387553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>
                          <a:effectLst/>
                        </a:rPr>
                        <a:t>Label smoothing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75" marR="53975" marT="44450" marB="4445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>
                          <a:effectLst/>
                        </a:rPr>
                        <a:t>0.05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75" marR="53975" marT="44450" marB="44450" anchor="ctr"/>
                </a:tc>
                <a:extLst>
                  <a:ext uri="{0D108BD9-81ED-4DB2-BD59-A6C34878D82A}">
                    <a16:rowId xmlns:a16="http://schemas.microsoft.com/office/drawing/2014/main" val="148405269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>
                          <a:effectLst/>
                        </a:rPr>
                        <a:t>EMA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75" marR="53975" marT="44450" marB="4445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>
                          <a:effectLst/>
                        </a:rPr>
                        <a:t>0.999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75" marR="53975" marT="44450" marB="44450" anchor="ctr"/>
                </a:tc>
                <a:extLst>
                  <a:ext uri="{0D108BD9-81ED-4DB2-BD59-A6C34878D82A}">
                    <a16:rowId xmlns:a16="http://schemas.microsoft.com/office/drawing/2014/main" val="207006839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>
                          <a:effectLst/>
                        </a:rPr>
                        <a:t>Early stopping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75" marR="53975" marT="44450" marB="4445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>
                          <a:effectLst/>
                        </a:rPr>
                        <a:t>Patience 8; min_delta 0.001 macro-F1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75" marR="53975" marT="44450" marB="44450" anchor="ctr"/>
                </a:tc>
                <a:extLst>
                  <a:ext uri="{0D108BD9-81ED-4DB2-BD59-A6C34878D82A}">
                    <a16:rowId xmlns:a16="http://schemas.microsoft.com/office/drawing/2014/main" val="30596113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>
                          <a:effectLst/>
                        </a:rPr>
                        <a:t>KD ramp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75" marR="53975" marT="44450" marB="4445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>
                          <a:effectLst/>
                        </a:rPr>
                        <a:t>Tăng dần KD weight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75" marR="53975" marT="44450" marB="44450" anchor="ctr"/>
                </a:tc>
                <a:extLst>
                  <a:ext uri="{0D108BD9-81ED-4DB2-BD59-A6C34878D82A}">
                    <a16:rowId xmlns:a16="http://schemas.microsoft.com/office/drawing/2014/main" val="12774921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>
                          <a:effectLst/>
                        </a:rPr>
                        <a:t>Numerical guard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75" marR="53975" marT="44450" marB="4445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>
                          <a:effectLst/>
                        </a:rPr>
                        <a:t>Margin FP32 + epsilon &gt;=1e−6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75" marR="53975" marT="44450" marB="44450" anchor="ctr"/>
                </a:tc>
                <a:extLst>
                  <a:ext uri="{0D108BD9-81ED-4DB2-BD59-A6C34878D82A}">
                    <a16:rowId xmlns:a16="http://schemas.microsoft.com/office/drawing/2014/main" val="3417597638"/>
                  </a:ext>
                </a:extLst>
              </a:tr>
            </a:tbl>
          </a:graphicData>
        </a:graphic>
      </p:graphicFrame>
      <p:pic>
        <p:nvPicPr>
          <p:cNvPr id="7" name="Picture 6">
            <a:extLst>
              <a:ext uri="{FF2B5EF4-FFF2-40B4-BE49-F238E27FC236}">
                <a16:creationId xmlns:a16="http://schemas.microsoft.com/office/drawing/2014/main" id="{A0A8EBA5-F587-44CF-B454-C04FDEA31A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4730" y="985204"/>
            <a:ext cx="7753350" cy="2493912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B02CE042-F5AA-484E-84D9-4A17F48372D3}"/>
              </a:ext>
            </a:extLst>
          </p:cNvPr>
          <p:cNvSpPr txBox="1">
            <a:spLocks/>
          </p:cNvSpPr>
          <p:nvPr/>
        </p:nvSpPr>
        <p:spPr bwMode="gray">
          <a:xfrm>
            <a:off x="1235089" y="421641"/>
            <a:ext cx="10058400" cy="563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bg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53882" dir="2700000" algn="ctr" rotWithShape="0">
                    <a:schemeClr val="bg2">
                      <a:alpha val="50000"/>
                    </a:schemeClr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sz="2800" b="1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sz="2800" b="1">
                <a:solidFill>
                  <a:schemeClr val="tx2"/>
                </a:solidFill>
                <a:latin typeface="Arial" charset="0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sz="2800" b="1">
                <a:solidFill>
                  <a:schemeClr val="tx2"/>
                </a:solidFill>
                <a:latin typeface="Arial" charset="0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sz="2800" b="1">
                <a:solidFill>
                  <a:schemeClr val="tx2"/>
                </a:solidFill>
                <a:latin typeface="Arial" charset="0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sz="2800" b="1">
                <a:solidFill>
                  <a:schemeClr val="tx2"/>
                </a:solidFill>
                <a:latin typeface="Arial" charset="0"/>
              </a:defRPr>
            </a:lvl5pPr>
            <a:lvl6pPr marL="457200" algn="l" rtl="0" eaLnBrk="1" fontAlgn="base" hangingPunct="1">
              <a:spcBef>
                <a:spcPct val="0"/>
              </a:spcBef>
              <a:spcAft>
                <a:spcPct val="0"/>
              </a:spcAft>
              <a:defRPr sz="2800" b="1">
                <a:solidFill>
                  <a:schemeClr val="tx2"/>
                </a:solidFill>
                <a:latin typeface="Arial" charset="0"/>
              </a:defRPr>
            </a:lvl6pPr>
            <a:lvl7pPr marL="914400" algn="l" rtl="0" eaLnBrk="1" fontAlgn="base" hangingPunct="1">
              <a:spcBef>
                <a:spcPct val="0"/>
              </a:spcBef>
              <a:spcAft>
                <a:spcPct val="0"/>
              </a:spcAft>
              <a:defRPr sz="2800" b="1">
                <a:solidFill>
                  <a:schemeClr val="tx2"/>
                </a:solidFill>
                <a:latin typeface="Arial" charset="0"/>
              </a:defRPr>
            </a:lvl7pPr>
            <a:lvl8pPr marL="1371600" algn="l" rtl="0" eaLnBrk="1" fontAlgn="base" hangingPunct="1">
              <a:spcBef>
                <a:spcPct val="0"/>
              </a:spcBef>
              <a:spcAft>
                <a:spcPct val="0"/>
              </a:spcAft>
              <a:defRPr sz="2800" b="1">
                <a:solidFill>
                  <a:schemeClr val="tx2"/>
                </a:solidFill>
                <a:latin typeface="Arial" charset="0"/>
              </a:defRPr>
            </a:lvl8pPr>
            <a:lvl9pPr marL="1828800" algn="l" rtl="0" eaLnBrk="1" fontAlgn="base" hangingPunct="1">
              <a:spcBef>
                <a:spcPct val="0"/>
              </a:spcBef>
              <a:spcAft>
                <a:spcPct val="0"/>
              </a:spcAft>
              <a:defRPr sz="2800" b="1">
                <a:solidFill>
                  <a:schemeClr val="tx2"/>
                </a:solidFill>
                <a:latin typeface="Arial" charset="0"/>
              </a:defRPr>
            </a:lvl9pPr>
          </a:lstStyle>
          <a:p>
            <a:r>
              <a:rPr lang="en-US" kern="0"/>
              <a:t>4. Edge AI</a:t>
            </a:r>
          </a:p>
        </p:txBody>
      </p:sp>
    </p:spTree>
    <p:extLst>
      <p:ext uri="{BB962C8B-B14F-4D97-AF65-F5344CB8AC3E}">
        <p14:creationId xmlns:p14="http://schemas.microsoft.com/office/powerpoint/2010/main" val="21817726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7E3D7437-29CF-43A9-9A4E-F120187720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8601" y="1020764"/>
            <a:ext cx="3073400" cy="1524000"/>
          </a:xfrm>
        </p:spPr>
        <p:txBody>
          <a:bodyPr/>
          <a:lstStyle/>
          <a:p>
            <a:pPr marL="0" indent="0">
              <a:buNone/>
            </a:pPr>
            <a:r>
              <a:rPr lang="en-US"/>
              <a:t>Propose Model</a:t>
            </a:r>
          </a:p>
          <a:p>
            <a:pPr marL="0" indent="0">
              <a:buNone/>
            </a:pPr>
            <a:r>
              <a:rPr lang="en-US" sz="180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SSR-UnrollNet-S3 (Shared-Specific Sparse Unrolling Network for ESP32-S3). </a:t>
            </a:r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C899C90-6FBC-4AAF-BA14-DE9B0CF995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02001" y="1194577"/>
            <a:ext cx="8085521" cy="4663844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F3162806-83F8-41BF-9D2B-68660752CD51}"/>
              </a:ext>
            </a:extLst>
          </p:cNvPr>
          <p:cNvSpPr txBox="1">
            <a:spLocks/>
          </p:cNvSpPr>
          <p:nvPr/>
        </p:nvSpPr>
        <p:spPr bwMode="gray">
          <a:xfrm>
            <a:off x="1295400" y="544107"/>
            <a:ext cx="10058400" cy="563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bg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53882" dir="2700000" algn="ctr" rotWithShape="0">
                    <a:schemeClr val="bg2">
                      <a:alpha val="50000"/>
                    </a:schemeClr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sz="2800" b="1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sz="2800" b="1">
                <a:solidFill>
                  <a:schemeClr val="tx2"/>
                </a:solidFill>
                <a:latin typeface="Arial" charset="0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sz="2800" b="1">
                <a:solidFill>
                  <a:schemeClr val="tx2"/>
                </a:solidFill>
                <a:latin typeface="Arial" charset="0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sz="2800" b="1">
                <a:solidFill>
                  <a:schemeClr val="tx2"/>
                </a:solidFill>
                <a:latin typeface="Arial" charset="0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sz="2800" b="1">
                <a:solidFill>
                  <a:schemeClr val="tx2"/>
                </a:solidFill>
                <a:latin typeface="Arial" charset="0"/>
              </a:defRPr>
            </a:lvl5pPr>
            <a:lvl6pPr marL="457200" algn="l" rtl="0" eaLnBrk="1" fontAlgn="base" hangingPunct="1">
              <a:spcBef>
                <a:spcPct val="0"/>
              </a:spcBef>
              <a:spcAft>
                <a:spcPct val="0"/>
              </a:spcAft>
              <a:defRPr sz="2800" b="1">
                <a:solidFill>
                  <a:schemeClr val="tx2"/>
                </a:solidFill>
                <a:latin typeface="Arial" charset="0"/>
              </a:defRPr>
            </a:lvl6pPr>
            <a:lvl7pPr marL="914400" algn="l" rtl="0" eaLnBrk="1" fontAlgn="base" hangingPunct="1">
              <a:spcBef>
                <a:spcPct val="0"/>
              </a:spcBef>
              <a:spcAft>
                <a:spcPct val="0"/>
              </a:spcAft>
              <a:defRPr sz="2800" b="1">
                <a:solidFill>
                  <a:schemeClr val="tx2"/>
                </a:solidFill>
                <a:latin typeface="Arial" charset="0"/>
              </a:defRPr>
            </a:lvl7pPr>
            <a:lvl8pPr marL="1371600" algn="l" rtl="0" eaLnBrk="1" fontAlgn="base" hangingPunct="1">
              <a:spcBef>
                <a:spcPct val="0"/>
              </a:spcBef>
              <a:spcAft>
                <a:spcPct val="0"/>
              </a:spcAft>
              <a:defRPr sz="2800" b="1">
                <a:solidFill>
                  <a:schemeClr val="tx2"/>
                </a:solidFill>
                <a:latin typeface="Arial" charset="0"/>
              </a:defRPr>
            </a:lvl8pPr>
            <a:lvl9pPr marL="1828800" algn="l" rtl="0" eaLnBrk="1" fontAlgn="base" hangingPunct="1">
              <a:spcBef>
                <a:spcPct val="0"/>
              </a:spcBef>
              <a:spcAft>
                <a:spcPct val="0"/>
              </a:spcAft>
              <a:defRPr sz="2800" b="1">
                <a:solidFill>
                  <a:schemeClr val="tx2"/>
                </a:solidFill>
                <a:latin typeface="Arial" charset="0"/>
              </a:defRPr>
            </a:lvl9pPr>
          </a:lstStyle>
          <a:p>
            <a:r>
              <a:rPr lang="en-US" kern="0"/>
              <a:t>4. Edge AI</a:t>
            </a:r>
          </a:p>
        </p:txBody>
      </p:sp>
    </p:spTree>
    <p:extLst>
      <p:ext uri="{BB962C8B-B14F-4D97-AF65-F5344CB8AC3E}">
        <p14:creationId xmlns:p14="http://schemas.microsoft.com/office/powerpoint/2010/main" val="389590812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7E3D7437-29CF-43A9-9A4E-F120187720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8601" y="1020764"/>
            <a:ext cx="3073400" cy="1524000"/>
          </a:xfrm>
        </p:spPr>
        <p:txBody>
          <a:bodyPr/>
          <a:lstStyle/>
          <a:p>
            <a:pPr marL="0" indent="0">
              <a:buNone/>
            </a:pPr>
            <a:r>
              <a:rPr lang="en-US"/>
              <a:t>Propose Model</a:t>
            </a:r>
          </a:p>
          <a:p>
            <a:pPr marL="0" indent="0">
              <a:buNone/>
            </a:pPr>
            <a:r>
              <a:rPr lang="en-US" sz="180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SSR-UnrollNet-S3 (Shared-Specific Sparse Unrolling Network for ESP32-S3). </a:t>
            </a:r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5E7B044-5409-40E4-890D-574F7CE6CE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0800" y="930080"/>
            <a:ext cx="6091521" cy="317964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0FC71CF-81EE-4422-A033-59180328B3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0800" y="4114800"/>
            <a:ext cx="5781039" cy="2075088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C231EA1A-3761-46ED-93D5-3EF2CBA53AC9}"/>
              </a:ext>
            </a:extLst>
          </p:cNvPr>
          <p:cNvSpPr txBox="1">
            <a:spLocks/>
          </p:cNvSpPr>
          <p:nvPr/>
        </p:nvSpPr>
        <p:spPr bwMode="gray">
          <a:xfrm>
            <a:off x="1295400" y="485138"/>
            <a:ext cx="10058400" cy="563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bg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53882" dir="2700000" algn="ctr" rotWithShape="0">
                    <a:schemeClr val="bg2">
                      <a:alpha val="50000"/>
                    </a:schemeClr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sz="2800" b="1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sz="2800" b="1">
                <a:solidFill>
                  <a:schemeClr val="tx2"/>
                </a:solidFill>
                <a:latin typeface="Arial" charset="0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sz="2800" b="1">
                <a:solidFill>
                  <a:schemeClr val="tx2"/>
                </a:solidFill>
                <a:latin typeface="Arial" charset="0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sz="2800" b="1">
                <a:solidFill>
                  <a:schemeClr val="tx2"/>
                </a:solidFill>
                <a:latin typeface="Arial" charset="0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sz="2800" b="1">
                <a:solidFill>
                  <a:schemeClr val="tx2"/>
                </a:solidFill>
                <a:latin typeface="Arial" charset="0"/>
              </a:defRPr>
            </a:lvl5pPr>
            <a:lvl6pPr marL="457200" algn="l" rtl="0" eaLnBrk="1" fontAlgn="base" hangingPunct="1">
              <a:spcBef>
                <a:spcPct val="0"/>
              </a:spcBef>
              <a:spcAft>
                <a:spcPct val="0"/>
              </a:spcAft>
              <a:defRPr sz="2800" b="1">
                <a:solidFill>
                  <a:schemeClr val="tx2"/>
                </a:solidFill>
                <a:latin typeface="Arial" charset="0"/>
              </a:defRPr>
            </a:lvl6pPr>
            <a:lvl7pPr marL="914400" algn="l" rtl="0" eaLnBrk="1" fontAlgn="base" hangingPunct="1">
              <a:spcBef>
                <a:spcPct val="0"/>
              </a:spcBef>
              <a:spcAft>
                <a:spcPct val="0"/>
              </a:spcAft>
              <a:defRPr sz="2800" b="1">
                <a:solidFill>
                  <a:schemeClr val="tx2"/>
                </a:solidFill>
                <a:latin typeface="Arial" charset="0"/>
              </a:defRPr>
            </a:lvl7pPr>
            <a:lvl8pPr marL="1371600" algn="l" rtl="0" eaLnBrk="1" fontAlgn="base" hangingPunct="1">
              <a:spcBef>
                <a:spcPct val="0"/>
              </a:spcBef>
              <a:spcAft>
                <a:spcPct val="0"/>
              </a:spcAft>
              <a:defRPr sz="2800" b="1">
                <a:solidFill>
                  <a:schemeClr val="tx2"/>
                </a:solidFill>
                <a:latin typeface="Arial" charset="0"/>
              </a:defRPr>
            </a:lvl8pPr>
            <a:lvl9pPr marL="1828800" algn="l" rtl="0" eaLnBrk="1" fontAlgn="base" hangingPunct="1">
              <a:spcBef>
                <a:spcPct val="0"/>
              </a:spcBef>
              <a:spcAft>
                <a:spcPct val="0"/>
              </a:spcAft>
              <a:defRPr sz="2800" b="1">
                <a:solidFill>
                  <a:schemeClr val="tx2"/>
                </a:solidFill>
                <a:latin typeface="Arial" charset="0"/>
              </a:defRPr>
            </a:lvl9pPr>
          </a:lstStyle>
          <a:p>
            <a:r>
              <a:rPr lang="en-US" kern="0"/>
              <a:t>4. Edge AI</a:t>
            </a:r>
          </a:p>
        </p:txBody>
      </p:sp>
    </p:spTree>
    <p:extLst>
      <p:ext uri="{BB962C8B-B14F-4D97-AF65-F5344CB8AC3E}">
        <p14:creationId xmlns:p14="http://schemas.microsoft.com/office/powerpoint/2010/main" val="8696545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7E3D7437-29CF-43A9-9A4E-F120187720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8601" y="1020764"/>
            <a:ext cx="3073400" cy="503236"/>
          </a:xfrm>
        </p:spPr>
        <p:txBody>
          <a:bodyPr/>
          <a:lstStyle/>
          <a:p>
            <a:pPr marL="0" indent="0">
              <a:buNone/>
            </a:pPr>
            <a:r>
              <a:rPr lang="en-US"/>
              <a:t>So sánh kết quả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D064F6B7-EEC7-41CB-B625-5E6D5D6549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91156609"/>
              </p:ext>
            </p:extLst>
          </p:nvPr>
        </p:nvGraphicFramePr>
        <p:xfrm>
          <a:off x="1447800" y="1447800"/>
          <a:ext cx="10210800" cy="47244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701800">
                  <a:extLst>
                    <a:ext uri="{9D8B030D-6E8A-4147-A177-3AD203B41FA5}">
                      <a16:colId xmlns:a16="http://schemas.microsoft.com/office/drawing/2014/main" val="2063858027"/>
                    </a:ext>
                  </a:extLst>
                </a:gridCol>
                <a:gridCol w="1701800">
                  <a:extLst>
                    <a:ext uri="{9D8B030D-6E8A-4147-A177-3AD203B41FA5}">
                      <a16:colId xmlns:a16="http://schemas.microsoft.com/office/drawing/2014/main" val="4254456753"/>
                    </a:ext>
                  </a:extLst>
                </a:gridCol>
                <a:gridCol w="1701800">
                  <a:extLst>
                    <a:ext uri="{9D8B030D-6E8A-4147-A177-3AD203B41FA5}">
                      <a16:colId xmlns:a16="http://schemas.microsoft.com/office/drawing/2014/main" val="1474246766"/>
                    </a:ext>
                  </a:extLst>
                </a:gridCol>
                <a:gridCol w="1701800">
                  <a:extLst>
                    <a:ext uri="{9D8B030D-6E8A-4147-A177-3AD203B41FA5}">
                      <a16:colId xmlns:a16="http://schemas.microsoft.com/office/drawing/2014/main" val="3432409102"/>
                    </a:ext>
                  </a:extLst>
                </a:gridCol>
                <a:gridCol w="1701800">
                  <a:extLst>
                    <a:ext uri="{9D8B030D-6E8A-4147-A177-3AD203B41FA5}">
                      <a16:colId xmlns:a16="http://schemas.microsoft.com/office/drawing/2014/main" val="560219651"/>
                    </a:ext>
                  </a:extLst>
                </a:gridCol>
                <a:gridCol w="1701800">
                  <a:extLst>
                    <a:ext uri="{9D8B030D-6E8A-4147-A177-3AD203B41FA5}">
                      <a16:colId xmlns:a16="http://schemas.microsoft.com/office/drawing/2014/main" val="1493251080"/>
                    </a:ext>
                  </a:extLst>
                </a:gridCol>
              </a:tblGrid>
              <a:tr h="334048">
                <a:tc>
                  <a:txBody>
                    <a:bodyPr/>
                    <a:lstStyle/>
                    <a:p>
                      <a:r>
                        <a:rPr lang="en-US" sz="900"/>
                        <a:t>Method</a:t>
                      </a:r>
                    </a:p>
                  </a:txBody>
                  <a:tcPr marL="47721" marR="47721" marT="23861" marB="23861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900"/>
                        <a:t>Year</a:t>
                      </a:r>
                    </a:p>
                  </a:txBody>
                  <a:tcPr marL="47721" marR="47721" marT="23861" marB="23861" anchor="ctr"/>
                </a:tc>
                <a:tc>
                  <a:txBody>
                    <a:bodyPr/>
                    <a:lstStyle/>
                    <a:p>
                      <a:r>
                        <a:rPr lang="en-US" sz="900"/>
                        <a:t>Method Description</a:t>
                      </a:r>
                    </a:p>
                  </a:txBody>
                  <a:tcPr marL="47721" marR="47721" marT="23861" marB="23861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900"/>
                        <a:t>Accuracy (%) ↑</a:t>
                      </a:r>
                    </a:p>
                  </a:txBody>
                  <a:tcPr marL="47721" marR="47721" marT="23861" marB="23861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900"/>
                        <a:t>F1 ↑</a:t>
                      </a:r>
                    </a:p>
                  </a:txBody>
                  <a:tcPr marL="47721" marR="47721" marT="23861" marB="23861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900"/>
                        <a:t>Params (M) ↓</a:t>
                      </a:r>
                    </a:p>
                  </a:txBody>
                  <a:tcPr marL="47721" marR="47721" marT="23861" marB="23861" anchor="ctr"/>
                </a:tc>
                <a:extLst>
                  <a:ext uri="{0D108BD9-81ED-4DB2-BD59-A6C34878D82A}">
                    <a16:rowId xmlns:a16="http://schemas.microsoft.com/office/drawing/2014/main" val="165911135"/>
                  </a:ext>
                </a:extLst>
              </a:tr>
              <a:tr h="620376">
                <a:tc>
                  <a:txBody>
                    <a:bodyPr/>
                    <a:lstStyle/>
                    <a:p>
                      <a:r>
                        <a:rPr lang="en-US" sz="900"/>
                        <a:t>Light CNN + PCNN/DWT</a:t>
                      </a:r>
                    </a:p>
                  </a:txBody>
                  <a:tcPr marL="47721" marR="47721" marT="23861" marB="23861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900"/>
                        <a:t>2023</a:t>
                      </a:r>
                    </a:p>
                  </a:txBody>
                  <a:tcPr marL="47721" marR="47721" marT="23861" marB="23861" anchor="ctr"/>
                </a:tc>
                <a:tc>
                  <a:txBody>
                    <a:bodyPr/>
                    <a:lstStyle/>
                    <a:p>
                      <a:r>
                        <a:rPr lang="en-US" sz="900"/>
                        <a:t>PCNN feature extractor + DWT compression</a:t>
                      </a:r>
                    </a:p>
                  </a:txBody>
                  <a:tcPr marL="47721" marR="47721" marT="23861" marB="23861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900"/>
                        <a:t>69.11</a:t>
                      </a:r>
                    </a:p>
                  </a:txBody>
                  <a:tcPr marL="47721" marR="47721" marT="23861" marB="23861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900"/>
                        <a:t>0.9955</a:t>
                      </a:r>
                    </a:p>
                  </a:txBody>
                  <a:tcPr marL="47721" marR="47721" marT="23861" marB="23861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900" b="1"/>
                        <a:t>0.011</a:t>
                      </a:r>
                      <a:endParaRPr lang="en-US" sz="900"/>
                    </a:p>
                  </a:txBody>
                  <a:tcPr marL="47721" marR="47721" marT="23861" marB="23861" anchor="ctr"/>
                </a:tc>
                <a:extLst>
                  <a:ext uri="{0D108BD9-81ED-4DB2-BD59-A6C34878D82A}">
                    <a16:rowId xmlns:a16="http://schemas.microsoft.com/office/drawing/2014/main" val="3371869268"/>
                  </a:ext>
                </a:extLst>
              </a:tr>
              <a:tr h="477212">
                <a:tc>
                  <a:txBody>
                    <a:bodyPr/>
                    <a:lstStyle/>
                    <a:p>
                      <a:r>
                        <a:rPr lang="en-US" sz="900"/>
                        <a:t>EfficientNetV2-S</a:t>
                      </a:r>
                    </a:p>
                  </a:txBody>
                  <a:tcPr marL="47721" marR="47721" marT="23861" marB="23861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900"/>
                        <a:t>2025</a:t>
                      </a:r>
                    </a:p>
                  </a:txBody>
                  <a:tcPr marL="47721" marR="47721" marT="23861" marB="23861" anchor="ctr"/>
                </a:tc>
                <a:tc>
                  <a:txBody>
                    <a:bodyPr/>
                    <a:lstStyle/>
                    <a:p>
                      <a:r>
                        <a:rPr lang="en-US" sz="900"/>
                        <a:t>EfficientNetV2 + pretrained fine-tuning</a:t>
                      </a:r>
                    </a:p>
                  </a:txBody>
                  <a:tcPr marL="47721" marR="47721" marT="23861" marB="23861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900"/>
                        <a:t>97.57</a:t>
                      </a:r>
                    </a:p>
                  </a:txBody>
                  <a:tcPr marL="47721" marR="47721" marT="23861" marB="23861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900"/>
                        <a:t>0.9757</a:t>
                      </a:r>
                    </a:p>
                  </a:txBody>
                  <a:tcPr marL="47721" marR="47721" marT="23861" marB="23861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900"/>
                        <a:t>20.434</a:t>
                      </a:r>
                    </a:p>
                  </a:txBody>
                  <a:tcPr marL="47721" marR="47721" marT="23861" marB="23861" anchor="ctr"/>
                </a:tc>
                <a:extLst>
                  <a:ext uri="{0D108BD9-81ED-4DB2-BD59-A6C34878D82A}">
                    <a16:rowId xmlns:a16="http://schemas.microsoft.com/office/drawing/2014/main" val="472271917"/>
                  </a:ext>
                </a:extLst>
              </a:tr>
              <a:tr h="477212">
                <a:tc>
                  <a:txBody>
                    <a:bodyPr/>
                    <a:lstStyle/>
                    <a:p>
                      <a:r>
                        <a:rPr lang="en-US" sz="900"/>
                        <a:t>Multi-Path CNN</a:t>
                      </a:r>
                    </a:p>
                  </a:txBody>
                  <a:tcPr marL="47721" marR="47721" marT="23861" marB="23861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900"/>
                        <a:t>2025</a:t>
                      </a:r>
                    </a:p>
                  </a:txBody>
                  <a:tcPr marL="47721" marR="47721" marT="23861" marB="23861" anchor="ctr"/>
                </a:tc>
                <a:tc>
                  <a:txBody>
                    <a:bodyPr/>
                    <a:lstStyle/>
                    <a:p>
                      <a:r>
                        <a:rPr lang="en-US" sz="900"/>
                        <a:t>Multi-scale convolution + attention fusion</a:t>
                      </a:r>
                    </a:p>
                  </a:txBody>
                  <a:tcPr marL="47721" marR="47721" marT="23861" marB="23861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900"/>
                        <a:t>97.30</a:t>
                      </a:r>
                    </a:p>
                  </a:txBody>
                  <a:tcPr marL="47721" marR="47721" marT="23861" marB="23861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900"/>
                        <a:t>0.9730</a:t>
                      </a:r>
                    </a:p>
                  </a:txBody>
                  <a:tcPr marL="47721" marR="47721" marT="23861" marB="23861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900"/>
                        <a:t>0.927</a:t>
                      </a:r>
                    </a:p>
                  </a:txBody>
                  <a:tcPr marL="47721" marR="47721" marT="23861" marB="23861" anchor="ctr"/>
                </a:tc>
                <a:extLst>
                  <a:ext uri="{0D108BD9-81ED-4DB2-BD59-A6C34878D82A}">
                    <a16:rowId xmlns:a16="http://schemas.microsoft.com/office/drawing/2014/main" val="3994606638"/>
                  </a:ext>
                </a:extLst>
              </a:tr>
              <a:tr h="620376">
                <a:tc>
                  <a:txBody>
                    <a:bodyPr/>
                    <a:lstStyle/>
                    <a:p>
                      <a:r>
                        <a:rPr lang="en-US" sz="900"/>
                        <a:t>PAM + ResNet-20</a:t>
                      </a:r>
                    </a:p>
                  </a:txBody>
                  <a:tcPr marL="47721" marR="47721" marT="23861" marB="23861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900"/>
                        <a:t>2024</a:t>
                      </a:r>
                    </a:p>
                  </a:txBody>
                  <a:tcPr marL="47721" marR="47721" marT="23861" marB="23861" anchor="ctr"/>
                </a:tc>
                <a:tc>
                  <a:txBody>
                    <a:bodyPr/>
                    <a:lstStyle/>
                    <a:p>
                      <a:r>
                        <a:rPr lang="en-US" sz="900"/>
                        <a:t>Probabilistic attention integrated into ResNet</a:t>
                      </a:r>
                    </a:p>
                  </a:txBody>
                  <a:tcPr marL="47721" marR="47721" marT="23861" marB="23861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900"/>
                        <a:t>91.62</a:t>
                      </a:r>
                    </a:p>
                  </a:txBody>
                  <a:tcPr marL="47721" marR="47721" marT="23861" marB="23861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900"/>
                        <a:t>0.9146</a:t>
                      </a:r>
                    </a:p>
                  </a:txBody>
                  <a:tcPr marL="47721" marR="47721" marT="23861" marB="23861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900"/>
                        <a:t>0.57</a:t>
                      </a:r>
                    </a:p>
                  </a:txBody>
                  <a:tcPr marL="47721" marR="47721" marT="23861" marB="23861" anchor="ctr"/>
                </a:tc>
                <a:extLst>
                  <a:ext uri="{0D108BD9-81ED-4DB2-BD59-A6C34878D82A}">
                    <a16:rowId xmlns:a16="http://schemas.microsoft.com/office/drawing/2014/main" val="1760687589"/>
                  </a:ext>
                </a:extLst>
              </a:tr>
              <a:tr h="620376">
                <a:tc>
                  <a:txBody>
                    <a:bodyPr/>
                    <a:lstStyle/>
                    <a:p>
                      <a:r>
                        <a:rPr lang="en-US" sz="900"/>
                        <a:t>ResNet-Lite</a:t>
                      </a:r>
                    </a:p>
                  </a:txBody>
                  <a:tcPr marL="47721" marR="47721" marT="23861" marB="23861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900"/>
                        <a:t>2024</a:t>
                      </a:r>
                    </a:p>
                  </a:txBody>
                  <a:tcPr marL="47721" marR="47721" marT="23861" marB="23861" anchor="ctr"/>
                </a:tc>
                <a:tc>
                  <a:txBody>
                    <a:bodyPr/>
                    <a:lstStyle/>
                    <a:p>
                      <a:r>
                        <a:rPr lang="en-US" sz="900"/>
                        <a:t>Lightweight residual CNN + knowledge distillation</a:t>
                      </a:r>
                    </a:p>
                  </a:txBody>
                  <a:tcPr marL="47721" marR="47721" marT="23861" marB="23861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900"/>
                        <a:t>89.56</a:t>
                      </a:r>
                    </a:p>
                  </a:txBody>
                  <a:tcPr marL="47721" marR="47721" marT="23861" marB="23861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900"/>
                        <a:t>0.8930</a:t>
                      </a:r>
                    </a:p>
                  </a:txBody>
                  <a:tcPr marL="47721" marR="47721" marT="23861" marB="23861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900"/>
                        <a:t>1.425</a:t>
                      </a:r>
                    </a:p>
                  </a:txBody>
                  <a:tcPr marL="47721" marR="47721" marT="23861" marB="23861" anchor="ctr"/>
                </a:tc>
                <a:extLst>
                  <a:ext uri="{0D108BD9-81ED-4DB2-BD59-A6C34878D82A}">
                    <a16:rowId xmlns:a16="http://schemas.microsoft.com/office/drawing/2014/main" val="4164296331"/>
                  </a:ext>
                </a:extLst>
              </a:tr>
              <a:tr h="477212">
                <a:tc>
                  <a:txBody>
                    <a:bodyPr/>
                    <a:lstStyle/>
                    <a:p>
                      <a:r>
                        <a:rPr lang="en-US" sz="900"/>
                        <a:t>SNN-SqueezeNet-P</a:t>
                      </a:r>
                    </a:p>
                  </a:txBody>
                  <a:tcPr marL="47721" marR="47721" marT="23861" marB="23861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900"/>
                        <a:t>2026</a:t>
                      </a:r>
                    </a:p>
                  </a:txBody>
                  <a:tcPr marL="47721" marR="47721" marT="23861" marB="23861" anchor="ctr"/>
                </a:tc>
                <a:tc>
                  <a:txBody>
                    <a:bodyPr/>
                    <a:lstStyle/>
                    <a:p>
                      <a:r>
                        <a:rPr lang="en-US" sz="900"/>
                        <a:t>LIF-based SNN + structured pruning</a:t>
                      </a:r>
                    </a:p>
                  </a:txBody>
                  <a:tcPr marL="47721" marR="47721" marT="23861" marB="23861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900"/>
                        <a:t>81.00</a:t>
                      </a:r>
                    </a:p>
                  </a:txBody>
                  <a:tcPr marL="47721" marR="47721" marT="23861" marB="23861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900"/>
                        <a:t>0.8100</a:t>
                      </a:r>
                    </a:p>
                  </a:txBody>
                  <a:tcPr marL="47721" marR="47721" marT="23861" marB="23861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900"/>
                        <a:t>0.599</a:t>
                      </a:r>
                    </a:p>
                  </a:txBody>
                  <a:tcPr marL="47721" marR="47721" marT="23861" marB="23861" anchor="ctr"/>
                </a:tc>
                <a:extLst>
                  <a:ext uri="{0D108BD9-81ED-4DB2-BD59-A6C34878D82A}">
                    <a16:rowId xmlns:a16="http://schemas.microsoft.com/office/drawing/2014/main" val="144565052"/>
                  </a:ext>
                </a:extLst>
              </a:tr>
              <a:tr h="620376">
                <a:tc>
                  <a:txBody>
                    <a:bodyPr/>
                    <a:lstStyle/>
                    <a:p>
                      <a:r>
                        <a:rPr lang="en-US" sz="900"/>
                        <a:t>EfficientNet-B0*</a:t>
                      </a:r>
                    </a:p>
                  </a:txBody>
                  <a:tcPr marL="47721" marR="47721" marT="23861" marB="23861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900"/>
                        <a:t>2026</a:t>
                      </a:r>
                    </a:p>
                  </a:txBody>
                  <a:tcPr marL="47721" marR="47721" marT="23861" marB="23861" anchor="ctr"/>
                </a:tc>
                <a:tc>
                  <a:txBody>
                    <a:bodyPr/>
                    <a:lstStyle/>
                    <a:p>
                      <a:r>
                        <a:rPr lang="en-US" sz="900"/>
                        <a:t>Lightweight EfficientNet in FPGA-oriented AL pipeline</a:t>
                      </a:r>
                    </a:p>
                  </a:txBody>
                  <a:tcPr marL="47721" marR="47721" marT="23861" marB="23861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900"/>
                        <a:t>88.25</a:t>
                      </a:r>
                    </a:p>
                  </a:txBody>
                  <a:tcPr marL="47721" marR="47721" marT="23861" marB="23861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900"/>
                        <a:t>0.8825</a:t>
                      </a:r>
                    </a:p>
                  </a:txBody>
                  <a:tcPr marL="47721" marR="47721" marT="23861" marB="23861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900"/>
                        <a:t>5.3</a:t>
                      </a:r>
                    </a:p>
                  </a:txBody>
                  <a:tcPr marL="47721" marR="47721" marT="23861" marB="23861" anchor="ctr"/>
                </a:tc>
                <a:extLst>
                  <a:ext uri="{0D108BD9-81ED-4DB2-BD59-A6C34878D82A}">
                    <a16:rowId xmlns:a16="http://schemas.microsoft.com/office/drawing/2014/main" val="116970360"/>
                  </a:ext>
                </a:extLst>
              </a:tr>
              <a:tr h="477212">
                <a:tc>
                  <a:txBody>
                    <a:bodyPr/>
                    <a:lstStyle/>
                    <a:p>
                      <a:r>
                        <a:rPr lang="en-US" sz="900" b="1"/>
                        <a:t>Ours</a:t>
                      </a:r>
                      <a:endParaRPr lang="en-US" sz="900"/>
                    </a:p>
                  </a:txBody>
                  <a:tcPr marL="47721" marR="47721" marT="23861" marB="23861" anchor="ctr"/>
                </a:tc>
                <a:tc>
                  <a:txBody>
                    <a:bodyPr/>
                    <a:lstStyle/>
                    <a:p>
                      <a:pPr algn="r"/>
                      <a:endParaRPr lang="en-US" sz="900"/>
                    </a:p>
                  </a:txBody>
                  <a:tcPr marL="47721" marR="47721" marT="23861" marB="23861" anchor="ctr"/>
                </a:tc>
                <a:tc>
                  <a:txBody>
                    <a:bodyPr/>
                    <a:lstStyle/>
                    <a:p>
                      <a:endParaRPr lang="en-US" sz="900"/>
                    </a:p>
                  </a:txBody>
                  <a:tcPr marL="47721" marR="47721" marT="23861" marB="23861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900" b="1"/>
                        <a:t>94.04</a:t>
                      </a:r>
                      <a:endParaRPr lang="en-US" sz="900"/>
                    </a:p>
                  </a:txBody>
                  <a:tcPr marL="47721" marR="47721" marT="23861" marB="23861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900" b="1"/>
                        <a:t>0.938</a:t>
                      </a:r>
                      <a:endParaRPr lang="en-US" sz="900"/>
                    </a:p>
                  </a:txBody>
                  <a:tcPr marL="47721" marR="47721" marT="23861" marB="23861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900" b="1"/>
                        <a:t>0.23</a:t>
                      </a:r>
                      <a:endParaRPr lang="en-US" sz="900"/>
                    </a:p>
                  </a:txBody>
                  <a:tcPr marL="47721" marR="47721" marT="23861" marB="23861" anchor="ctr"/>
                </a:tc>
                <a:extLst>
                  <a:ext uri="{0D108BD9-81ED-4DB2-BD59-A6C34878D82A}">
                    <a16:rowId xmlns:a16="http://schemas.microsoft.com/office/drawing/2014/main" val="2113182340"/>
                  </a:ext>
                </a:extLst>
              </a:tr>
            </a:tbl>
          </a:graphicData>
        </a:graphic>
      </p:graphicFrame>
      <p:sp>
        <p:nvSpPr>
          <p:cNvPr id="7" name="Title 1">
            <a:extLst>
              <a:ext uri="{FF2B5EF4-FFF2-40B4-BE49-F238E27FC236}">
                <a16:creationId xmlns:a16="http://schemas.microsoft.com/office/drawing/2014/main" id="{28CC4942-050A-4477-A829-8FE8ADF8EF74}"/>
              </a:ext>
            </a:extLst>
          </p:cNvPr>
          <p:cNvSpPr txBox="1">
            <a:spLocks/>
          </p:cNvSpPr>
          <p:nvPr/>
        </p:nvSpPr>
        <p:spPr bwMode="gray">
          <a:xfrm>
            <a:off x="1295400" y="472912"/>
            <a:ext cx="10058400" cy="563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bg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53882" dir="2700000" algn="ctr" rotWithShape="0">
                    <a:schemeClr val="bg2">
                      <a:alpha val="50000"/>
                    </a:schemeClr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sz="2800" b="1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sz="2800" b="1">
                <a:solidFill>
                  <a:schemeClr val="tx2"/>
                </a:solidFill>
                <a:latin typeface="Arial" charset="0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sz="2800" b="1">
                <a:solidFill>
                  <a:schemeClr val="tx2"/>
                </a:solidFill>
                <a:latin typeface="Arial" charset="0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sz="2800" b="1">
                <a:solidFill>
                  <a:schemeClr val="tx2"/>
                </a:solidFill>
                <a:latin typeface="Arial" charset="0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sz="2800" b="1">
                <a:solidFill>
                  <a:schemeClr val="tx2"/>
                </a:solidFill>
                <a:latin typeface="Arial" charset="0"/>
              </a:defRPr>
            </a:lvl5pPr>
            <a:lvl6pPr marL="457200" algn="l" rtl="0" eaLnBrk="1" fontAlgn="base" hangingPunct="1">
              <a:spcBef>
                <a:spcPct val="0"/>
              </a:spcBef>
              <a:spcAft>
                <a:spcPct val="0"/>
              </a:spcAft>
              <a:defRPr sz="2800" b="1">
                <a:solidFill>
                  <a:schemeClr val="tx2"/>
                </a:solidFill>
                <a:latin typeface="Arial" charset="0"/>
              </a:defRPr>
            </a:lvl6pPr>
            <a:lvl7pPr marL="914400" algn="l" rtl="0" eaLnBrk="1" fontAlgn="base" hangingPunct="1">
              <a:spcBef>
                <a:spcPct val="0"/>
              </a:spcBef>
              <a:spcAft>
                <a:spcPct val="0"/>
              </a:spcAft>
              <a:defRPr sz="2800" b="1">
                <a:solidFill>
                  <a:schemeClr val="tx2"/>
                </a:solidFill>
                <a:latin typeface="Arial" charset="0"/>
              </a:defRPr>
            </a:lvl7pPr>
            <a:lvl8pPr marL="1371600" algn="l" rtl="0" eaLnBrk="1" fontAlgn="base" hangingPunct="1">
              <a:spcBef>
                <a:spcPct val="0"/>
              </a:spcBef>
              <a:spcAft>
                <a:spcPct val="0"/>
              </a:spcAft>
              <a:defRPr sz="2800" b="1">
                <a:solidFill>
                  <a:schemeClr val="tx2"/>
                </a:solidFill>
                <a:latin typeface="Arial" charset="0"/>
              </a:defRPr>
            </a:lvl8pPr>
            <a:lvl9pPr marL="1828800" algn="l" rtl="0" eaLnBrk="1" fontAlgn="base" hangingPunct="1">
              <a:spcBef>
                <a:spcPct val="0"/>
              </a:spcBef>
              <a:spcAft>
                <a:spcPct val="0"/>
              </a:spcAft>
              <a:defRPr sz="2800" b="1">
                <a:solidFill>
                  <a:schemeClr val="tx2"/>
                </a:solidFill>
                <a:latin typeface="Arial" charset="0"/>
              </a:defRPr>
            </a:lvl9pPr>
          </a:lstStyle>
          <a:p>
            <a:r>
              <a:rPr lang="en-US" kern="0"/>
              <a:t>4. Edge AI</a:t>
            </a:r>
          </a:p>
        </p:txBody>
      </p:sp>
    </p:spTree>
    <p:extLst>
      <p:ext uri="{BB962C8B-B14F-4D97-AF65-F5344CB8AC3E}">
        <p14:creationId xmlns:p14="http://schemas.microsoft.com/office/powerpoint/2010/main" val="13790452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EF06C-41C4-4254-9FC4-B6680C3EEE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5. </a:t>
            </a:r>
            <a:r>
              <a:rPr lang="vi-VN"/>
              <a:t>Triển khai và tối ưu hóa mô hình học sâu bằng C thuần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D052C7-25C8-4B47-BEA7-580C29C220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900574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B3062A-B583-4BF2-B6BF-0593EEBF68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6. Kết quả demo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557B234-06F4-4A2E-A203-55B084A213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1295400"/>
            <a:ext cx="11074400" cy="4724400"/>
          </a:xfrm>
        </p:spPr>
        <p:txBody>
          <a:bodyPr/>
          <a:lstStyle/>
          <a:p>
            <a:pPr marL="457200"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800" b="0" i="0" u="none" strike="noStrike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Tổng quan </a:t>
            </a:r>
          </a:p>
          <a:p>
            <a:pPr marL="457200"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800" b="0" i="0" u="none" strike="noStrike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Kết quả phần mềm </a:t>
            </a:r>
          </a:p>
          <a:p>
            <a:pPr marL="457200"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800" b="0" i="0" u="none" strike="noStrike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Tính năng detect pets (kèm mô hình AI) </a:t>
            </a:r>
          </a:p>
          <a:p>
            <a:pPr marL="457200"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800" b="0" i="0" u="none" strike="noStrike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Tính năng cho ăn theo chó/mèo -&gt; ngay lập tức</a:t>
            </a:r>
          </a:p>
          <a:p>
            <a:pPr marL="457200"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800" b="0" i="0" u="none" strike="noStrike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Đặt lịch cho ăn  </a:t>
            </a:r>
          </a:p>
        </p:txBody>
      </p:sp>
    </p:spTree>
    <p:extLst>
      <p:ext uri="{BB962C8B-B14F-4D97-AF65-F5344CB8AC3E}">
        <p14:creationId xmlns:p14="http://schemas.microsoft.com/office/powerpoint/2010/main" val="267323065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B3062A-B583-4BF2-B6BF-0593EEBF68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7. Phục lục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557B234-06F4-4A2E-A203-55B084A213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1295400"/>
            <a:ext cx="11074400" cy="4724400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b="0" i="0">
                <a:effectLst/>
              </a:rPr>
              <a:t>Github:giunzz/mobile_project</a:t>
            </a:r>
            <a:endParaRPr lang="en-US"/>
          </a:p>
          <a:p>
            <a:pPr>
              <a:buFont typeface="Arial" panose="020B0604020202020204" pitchFamily="34" charset="0"/>
              <a:buChar char="•"/>
            </a:pPr>
            <a:r>
              <a:rPr lang="en-US" b="0" i="0">
                <a:effectLst/>
              </a:rPr>
              <a:t>File app: https://github.com/giunzz/mobile_project/tree/main/deployment</a:t>
            </a:r>
            <a:endParaRPr lang="en-US"/>
          </a:p>
          <a:p>
            <a:pPr>
              <a:buFont typeface="Arial" panose="020B0604020202020204" pitchFamily="34" charset="0"/>
              <a:buChar char="•"/>
            </a:pPr>
            <a:r>
              <a:rPr lang="en-US" b="0" i="0">
                <a:effectLst/>
              </a:rPr>
              <a:t>Report theo tuần: https://github.com/giunzz/mobile_project/tree/main/report </a:t>
            </a:r>
            <a:endParaRPr lang="en-US"/>
          </a:p>
          <a:p>
            <a:pPr>
              <a:buFont typeface="Arial" panose="020B0604020202020204" pitchFamily="34" charset="0"/>
              <a:buChar char="•"/>
            </a:pPr>
            <a:r>
              <a:rPr lang="en-US" b="0" i="0">
                <a:effectLst/>
              </a:rPr>
              <a:t>Phân công: https://docs.google.com/spreadsheets/d/1sClCX4doFPRGRslG_CvJLxAsMfU6heg3camePzlJto0/edit?gid=1815371347#gid=1815371347 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715713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95" name="WordArt 3"/>
          <p:cNvSpPr>
            <a:spLocks noChangeArrowheads="1" noChangeShapeType="1" noTextEdit="1"/>
          </p:cNvSpPr>
          <p:nvPr/>
        </p:nvSpPr>
        <p:spPr bwMode="gray">
          <a:xfrm>
            <a:off x="2842661" y="2819400"/>
            <a:ext cx="6858000" cy="762000"/>
          </a:xfrm>
          <a:prstGeom prst="rect">
            <a:avLst/>
          </a:prstGeom>
        </p:spPr>
        <p:txBody>
          <a:bodyPr wrap="none" fromWordArt="1">
            <a:prstTxWarp prst="textDeflate">
              <a:avLst>
                <a:gd name="adj" fmla="val 0"/>
              </a:avLst>
            </a:prstTxWarp>
          </a:bodyPr>
          <a:lstStyle/>
          <a:p>
            <a:pPr algn="ctr"/>
            <a:r>
              <a:rPr lang="en-US" sz="5400" b="1" kern="10" dirty="0">
                <a:ln w="19050">
                  <a:solidFill>
                    <a:schemeClr val="bg1"/>
                  </a:solidFill>
                  <a:round/>
                  <a:headEnd/>
                  <a:tailEnd/>
                </a:ln>
                <a:gradFill rotWithShape="1">
                  <a:gsLst>
                    <a:gs pos="0">
                      <a:schemeClr val="accent1"/>
                    </a:gs>
                    <a:gs pos="100000">
                      <a:schemeClr val="folHlink"/>
                    </a:gs>
                  </a:gsLst>
                  <a:lin ang="5400000" scaled="1"/>
                </a:gradFill>
                <a:effectLst>
                  <a:outerShdw dist="71842" dir="2700000" algn="ctr" rotWithShape="0">
                    <a:schemeClr val="tx1">
                      <a:alpha val="50000"/>
                    </a:schemeClr>
                  </a:outerShdw>
                </a:effectLst>
                <a:latin typeface="Verdana"/>
                <a:ea typeface="Verdana"/>
                <a:cs typeface="Verdana"/>
              </a:rPr>
              <a:t>Thank You</a:t>
            </a:r>
          </a:p>
        </p:txBody>
      </p:sp>
      <p:sp>
        <p:nvSpPr>
          <p:cNvPr id="59396" name="Rectangle 4"/>
          <p:cNvSpPr>
            <a:spLocks noChangeArrowheads="1"/>
          </p:cNvSpPr>
          <p:nvPr/>
        </p:nvSpPr>
        <p:spPr bwMode="white">
          <a:xfrm>
            <a:off x="5181600" y="5867400"/>
            <a:ext cx="3581400" cy="381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algn="r">
              <a:lnSpc>
                <a:spcPct val="90000"/>
              </a:lnSpc>
              <a:spcBef>
                <a:spcPct val="20000"/>
              </a:spcBef>
              <a:buClr>
                <a:schemeClr val="tx2"/>
              </a:buClr>
              <a:buFont typeface="Wingdings" pitchFamily="2" charset="2"/>
              <a:buNone/>
            </a:pPr>
            <a:r>
              <a:rPr lang="en-US" sz="1400" b="1" dirty="0" err="1">
                <a:solidFill>
                  <a:schemeClr val="bg1"/>
                </a:solidFill>
              </a:rPr>
              <a:t>www.themegallery.com</a:t>
            </a:r>
            <a:endParaRPr lang="en-US" sz="1400" b="1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db2004212gl">
  <a:themeElements>
    <a:clrScheme name="Office Theme 1">
      <a:dk1>
        <a:srgbClr val="000000"/>
      </a:dk1>
      <a:lt1>
        <a:srgbClr val="FFFFFF"/>
      </a:lt1>
      <a:dk2>
        <a:srgbClr val="4B546F"/>
      </a:dk2>
      <a:lt2>
        <a:srgbClr val="C0C0C0"/>
      </a:lt2>
      <a:accent1>
        <a:srgbClr val="4987E3"/>
      </a:accent1>
      <a:accent2>
        <a:srgbClr val="D9520F"/>
      </a:accent2>
      <a:accent3>
        <a:srgbClr val="FFFFFF"/>
      </a:accent3>
      <a:accent4>
        <a:srgbClr val="000000"/>
      </a:accent4>
      <a:accent5>
        <a:srgbClr val="B1C3EF"/>
      </a:accent5>
      <a:accent6>
        <a:srgbClr val="C4490C"/>
      </a:accent6>
      <a:hlink>
        <a:srgbClr val="36A1B6"/>
      </a:hlink>
      <a:folHlink>
        <a:srgbClr val="9CC769"/>
      </a:folHlink>
    </a:clrScheme>
    <a:fontScheme name="Office Them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Office Theme 1">
        <a:dk1>
          <a:srgbClr val="000000"/>
        </a:dk1>
        <a:lt1>
          <a:srgbClr val="FFFFFF"/>
        </a:lt1>
        <a:dk2>
          <a:srgbClr val="4B546F"/>
        </a:dk2>
        <a:lt2>
          <a:srgbClr val="C0C0C0"/>
        </a:lt2>
        <a:accent1>
          <a:srgbClr val="4987E3"/>
        </a:accent1>
        <a:accent2>
          <a:srgbClr val="D9520F"/>
        </a:accent2>
        <a:accent3>
          <a:srgbClr val="FFFFFF"/>
        </a:accent3>
        <a:accent4>
          <a:srgbClr val="000000"/>
        </a:accent4>
        <a:accent5>
          <a:srgbClr val="B1C3EF"/>
        </a:accent5>
        <a:accent6>
          <a:srgbClr val="C4490C"/>
        </a:accent6>
        <a:hlink>
          <a:srgbClr val="36A1B6"/>
        </a:hlink>
        <a:folHlink>
          <a:srgbClr val="9CC76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2">
        <a:dk1>
          <a:srgbClr val="000000"/>
        </a:dk1>
        <a:lt1>
          <a:srgbClr val="FFFFFF"/>
        </a:lt1>
        <a:dk2>
          <a:srgbClr val="135377"/>
        </a:dk2>
        <a:lt2>
          <a:srgbClr val="969696"/>
        </a:lt2>
        <a:accent1>
          <a:srgbClr val="2AA08A"/>
        </a:accent1>
        <a:accent2>
          <a:srgbClr val="9C88E6"/>
        </a:accent2>
        <a:accent3>
          <a:srgbClr val="FFFFFF"/>
        </a:accent3>
        <a:accent4>
          <a:srgbClr val="000000"/>
        </a:accent4>
        <a:accent5>
          <a:srgbClr val="ACCDC4"/>
        </a:accent5>
        <a:accent6>
          <a:srgbClr val="8D7BD0"/>
        </a:accent6>
        <a:hlink>
          <a:srgbClr val="7D96D3"/>
        </a:hlink>
        <a:folHlink>
          <a:srgbClr val="DEDB7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3">
        <a:dk1>
          <a:srgbClr val="000000"/>
        </a:dk1>
        <a:lt1>
          <a:srgbClr val="FFFFFF"/>
        </a:lt1>
        <a:dk2>
          <a:srgbClr val="351155"/>
        </a:dk2>
        <a:lt2>
          <a:srgbClr val="969696"/>
        </a:lt2>
        <a:accent1>
          <a:srgbClr val="117AC1"/>
        </a:accent1>
        <a:accent2>
          <a:srgbClr val="38B890"/>
        </a:accent2>
        <a:accent3>
          <a:srgbClr val="FFFFFF"/>
        </a:accent3>
        <a:accent4>
          <a:srgbClr val="000000"/>
        </a:accent4>
        <a:accent5>
          <a:srgbClr val="AABEDD"/>
        </a:accent5>
        <a:accent6>
          <a:srgbClr val="32A682"/>
        </a:accent6>
        <a:hlink>
          <a:srgbClr val="D17FB6"/>
        </a:hlink>
        <a:folHlink>
          <a:srgbClr val="E398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cdb2004212gl</Template>
  <TotalTime>4777</TotalTime>
  <Words>741</Words>
  <Application>Microsoft Office PowerPoint</Application>
  <PresentationFormat>Widescreen</PresentationFormat>
  <Paragraphs>163</Paragraphs>
  <Slides>16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3" baseType="lpstr">
      <vt:lpstr>Arial</vt:lpstr>
      <vt:lpstr>Calibri</vt:lpstr>
      <vt:lpstr>Tahoma</vt:lpstr>
      <vt:lpstr>Times New Roman</vt:lpstr>
      <vt:lpstr>Verdana</vt:lpstr>
      <vt:lpstr>Wingdings</vt:lpstr>
      <vt:lpstr>cdb2004212gl</vt:lpstr>
      <vt:lpstr>Môn: Phát triển ứng dụng di động (Tuần 4 – Viết cuốn báo cáo)</vt:lpstr>
      <vt:lpstr>PowerPoint Presentation</vt:lpstr>
      <vt:lpstr>1. Mô hình tổng quát</vt:lpstr>
      <vt:lpstr>2. Chức năng Mobile App </vt:lpstr>
      <vt:lpstr>2. Report mỗi tuần (  đồng bộ lên github  Nộp utex)</vt:lpstr>
      <vt:lpstr>3. Lưu đồ thuật toán</vt:lpstr>
      <vt:lpstr>4. Edge AI</vt:lpstr>
      <vt:lpstr>4. Edge AI</vt:lpstr>
      <vt:lpstr>PowerPoint Presentation</vt:lpstr>
      <vt:lpstr>PowerPoint Presentation</vt:lpstr>
      <vt:lpstr>PowerPoint Presentation</vt:lpstr>
      <vt:lpstr>PowerPoint Presentation</vt:lpstr>
      <vt:lpstr>5. Triển khai và tối ưu hóa mô hình học sâu bằng C thuần</vt:lpstr>
      <vt:lpstr>6. Kết quả demo</vt:lpstr>
      <vt:lpstr>7. Phục lục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Overview of  Research &amp; Technology and Training</dc:title>
  <dc:creator>FANCA</dc:creator>
  <cp:lastModifiedBy>Dung Hoang</cp:lastModifiedBy>
  <cp:revision>411</cp:revision>
  <cp:lastPrinted>2018-01-16T10:17:52Z</cp:lastPrinted>
  <dcterms:created xsi:type="dcterms:W3CDTF">2017-11-10T03:20:57Z</dcterms:created>
  <dcterms:modified xsi:type="dcterms:W3CDTF">2026-10-12T06:38:01Z</dcterms:modified>
</cp:coreProperties>
</file>