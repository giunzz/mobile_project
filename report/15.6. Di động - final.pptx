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6" r:id="rId2"/>
    <p:sldId id="302" r:id="rId3"/>
    <p:sldId id="301" r:id="rId4"/>
    <p:sldId id="258" r:id="rId5"/>
    <p:sldId id="314" r:id="rId6"/>
    <p:sldId id="311" r:id="rId7"/>
    <p:sldId id="319" r:id="rId8"/>
    <p:sldId id="320" r:id="rId9"/>
    <p:sldId id="321" r:id="rId10"/>
    <p:sldId id="322" r:id="rId11"/>
    <p:sldId id="323" r:id="rId12"/>
    <p:sldId id="315" r:id="rId13"/>
    <p:sldId id="304" r:id="rId14"/>
    <p:sldId id="305" r:id="rId15"/>
    <p:sldId id="275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 varScale="1">
        <p:scale>
          <a:sx n="81" d="100"/>
          <a:sy n="81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giunzz/mobile_proje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havikjikadara/dog-and-cat-classification-dataset/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4 – Viết cuốn báo cáo)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FA2BC7-3D15-4008-93F5-9AF4CD66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7" y="273581"/>
            <a:ext cx="11887200" cy="658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8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Mô hình tổng quát</a:t>
            </a:r>
          </a:p>
        </p:txBody>
      </p:sp>
      <p:pic>
        <p:nvPicPr>
          <p:cNvPr id="8" name="Google Shape;44;p2">
            <a:extLst>
              <a:ext uri="{FF2B5EF4-FFF2-40B4-BE49-F238E27FC236}">
                <a16:creationId xmlns:a16="http://schemas.microsoft.com/office/drawing/2014/main" id="{B9D72842-4B88-4795-92A1-64DEC2EC992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3149" y="1219200"/>
            <a:ext cx="7385702" cy="472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Chức năng Mobile App </a:t>
            </a:r>
            <a:endParaRPr/>
          </a:p>
        </p:txBody>
      </p:sp>
      <p:pic>
        <p:nvPicPr>
          <p:cNvPr id="50" name="Google Shape;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3175"/>
            <a:ext cx="11887199" cy="45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Report mỗi tuần (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FF0000"/>
                </a:solidFill>
              </a:rPr>
              <a:t> đồng bộ lên github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 Nộp utex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E681-6D67-4CD4-8AC0-AD826623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Gồm:</a:t>
            </a:r>
          </a:p>
          <a:p>
            <a:r>
              <a:rPr lang="en-US"/>
              <a:t>Github:</a:t>
            </a:r>
            <a:r>
              <a:rPr lang="en-US">
                <a:hlinkClick r:id="rId2"/>
              </a:rPr>
              <a:t>giunzz/mobile_project</a:t>
            </a:r>
            <a:endParaRPr lang="en-US"/>
          </a:p>
          <a:p>
            <a:r>
              <a:rPr lang="en-US"/>
              <a:t>File word: tổng kết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33469-82A0-44EE-8FAA-B2BE8C12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3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Lưu đồ thuật toán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A2B2C4-88E7-4289-BDCF-B5A903192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066800"/>
            <a:ext cx="2833212" cy="47244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39036-6D6F-4742-A584-80AC7D13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85" y="1020764"/>
            <a:ext cx="3177815" cy="5082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926D0A-40D5-44CE-9D72-888A56FC4B86}"/>
              </a:ext>
            </a:extLst>
          </p:cNvPr>
          <p:cNvSpPr txBox="1"/>
          <p:nvPr/>
        </p:nvSpPr>
        <p:spPr>
          <a:xfrm>
            <a:off x="4455735" y="1261161"/>
            <a:ext cx="40393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</a:rPr>
              <a:t>Hình 2: </a:t>
            </a:r>
            <a:r>
              <a:rPr lang="vi-VN" b="0" i="0">
                <a:effectLst/>
              </a:rPr>
              <a:t>Lưu đồ điều khiển cấp thức ăn dựa trên phản hồi khối lượng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A3CCBE-1055-41D2-B304-CD577AE3AB8C}"/>
              </a:ext>
            </a:extLst>
          </p:cNvPr>
          <p:cNvSpPr txBox="1"/>
          <p:nvPr/>
        </p:nvSpPr>
        <p:spPr>
          <a:xfrm>
            <a:off x="381000" y="59190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0">
                <a:effectLst/>
              </a:rPr>
              <a:t>Hình 1: . Lưu đồ thuật toán cấp thức ăn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3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Edge AI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Edge AI literature review</a:t>
            </a:r>
          </a:p>
          <a:p>
            <a:r>
              <a:rPr lang="en-US"/>
              <a:t>Cats and Dogs Classification Dataset: </a:t>
            </a:r>
            <a:r>
              <a:rPr lang="en-US">
                <a:hlinkClick r:id="rId2"/>
              </a:rPr>
              <a:t>https://www.kaggle.com/datasets/bhavikjikadara/dog-and-cat-classification-dataset/data</a:t>
            </a:r>
            <a:r>
              <a:rPr lang="en-US"/>
              <a:t> </a:t>
            </a:r>
          </a:p>
          <a:p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 dữ liệu hiện tại gồm 24.998 ảnh có nhãn, cân bằng hoàn toàn giữa hai lớp. Việc chia tập được thực hiện stratified theo lớp với seed = 42. Test được khóa trong giai đoạn chọn kiến trúc và hyperparameter; chỉ được mở một lần sau khi toàn bộ quyết định mô hình đã cố định.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2889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FF63F1-CB56-4A16-B4D2-5AE945411FE2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3914829"/>
          <a:ext cx="6083935" cy="2306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1859991774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163936885"/>
                    </a:ext>
                  </a:extLst>
                </a:gridCol>
                <a:gridCol w="791845">
                  <a:extLst>
                    <a:ext uri="{9D8B030D-6E8A-4147-A177-3AD203B41FA5}">
                      <a16:colId xmlns:a16="http://schemas.microsoft.com/office/drawing/2014/main" val="4202057805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1796371697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826553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Tập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Vai trò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254556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Train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9.999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Tối ưu tham số mô hình.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6189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Validation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Chọn checkpoint, early stopping, ablation.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79337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1.250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Đánh giá cuối cùng; không dùng để tuning.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10148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Tổng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12.499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24.998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Dữ liệu có nhãn.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65121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99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6C97C-2295-4BB8-BACE-7337CF7E26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0" y="1020764"/>
            <a:ext cx="8915399" cy="5163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/>
        </p:nvGraphicFramePr>
        <p:xfrm>
          <a:off x="-3733800" y="2707317"/>
          <a:ext cx="3240405" cy="351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FE3F1D7-2B52-42E9-AC1A-1EF9F281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10058400" cy="563563"/>
          </a:xfrm>
        </p:spPr>
        <p:txBody>
          <a:bodyPr/>
          <a:lstStyle/>
          <a:p>
            <a:r>
              <a:rPr lang="en-US"/>
              <a:t>4. Edge AI</a:t>
            </a:r>
          </a:p>
        </p:txBody>
      </p:sp>
    </p:spTree>
    <p:extLst>
      <p:ext uri="{BB962C8B-B14F-4D97-AF65-F5344CB8AC3E}">
        <p14:creationId xmlns:p14="http://schemas.microsoft.com/office/powerpoint/2010/main" val="21889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03A4C-64FC-4716-8E10-F9D4D858BE59}"/>
              </a:ext>
            </a:extLst>
          </p:cNvPr>
          <p:cNvSpPr txBox="1"/>
          <p:nvPr/>
        </p:nvSpPr>
        <p:spPr>
          <a:xfrm>
            <a:off x="304800" y="2499808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validation sơ bộ của student có KD đạt Accuracy = 94,04% và Macro-F1 = 93,08% với 20.607 tham số và 10,284M MACs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603A60-5844-4073-8B5E-FA4BCF24423F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581400"/>
          <a:ext cx="6324600" cy="2592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753416517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16993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Cơ chế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Thiết lập / nguyên tắc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 anchor="ctr"/>
                </a:tc>
                <a:extLst>
                  <a:ext uri="{0D108BD9-81ED-4DB2-BD59-A6C34878D82A}">
                    <a16:rowId xmlns:a16="http://schemas.microsoft.com/office/drawing/2014/main" val="33937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Stratified split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80/10/10, seed 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2763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Test lock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Không đánh giá test trong model selection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17138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Augmentation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Crop, flip, jitter, rotation; erasing off ban đầu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21938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Weight decay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5e−4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4387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Label smoothing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48405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0.999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20700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Early stopping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Patience 8; min_delta 0.001 macro-F1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05961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KD ramp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Tăng dần KD weight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127749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Numerical guard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Margin FP32 + epsilon &gt;=1e−6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44450" marB="44450" anchor="ctr"/>
                </a:tc>
                <a:extLst>
                  <a:ext uri="{0D108BD9-81ED-4DB2-BD59-A6C34878D82A}">
                    <a16:rowId xmlns:a16="http://schemas.microsoft.com/office/drawing/2014/main" val="341759763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A8EBA5-F587-44CF-B454-C04FDEA3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985204"/>
            <a:ext cx="7753350" cy="24939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02CE042-F5AA-484E-84D9-4A17F48372D3}"/>
              </a:ext>
            </a:extLst>
          </p:cNvPr>
          <p:cNvSpPr txBox="1">
            <a:spLocks/>
          </p:cNvSpPr>
          <p:nvPr/>
        </p:nvSpPr>
        <p:spPr bwMode="gray">
          <a:xfrm>
            <a:off x="1235089" y="42164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/>
              <a:t>4. Edge AI</a:t>
            </a:r>
          </a:p>
        </p:txBody>
      </p:sp>
    </p:spTree>
    <p:extLst>
      <p:ext uri="{BB962C8B-B14F-4D97-AF65-F5344CB8AC3E}">
        <p14:creationId xmlns:p14="http://schemas.microsoft.com/office/powerpoint/2010/main" val="218177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99C90-6FBC-4AAF-BA14-DE9B0CF9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1" y="1194577"/>
            <a:ext cx="8085521" cy="46638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3162806-83F8-41BF-9D2B-68660752CD51}"/>
              </a:ext>
            </a:extLst>
          </p:cNvPr>
          <p:cNvSpPr txBox="1">
            <a:spLocks/>
          </p:cNvSpPr>
          <p:nvPr/>
        </p:nvSpPr>
        <p:spPr bwMode="gray">
          <a:xfrm>
            <a:off x="1295400" y="544107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/>
              <a:t>4. Edge AI</a:t>
            </a:r>
          </a:p>
        </p:txBody>
      </p:sp>
    </p:spTree>
    <p:extLst>
      <p:ext uri="{BB962C8B-B14F-4D97-AF65-F5344CB8AC3E}">
        <p14:creationId xmlns:p14="http://schemas.microsoft.com/office/powerpoint/2010/main" val="3895908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Propose Model</a:t>
            </a:r>
          </a:p>
          <a:p>
            <a:pPr marL="0" indent="0"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SSR-UnrollNet-S3 (Shared-Specific Sparse Unrolling Network for ESP32-S3).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7B044-5409-40E4-890D-574F7CE6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930080"/>
            <a:ext cx="6091521" cy="317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FC71CF-81EE-4422-A033-59180328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4114800"/>
            <a:ext cx="5781039" cy="20750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31EA1A-3761-46ED-93D5-3EF2CBA53AC9}"/>
              </a:ext>
            </a:extLst>
          </p:cNvPr>
          <p:cNvSpPr txBox="1">
            <a:spLocks/>
          </p:cNvSpPr>
          <p:nvPr/>
        </p:nvSpPr>
        <p:spPr bwMode="gray">
          <a:xfrm>
            <a:off x="1295400" y="485138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/>
              <a:t>4. Edge AI</a:t>
            </a:r>
          </a:p>
        </p:txBody>
      </p:sp>
    </p:spTree>
    <p:extLst>
      <p:ext uri="{BB962C8B-B14F-4D97-AF65-F5344CB8AC3E}">
        <p14:creationId xmlns:p14="http://schemas.microsoft.com/office/powerpoint/2010/main" val="86965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7E3D7437-29CF-43A9-9A4E-F1201877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020764"/>
            <a:ext cx="3073400" cy="50323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So sánh kết quả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4F6B7-EEC7-41CB-B625-5E6D5D654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156609"/>
              </p:ext>
            </p:extLst>
          </p:nvPr>
        </p:nvGraphicFramePr>
        <p:xfrm>
          <a:off x="1447800" y="1447800"/>
          <a:ext cx="10210800" cy="472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63858027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425445675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474246766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4324091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56021965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493251080"/>
                    </a:ext>
                  </a:extLst>
                </a:gridCol>
              </a:tblGrid>
              <a:tr h="334048">
                <a:tc>
                  <a:txBody>
                    <a:bodyPr/>
                    <a:lstStyle/>
                    <a:p>
                      <a:r>
                        <a:rPr lang="en-US" sz="900"/>
                        <a:t>Method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Year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Method Description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Accuracy (%) ↑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F1 ↑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Params (M) ↓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65911135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Light CNN + PCNN/DWT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2023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PCNN feature extractor + DWT compression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69.11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0.9955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0.011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3371869268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EfficientNetV2-S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EfficientNetV2 + pretrained fine-tuning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97.57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0.9757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20.434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472271917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Multi-Path CNN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Multi-scale convolution + attention fusion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97.30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0.9730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0.927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3994606638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PAM + ResNet-20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2024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Probabilistic attention integrated into ResNet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91.62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0.9146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0.57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760687589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ResNet-Lite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2024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Lightweight residual CNN + knowledge distillation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89.56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0.8930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1.425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4164296331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/>
                        <a:t>SNN-SqueezeNet-P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LIF-based SNN + structured pruning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81.00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0.8100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0.599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44565052"/>
                  </a:ext>
                </a:extLst>
              </a:tr>
              <a:tr h="620376">
                <a:tc>
                  <a:txBody>
                    <a:bodyPr/>
                    <a:lstStyle/>
                    <a:p>
                      <a:r>
                        <a:rPr lang="en-US" sz="900"/>
                        <a:t>EfficientNet-B0*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2026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Lightweight EfficientNet in FPGA-oriented AL pipeline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88.25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0.8825</a:t>
                      </a:r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5.3</a:t>
                      </a:r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116970360"/>
                  </a:ext>
                </a:extLst>
              </a:tr>
              <a:tr h="477212">
                <a:tc>
                  <a:txBody>
                    <a:bodyPr/>
                    <a:lstStyle/>
                    <a:p>
                      <a:r>
                        <a:rPr lang="en-US" sz="900" b="1"/>
                        <a:t>Ours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94.04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0.938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0.23</a:t>
                      </a:r>
                      <a:endParaRPr lang="en-US" sz="900"/>
                    </a:p>
                  </a:txBody>
                  <a:tcPr marL="47721" marR="47721" marT="23861" marB="23861" anchor="ctr"/>
                </a:tc>
                <a:extLst>
                  <a:ext uri="{0D108BD9-81ED-4DB2-BD59-A6C34878D82A}">
                    <a16:rowId xmlns:a16="http://schemas.microsoft.com/office/drawing/2014/main" val="2113182340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8CC4942-050A-4477-A829-8FE8ADF8EF74}"/>
              </a:ext>
            </a:extLst>
          </p:cNvPr>
          <p:cNvSpPr txBox="1">
            <a:spLocks/>
          </p:cNvSpPr>
          <p:nvPr/>
        </p:nvSpPr>
        <p:spPr bwMode="gray">
          <a:xfrm>
            <a:off x="1295400" y="472912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/>
              <a:t>4. Edge AI</a:t>
            </a:r>
          </a:p>
        </p:txBody>
      </p:sp>
    </p:spTree>
    <p:extLst>
      <p:ext uri="{BB962C8B-B14F-4D97-AF65-F5344CB8AC3E}">
        <p14:creationId xmlns:p14="http://schemas.microsoft.com/office/powerpoint/2010/main" val="137904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F06C-41C4-4254-9FC4-B6680C3E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  <a:r>
              <a:rPr lang="vi-VN"/>
              <a:t>Triển khai và tối ưu hóa mô hình học sâu bằng C thuần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52C7-25C8-4B47-BEA7-580C29C2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62A-B583-4BF2-B6BF-0593EEB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Kết quả 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57B234-06F4-4A2E-A203-55B084A2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074400" cy="4724400"/>
          </a:xfrm>
        </p:spPr>
        <p:txBody>
          <a:bodyPr/>
          <a:lstStyle/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Tổng quan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Kết quả phần mềm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 năng detect pets (kèm mô hình AI) 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 năng cho ăn theo chó/mèo -&gt; ngay lập tức</a:t>
            </a:r>
          </a:p>
          <a:p>
            <a:pPr marL="4572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Đặt lịch cho ăn  </a:t>
            </a:r>
          </a:p>
        </p:txBody>
      </p:sp>
    </p:spTree>
    <p:extLst>
      <p:ext uri="{BB962C8B-B14F-4D97-AF65-F5344CB8AC3E}">
        <p14:creationId xmlns:p14="http://schemas.microsoft.com/office/powerpoint/2010/main" val="2673230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4776</TotalTime>
  <Words>661</Words>
  <Application>Microsoft Office PowerPoint</Application>
  <PresentationFormat>Widescreen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Verdana</vt:lpstr>
      <vt:lpstr>Wingdings</vt:lpstr>
      <vt:lpstr>cdb2004212gl</vt:lpstr>
      <vt:lpstr>Môn: Phát triển ứng dụng di động (Tuần 4 – Viết cuốn báo cáo)</vt:lpstr>
      <vt:lpstr>PowerPoint Presentation</vt:lpstr>
      <vt:lpstr>1. Mô hình tổng quát</vt:lpstr>
      <vt:lpstr>2. Chức năng Mobile App </vt:lpstr>
      <vt:lpstr>2. Report mỗi tuần (  đồng bộ lên github  Nộp utex)</vt:lpstr>
      <vt:lpstr>3. Lưu đồ thuật toán</vt:lpstr>
      <vt:lpstr>4. Edge AI</vt:lpstr>
      <vt:lpstr>4. Edge AI</vt:lpstr>
      <vt:lpstr>PowerPoint Presentation</vt:lpstr>
      <vt:lpstr>PowerPoint Presentation</vt:lpstr>
      <vt:lpstr>PowerPoint Presentation</vt:lpstr>
      <vt:lpstr>PowerPoint Presentation</vt:lpstr>
      <vt:lpstr>5. Triển khai và tối ưu hóa mô hình học sâu bằng C thuần</vt:lpstr>
      <vt:lpstr>6. Kết quả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Dung Hoang</cp:lastModifiedBy>
  <cp:revision>410</cp:revision>
  <cp:lastPrinted>2018-01-16T10:17:52Z</cp:lastPrinted>
  <dcterms:created xsi:type="dcterms:W3CDTF">2017-11-10T03:20:57Z</dcterms:created>
  <dcterms:modified xsi:type="dcterms:W3CDTF">2026-10-12T06:36:38Z</dcterms:modified>
</cp:coreProperties>
</file>