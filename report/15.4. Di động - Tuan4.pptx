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76" r:id="rId2"/>
    <p:sldId id="301" r:id="rId3"/>
    <p:sldId id="302" r:id="rId4"/>
    <p:sldId id="314" r:id="rId5"/>
    <p:sldId id="305" r:id="rId6"/>
    <p:sldId id="311" r:id="rId7"/>
    <p:sldId id="313" r:id="rId8"/>
    <p:sldId id="316" r:id="rId9"/>
    <p:sldId id="317" r:id="rId10"/>
    <p:sldId id="318" r:id="rId11"/>
    <p:sldId id="315" r:id="rId12"/>
    <p:sldId id="304" r:id="rId13"/>
    <p:sldId id="275" r:id="rId14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00"/>
    <a:srgbClr val="969696"/>
    <a:srgbClr val="FAA90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178" autoAdjust="0"/>
    <p:restoredTop sz="95657" autoAdjust="0"/>
  </p:normalViewPr>
  <p:slideViewPr>
    <p:cSldViewPr>
      <p:cViewPr>
        <p:scale>
          <a:sx n="75" d="100"/>
          <a:sy n="75" d="100"/>
        </p:scale>
        <p:origin x="1061" y="187"/>
      </p:cViewPr>
      <p:guideLst>
        <p:guide orient="horz" pos="2160"/>
        <p:guide pos="3840"/>
      </p:guideLst>
    </p:cSldViewPr>
  </p:slideViewPr>
  <p:notesTextViewPr>
    <p:cViewPr>
      <p:scale>
        <a:sx n="125" d="100"/>
        <a:sy n="125" d="100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7066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7066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0DD9B359-3C40-40D0-9641-0AF6D6B0EE1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5880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BC1FF4-501E-417A-B71B-CA534D31E637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DA621D-D213-47E6-8EF4-77EE7EB23D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2602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DA621D-D213-47E6-8EF4-77EE7EB23DD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2813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3352800" y="5791200"/>
            <a:ext cx="6299200" cy="381000"/>
          </a:xfrm>
          <a:extLs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0" indent="0" algn="r">
              <a:buFont typeface="Wingdings" pitchFamily="2" charset="2"/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759200" y="2667000"/>
            <a:ext cx="7620000" cy="914400"/>
          </a:xfr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r">
              <a:defRPr sz="4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25600" y="6629400"/>
            <a:ext cx="1828800" cy="2286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73600" y="6629400"/>
            <a:ext cx="1320800" cy="228600"/>
          </a:xfrm>
        </p:spPr>
        <p:txBody>
          <a:bodyPr/>
          <a:lstStyle>
            <a:lvl1pPr>
              <a:defRPr/>
            </a:lvl1pPr>
          </a:lstStyle>
          <a:p>
            <a:fld id="{4CABA248-E004-490A-87A7-AF5AE6C8CF6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2404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blipFill dpi="0" rotWithShape="0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3" name="Group 79"/>
          <p:cNvGrpSpPr>
            <a:grpSpLocks/>
          </p:cNvGrpSpPr>
          <p:nvPr/>
        </p:nvGrpSpPr>
        <p:grpSpPr bwMode="auto">
          <a:xfrm>
            <a:off x="914400" y="685800"/>
            <a:ext cx="11277600" cy="260350"/>
            <a:chOff x="2448" y="384"/>
            <a:chExt cx="3312" cy="212"/>
          </a:xfrm>
        </p:grpSpPr>
        <p:sp>
          <p:nvSpPr>
            <p:cNvPr id="1101" name="Rectangle 77"/>
            <p:cNvSpPr>
              <a:spLocks noChangeArrowheads="1"/>
            </p:cNvSpPr>
            <p:nvPr userDrawn="1"/>
          </p:nvSpPr>
          <p:spPr bwMode="gray">
            <a:xfrm>
              <a:off x="2448" y="384"/>
              <a:ext cx="3312" cy="96"/>
            </a:xfrm>
            <a:prstGeom prst="rect">
              <a:avLst/>
            </a:prstGeom>
            <a:gradFill rotWithShape="1">
              <a:gsLst>
                <a:gs pos="0">
                  <a:srgbClr val="969696">
                    <a:gamma/>
                    <a:tint val="0"/>
                    <a:invGamma/>
                    <a:alpha val="0"/>
                  </a:srgbClr>
                </a:gs>
                <a:gs pos="100000">
                  <a:srgbClr val="969696">
                    <a:alpha val="27000"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02" name="Rectangle 78"/>
            <p:cNvSpPr>
              <a:spLocks noChangeArrowheads="1"/>
            </p:cNvSpPr>
            <p:nvPr userDrawn="1"/>
          </p:nvSpPr>
          <p:spPr bwMode="gray">
            <a:xfrm>
              <a:off x="2448" y="500"/>
              <a:ext cx="3312" cy="96"/>
            </a:xfrm>
            <a:prstGeom prst="rect">
              <a:avLst/>
            </a:prstGeom>
            <a:gradFill rotWithShape="1">
              <a:gsLst>
                <a:gs pos="0">
                  <a:srgbClr val="969696">
                    <a:gamma/>
                    <a:tint val="0"/>
                    <a:invGamma/>
                    <a:alpha val="0"/>
                  </a:srgbClr>
                </a:gs>
                <a:gs pos="100000">
                  <a:srgbClr val="969696">
                    <a:alpha val="27000"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08000" y="1295400"/>
            <a:ext cx="11074400" cy="472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white">
          <a:xfrm>
            <a:off x="1625600" y="6622078"/>
            <a:ext cx="19304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white">
          <a:xfrm>
            <a:off x="11250705" y="6619253"/>
            <a:ext cx="9652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B608ACBE-18DD-4A3E-988B-5FCF99E57120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1219200" y="457201"/>
            <a:ext cx="10058400" cy="563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grpSp>
        <p:nvGrpSpPr>
          <p:cNvPr id="1097" name="Group 73"/>
          <p:cNvGrpSpPr>
            <a:grpSpLocks/>
          </p:cNvGrpSpPr>
          <p:nvPr/>
        </p:nvGrpSpPr>
        <p:grpSpPr bwMode="auto">
          <a:xfrm>
            <a:off x="480484" y="457200"/>
            <a:ext cx="711200" cy="609600"/>
            <a:chOff x="4128" y="1920"/>
            <a:chExt cx="1010" cy="1104"/>
          </a:xfrm>
        </p:grpSpPr>
        <p:sp>
          <p:nvSpPr>
            <p:cNvPr id="1093" name="Freeform 69"/>
            <p:cNvSpPr>
              <a:spLocks/>
            </p:cNvSpPr>
            <p:nvPr userDrawn="1"/>
          </p:nvSpPr>
          <p:spPr bwMode="gray">
            <a:xfrm>
              <a:off x="4128" y="1920"/>
              <a:ext cx="528" cy="530"/>
            </a:xfrm>
            <a:custGeom>
              <a:avLst/>
              <a:gdLst>
                <a:gd name="T0" fmla="*/ 0 w 528"/>
                <a:gd name="T1" fmla="*/ 0 h 530"/>
                <a:gd name="T2" fmla="*/ 0 w 528"/>
                <a:gd name="T3" fmla="*/ 192 h 530"/>
                <a:gd name="T4" fmla="*/ 340 w 528"/>
                <a:gd name="T5" fmla="*/ 530 h 530"/>
                <a:gd name="T6" fmla="*/ 528 w 528"/>
                <a:gd name="T7" fmla="*/ 528 h 530"/>
                <a:gd name="T8" fmla="*/ 528 w 528"/>
                <a:gd name="T9" fmla="*/ 336 h 530"/>
                <a:gd name="T10" fmla="*/ 196 w 528"/>
                <a:gd name="T11" fmla="*/ 0 h 530"/>
                <a:gd name="T12" fmla="*/ 0 w 528"/>
                <a:gd name="T13" fmla="*/ 0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28" h="530">
                  <a:moveTo>
                    <a:pt x="0" y="0"/>
                  </a:moveTo>
                  <a:lnTo>
                    <a:pt x="0" y="192"/>
                  </a:lnTo>
                  <a:lnTo>
                    <a:pt x="340" y="530"/>
                  </a:lnTo>
                  <a:lnTo>
                    <a:pt x="528" y="528"/>
                  </a:lnTo>
                  <a:lnTo>
                    <a:pt x="528" y="336"/>
                  </a:lnTo>
                  <a:lnTo>
                    <a:pt x="19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4" name="Freeform 70"/>
            <p:cNvSpPr>
              <a:spLocks/>
            </p:cNvSpPr>
            <p:nvPr userDrawn="1"/>
          </p:nvSpPr>
          <p:spPr bwMode="gray">
            <a:xfrm rot="5400000">
              <a:off x="4129" y="2495"/>
              <a:ext cx="528" cy="530"/>
            </a:xfrm>
            <a:custGeom>
              <a:avLst/>
              <a:gdLst>
                <a:gd name="T0" fmla="*/ 0 w 528"/>
                <a:gd name="T1" fmla="*/ 0 h 530"/>
                <a:gd name="T2" fmla="*/ 0 w 528"/>
                <a:gd name="T3" fmla="*/ 192 h 530"/>
                <a:gd name="T4" fmla="*/ 340 w 528"/>
                <a:gd name="T5" fmla="*/ 530 h 530"/>
                <a:gd name="T6" fmla="*/ 528 w 528"/>
                <a:gd name="T7" fmla="*/ 528 h 530"/>
                <a:gd name="T8" fmla="*/ 528 w 528"/>
                <a:gd name="T9" fmla="*/ 336 h 530"/>
                <a:gd name="T10" fmla="*/ 196 w 528"/>
                <a:gd name="T11" fmla="*/ 0 h 530"/>
                <a:gd name="T12" fmla="*/ 0 w 528"/>
                <a:gd name="T13" fmla="*/ 0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28" h="530">
                  <a:moveTo>
                    <a:pt x="0" y="0"/>
                  </a:moveTo>
                  <a:lnTo>
                    <a:pt x="0" y="192"/>
                  </a:lnTo>
                  <a:lnTo>
                    <a:pt x="340" y="530"/>
                  </a:lnTo>
                  <a:lnTo>
                    <a:pt x="528" y="528"/>
                  </a:lnTo>
                  <a:lnTo>
                    <a:pt x="528" y="336"/>
                  </a:lnTo>
                  <a:lnTo>
                    <a:pt x="19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5" name="Freeform 71"/>
            <p:cNvSpPr>
              <a:spLocks/>
            </p:cNvSpPr>
            <p:nvPr userDrawn="1"/>
          </p:nvSpPr>
          <p:spPr bwMode="gray">
            <a:xfrm>
              <a:off x="4608" y="1920"/>
              <a:ext cx="528" cy="530"/>
            </a:xfrm>
            <a:custGeom>
              <a:avLst/>
              <a:gdLst>
                <a:gd name="T0" fmla="*/ 0 w 528"/>
                <a:gd name="T1" fmla="*/ 0 h 530"/>
                <a:gd name="T2" fmla="*/ 0 w 528"/>
                <a:gd name="T3" fmla="*/ 192 h 530"/>
                <a:gd name="T4" fmla="*/ 340 w 528"/>
                <a:gd name="T5" fmla="*/ 530 h 530"/>
                <a:gd name="T6" fmla="*/ 528 w 528"/>
                <a:gd name="T7" fmla="*/ 528 h 530"/>
                <a:gd name="T8" fmla="*/ 528 w 528"/>
                <a:gd name="T9" fmla="*/ 336 h 530"/>
                <a:gd name="T10" fmla="*/ 196 w 528"/>
                <a:gd name="T11" fmla="*/ 0 h 530"/>
                <a:gd name="T12" fmla="*/ 0 w 528"/>
                <a:gd name="T13" fmla="*/ 0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28" h="530">
                  <a:moveTo>
                    <a:pt x="0" y="0"/>
                  </a:moveTo>
                  <a:lnTo>
                    <a:pt x="0" y="192"/>
                  </a:lnTo>
                  <a:lnTo>
                    <a:pt x="340" y="530"/>
                  </a:lnTo>
                  <a:lnTo>
                    <a:pt x="528" y="528"/>
                  </a:lnTo>
                  <a:lnTo>
                    <a:pt x="528" y="336"/>
                  </a:lnTo>
                  <a:lnTo>
                    <a:pt x="19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6" name="Freeform 72"/>
            <p:cNvSpPr>
              <a:spLocks/>
            </p:cNvSpPr>
            <p:nvPr userDrawn="1"/>
          </p:nvSpPr>
          <p:spPr bwMode="gray">
            <a:xfrm rot="5400000">
              <a:off x="4609" y="2495"/>
              <a:ext cx="528" cy="530"/>
            </a:xfrm>
            <a:custGeom>
              <a:avLst/>
              <a:gdLst>
                <a:gd name="T0" fmla="*/ 0 w 528"/>
                <a:gd name="T1" fmla="*/ 0 h 530"/>
                <a:gd name="T2" fmla="*/ 0 w 528"/>
                <a:gd name="T3" fmla="*/ 192 h 530"/>
                <a:gd name="T4" fmla="*/ 340 w 528"/>
                <a:gd name="T5" fmla="*/ 530 h 530"/>
                <a:gd name="T6" fmla="*/ 528 w 528"/>
                <a:gd name="T7" fmla="*/ 528 h 530"/>
                <a:gd name="T8" fmla="*/ 528 w 528"/>
                <a:gd name="T9" fmla="*/ 336 h 530"/>
                <a:gd name="T10" fmla="*/ 196 w 528"/>
                <a:gd name="T11" fmla="*/ 0 h 530"/>
                <a:gd name="T12" fmla="*/ 0 w 528"/>
                <a:gd name="T13" fmla="*/ 0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28" h="530">
                  <a:moveTo>
                    <a:pt x="0" y="0"/>
                  </a:moveTo>
                  <a:lnTo>
                    <a:pt x="0" y="192"/>
                  </a:lnTo>
                  <a:lnTo>
                    <a:pt x="340" y="530"/>
                  </a:lnTo>
                  <a:lnTo>
                    <a:pt x="528" y="528"/>
                  </a:lnTo>
                  <a:lnTo>
                    <a:pt x="528" y="336"/>
                  </a:lnTo>
                  <a:lnTo>
                    <a:pt x="19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5" name="TextBox 14"/>
          <p:cNvSpPr txBox="1"/>
          <p:nvPr userDrawn="1"/>
        </p:nvSpPr>
        <p:spPr>
          <a:xfrm>
            <a:off x="5689600" y="6465366"/>
            <a:ext cx="5537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HCMC</a:t>
            </a:r>
            <a:r>
              <a:rPr 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1400" b="1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University of Technology and Education</a:t>
            </a:r>
            <a:endParaRPr 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Font typeface="Wingdings" pitchFamily="2" charset="2"/>
        <a:buChar char="§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4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docs.google.com/spreadsheets/d/1sClCX4doFPRGRslG_CvJLxAsMfU6heg3camePzlJto0/edit?usp=sharing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giunzz/mobile_project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github.com/giunzz/mobile_project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bhavikjikadara/dog-and-cat-classification-dataset/data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drive.google.com/drive/folders/1-9PNQV2SPLQLSao_ZxBmxh218x9svbVC?usp=sharing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ltGray"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3200400" y="2143115"/>
            <a:ext cx="8610600" cy="1752599"/>
          </a:xfrm>
        </p:spPr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Môn: Phát triển ứng dụng di động</a:t>
            </a:r>
            <a:br>
              <a:rPr lang="en-US">
                <a:solidFill>
                  <a:srgbClr val="FF0000"/>
                </a:solidFill>
              </a:rPr>
            </a:br>
            <a:r>
              <a:rPr lang="en-US">
                <a:solidFill>
                  <a:srgbClr val="FF0000"/>
                </a:solidFill>
              </a:rPr>
              <a:t>(Tuần 4 – Viết cuốn báo cáo)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72710" name="Text Box 6"/>
          <p:cNvSpPr txBox="1">
            <a:spLocks noChangeArrowheads="1"/>
          </p:cNvSpPr>
          <p:nvPr/>
        </p:nvSpPr>
        <p:spPr bwMode="auto">
          <a:xfrm>
            <a:off x="6852979" y="3864320"/>
            <a:ext cx="3265638" cy="491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sz="2000" b="1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Guide: </a:t>
            </a:r>
            <a:r>
              <a:rPr lang="en-US" sz="2000" b="1" dirty="0" err="1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Huỳnh</a:t>
            </a:r>
            <a:r>
              <a:rPr lang="en-US" sz="2000" b="1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Hoàng Hà</a:t>
            </a:r>
            <a:endParaRPr lang="en-US" sz="2000" b="1" dirty="0">
              <a:solidFill>
                <a:schemeClr val="accent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5" name="Hình ảnh 4">
            <a:extLst>
              <a:ext uri="{FF2B5EF4-FFF2-40B4-BE49-F238E27FC236}">
                <a16:creationId xmlns:a16="http://schemas.microsoft.com/office/drawing/2014/main" id="{F6F2E0B4-01DD-EDA6-127D-3B979E1539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175259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36A3E-140F-4D7F-BC63-99920247F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 Tiến độ thực tế (dự kiến)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69D7D8-9C34-42BE-9B45-DBF7B9C2BF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/>
              <a:t>Bảng 1: Bảng phân công công việc từng thành viên</a:t>
            </a:r>
          </a:p>
          <a:p>
            <a:r>
              <a:rPr lang="en-US" sz="2400"/>
              <a:t>Bảng 2: Bảng “quản lý tiến độ” (ghi nhận tiến độ thực tế “theo tuần”)</a:t>
            </a:r>
          </a:p>
          <a:p>
            <a:r>
              <a:rPr lang="en-US" sz="2400">
                <a:hlinkClick r:id="rId2"/>
              </a:rPr>
              <a:t>https://docs.google.com/spreadsheets/d/1sClCX4doFPRGRslG_CvJLxAsMfU6heg3camePzlJto0/edit?usp=sharing</a:t>
            </a:r>
            <a:r>
              <a:rPr lang="en-US" sz="240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CAEE2E-AFB8-4D4A-8D4F-9B9418E098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6500" y="2971800"/>
            <a:ext cx="7589246" cy="327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102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3062A-B583-4BF2-B6BF-0593EEBF6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Report mỗi tuần ( </a:t>
            </a:r>
            <a:r>
              <a:rPr lang="en-US">
                <a:solidFill>
                  <a:srgbClr val="FF0000"/>
                </a:solidFill>
                <a:sym typeface="Wingdings" panose="05000000000000000000" pitchFamily="2" charset="2"/>
              </a:rPr>
              <a:t></a:t>
            </a:r>
            <a:r>
              <a:rPr lang="en-US">
                <a:solidFill>
                  <a:srgbClr val="FF0000"/>
                </a:solidFill>
              </a:rPr>
              <a:t> đồng bộ lên github </a:t>
            </a:r>
            <a:r>
              <a:rPr lang="en-US">
                <a:solidFill>
                  <a:srgbClr val="FF0000"/>
                </a:solidFill>
                <a:sym typeface="Wingdings" panose="05000000000000000000" pitchFamily="2" charset="2"/>
              </a:rPr>
              <a:t> Nộp utex</a:t>
            </a:r>
            <a:r>
              <a:rPr lang="en-US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55E681-6D67-4CD4-8AC0-AD826623E5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Gồm:</a:t>
            </a:r>
          </a:p>
          <a:p>
            <a:r>
              <a:rPr lang="en-US"/>
              <a:t>Github:</a:t>
            </a:r>
            <a:r>
              <a:rPr lang="en-US">
                <a:hlinkClick r:id="rId2"/>
              </a:rPr>
              <a:t>giunzz/mobile_project</a:t>
            </a:r>
            <a:endParaRPr lang="en-US"/>
          </a:p>
          <a:p>
            <a:r>
              <a:rPr lang="en-US"/>
              <a:t>File word: tổng kết</a:t>
            </a:r>
          </a:p>
          <a:p>
            <a:r>
              <a:rPr lang="en-US"/>
              <a:t>File apk</a:t>
            </a: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8872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3062A-B583-4BF2-B6BF-0593EEBF6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Report mỗi tuần ( </a:t>
            </a:r>
            <a:r>
              <a:rPr lang="en-US">
                <a:solidFill>
                  <a:srgbClr val="FF0000"/>
                </a:solidFill>
                <a:sym typeface="Wingdings" panose="05000000000000000000" pitchFamily="2" charset="2"/>
              </a:rPr>
              <a:t></a:t>
            </a:r>
            <a:r>
              <a:rPr lang="en-US">
                <a:solidFill>
                  <a:srgbClr val="FF0000"/>
                </a:solidFill>
              </a:rPr>
              <a:t> đồng bộ lên github </a:t>
            </a:r>
            <a:r>
              <a:rPr lang="en-US">
                <a:solidFill>
                  <a:srgbClr val="FF0000"/>
                </a:solidFill>
                <a:sym typeface="Wingdings" panose="05000000000000000000" pitchFamily="2" charset="2"/>
              </a:rPr>
              <a:t> Nộp utex</a:t>
            </a:r>
            <a:r>
              <a:rPr lang="en-US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55E681-6D67-4CD4-8AC0-AD826623E5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Gồm:</a:t>
            </a:r>
          </a:p>
          <a:p>
            <a:r>
              <a:rPr lang="en-US"/>
              <a:t>Github:</a:t>
            </a:r>
            <a:r>
              <a:rPr lang="en-US">
                <a:hlinkClick r:id="rId2"/>
              </a:rPr>
              <a:t>giunzz/mobile_project</a:t>
            </a:r>
            <a:endParaRPr lang="en-US"/>
          </a:p>
          <a:p>
            <a:r>
              <a:rPr lang="en-US"/>
              <a:t>File word: tổng kết</a:t>
            </a:r>
          </a:p>
          <a:p>
            <a:pPr marL="0" indent="0">
              <a:buNone/>
            </a:pP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333469-82A0-44EE-8FAA-B2BE8C129D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7334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3062A-B583-4BF2-B6BF-0593EEBF6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Report mỗi tuần</a:t>
            </a:r>
          </a:p>
        </p:txBody>
      </p:sp>
      <p:pic>
        <p:nvPicPr>
          <p:cNvPr id="3" name="video">
            <a:hlinkClick r:id="" action="ppaction://media"/>
            <a:extLst>
              <a:ext uri="{FF2B5EF4-FFF2-40B4-BE49-F238E27FC236}">
                <a16:creationId xmlns:a16="http://schemas.microsoft.com/office/drawing/2014/main" id="{01F30E36-FB4E-45BB-9F03-DAF1697C41B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905000" y="1143000"/>
            <a:ext cx="8686800" cy="4882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3230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97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3062A-B583-4BF2-B6BF-0593EEBF6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Report mỗi tuần</a:t>
            </a:r>
          </a:p>
        </p:txBody>
      </p:sp>
      <p:sp>
        <p:nvSpPr>
          <p:cNvPr id="51" name="Content Placeholder 2">
            <a:extLst>
              <a:ext uri="{FF2B5EF4-FFF2-40B4-BE49-F238E27FC236}">
                <a16:creationId xmlns:a16="http://schemas.microsoft.com/office/drawing/2014/main" id="{7E3D7437-29CF-43A9-9A4E-F120187720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1295400"/>
            <a:ext cx="11074400" cy="4724400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Edge AI literature review</a:t>
            </a:r>
          </a:p>
          <a:p>
            <a:r>
              <a:rPr lang="en-US"/>
              <a:t>Cats and Dogs Classification Dataset: </a:t>
            </a:r>
            <a:r>
              <a:rPr lang="en-US">
                <a:hlinkClick r:id="rId2"/>
              </a:rPr>
              <a:t>https://www.kaggle.com/datasets/bhavikjikadara/dog-and-cat-classification-dataset/data</a:t>
            </a:r>
            <a:r>
              <a:rPr lang="en-US"/>
              <a:t> </a:t>
            </a:r>
          </a:p>
          <a:p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Bộ dữ liệu hiện tại gồm 24.998 ảnh có nhãn, cân bằng hoàn toàn giữa hai lớp. Việc chia tập được thực hiện stratified theo lớp với seed = 42. Test được khóa trong giai đoạn chọn kiến trúc và hyperparameter; chỉ được mở một lần sau khi toàn bộ quyết định mô hình đã cố định.</a:t>
            </a:r>
            <a:endParaRPr kumimoji="0" lang="en-US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28892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4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4FF63F1-CB56-4A16-B4D2-5AE945411F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7821126"/>
              </p:ext>
            </p:extLst>
          </p:nvPr>
        </p:nvGraphicFramePr>
        <p:xfrm>
          <a:off x="4724400" y="3914829"/>
          <a:ext cx="6083935" cy="230644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80135">
                  <a:extLst>
                    <a:ext uri="{9D8B030D-6E8A-4147-A177-3AD203B41FA5}">
                      <a16:colId xmlns:a16="http://schemas.microsoft.com/office/drawing/2014/main" val="1859991774"/>
                    </a:ext>
                  </a:extLst>
                </a:gridCol>
                <a:gridCol w="791845">
                  <a:extLst>
                    <a:ext uri="{9D8B030D-6E8A-4147-A177-3AD203B41FA5}">
                      <a16:colId xmlns:a16="http://schemas.microsoft.com/office/drawing/2014/main" val="4163936885"/>
                    </a:ext>
                  </a:extLst>
                </a:gridCol>
                <a:gridCol w="791845">
                  <a:extLst>
                    <a:ext uri="{9D8B030D-6E8A-4147-A177-3AD203B41FA5}">
                      <a16:colId xmlns:a16="http://schemas.microsoft.com/office/drawing/2014/main" val="4202057805"/>
                    </a:ext>
                  </a:extLst>
                </a:gridCol>
                <a:gridCol w="899795">
                  <a:extLst>
                    <a:ext uri="{9D8B030D-6E8A-4147-A177-3AD203B41FA5}">
                      <a16:colId xmlns:a16="http://schemas.microsoft.com/office/drawing/2014/main" val="1796371697"/>
                    </a:ext>
                  </a:extLst>
                </a:gridCol>
                <a:gridCol w="2520315">
                  <a:extLst>
                    <a:ext uri="{9D8B030D-6E8A-4147-A177-3AD203B41FA5}">
                      <a16:colId xmlns:a16="http://schemas.microsoft.com/office/drawing/2014/main" val="282655327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Tập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50800" marB="5080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Cat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50800" marB="5080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Dog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50800" marB="5080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Tổng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50800" marB="5080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Vai trò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50800" marB="50800" anchor="ctr"/>
                </a:tc>
                <a:extLst>
                  <a:ext uri="{0D108BD9-81ED-4DB2-BD59-A6C34878D82A}">
                    <a16:rowId xmlns:a16="http://schemas.microsoft.com/office/drawing/2014/main" val="25455668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Train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9.999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9.999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19.998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Tối ưu tham số mô hình.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extLst>
                  <a:ext uri="{0D108BD9-81ED-4DB2-BD59-A6C34878D82A}">
                    <a16:rowId xmlns:a16="http://schemas.microsoft.com/office/drawing/2014/main" val="30561899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Validation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1.250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1.250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2.500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Chọn checkpoint, early stopping, ablation.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extLst>
                  <a:ext uri="{0D108BD9-81ED-4DB2-BD59-A6C34878D82A}">
                    <a16:rowId xmlns:a16="http://schemas.microsoft.com/office/drawing/2014/main" val="17933750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Test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1.250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1.250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2.500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Đánh giá cuối cùng; không dùng để tuning.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extLst>
                  <a:ext uri="{0D108BD9-81ED-4DB2-BD59-A6C34878D82A}">
                    <a16:rowId xmlns:a16="http://schemas.microsoft.com/office/drawing/2014/main" val="31014855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Tổng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12.499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12.499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24.998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Dữ liệu có nhãn.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extLst>
                  <a:ext uri="{0D108BD9-81ED-4DB2-BD59-A6C34878D82A}">
                    <a16:rowId xmlns:a16="http://schemas.microsoft.com/office/drawing/2014/main" val="3651215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70370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3062A-B583-4BF2-B6BF-0593EEBF6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Report mỗi tuần</a:t>
            </a:r>
          </a:p>
        </p:txBody>
      </p:sp>
      <p:sp>
        <p:nvSpPr>
          <p:cNvPr id="51" name="Content Placeholder 2">
            <a:extLst>
              <a:ext uri="{FF2B5EF4-FFF2-40B4-BE49-F238E27FC236}">
                <a16:creationId xmlns:a16="http://schemas.microsoft.com/office/drawing/2014/main" id="{7E3D7437-29CF-43A9-9A4E-F120187720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1" y="1020764"/>
            <a:ext cx="3073400" cy="1524000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Propose Model</a:t>
            </a:r>
          </a:p>
          <a:p>
            <a:pPr marL="0" indent="0">
              <a:buNone/>
            </a:pPr>
            <a:r>
              <a:rPr lang="en-US" sz="18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SSR-UnrollNet-S3 (Shared-Specific Sparse Unrolling Network for ESP32-S3). </a:t>
            </a: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D6C97C-2295-4BB8-BACE-7337CF7E26E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048000" y="1020764"/>
            <a:ext cx="8915399" cy="516381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DF03A4C-64FC-4716-8E10-F9D4D858BE59}"/>
              </a:ext>
            </a:extLst>
          </p:cNvPr>
          <p:cNvSpPr txBox="1"/>
          <p:nvPr/>
        </p:nvSpPr>
        <p:spPr>
          <a:xfrm>
            <a:off x="304800" y="2499808"/>
            <a:ext cx="27432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Kết quả validation sơ bộ của student có KD đạt Accuracy = 94,04% và Macro-F1 = 93,08% với 20.607 tham số và 10,284M MACs</a:t>
            </a:r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9603A60-5844-4073-8B5E-FA4BCF2442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5522086"/>
              </p:ext>
            </p:extLst>
          </p:nvPr>
        </p:nvGraphicFramePr>
        <p:xfrm>
          <a:off x="-3733800" y="2707317"/>
          <a:ext cx="3240405" cy="351282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80135">
                  <a:extLst>
                    <a:ext uri="{9D8B030D-6E8A-4147-A177-3AD203B41FA5}">
                      <a16:colId xmlns:a16="http://schemas.microsoft.com/office/drawing/2014/main" val="753416517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2169939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Cơ chế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50800" marB="5080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Thiết lập / nguyên tắc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50800" marB="50800" anchor="ctr"/>
                </a:tc>
                <a:extLst>
                  <a:ext uri="{0D108BD9-81ED-4DB2-BD59-A6C34878D82A}">
                    <a16:rowId xmlns:a16="http://schemas.microsoft.com/office/drawing/2014/main" val="3393746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Stratified split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80/10/10, seed 42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extLst>
                  <a:ext uri="{0D108BD9-81ED-4DB2-BD59-A6C34878D82A}">
                    <a16:rowId xmlns:a16="http://schemas.microsoft.com/office/drawing/2014/main" val="20276338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Test lock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Không đánh giá test trong model selection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extLst>
                  <a:ext uri="{0D108BD9-81ED-4DB2-BD59-A6C34878D82A}">
                    <a16:rowId xmlns:a16="http://schemas.microsoft.com/office/drawing/2014/main" val="11713883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Augmentation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Crop, flip, jitter, rotation; erasing off ban đầu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extLst>
                  <a:ext uri="{0D108BD9-81ED-4DB2-BD59-A6C34878D82A}">
                    <a16:rowId xmlns:a16="http://schemas.microsoft.com/office/drawing/2014/main" val="22193811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Weight decay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5e−4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extLst>
                  <a:ext uri="{0D108BD9-81ED-4DB2-BD59-A6C34878D82A}">
                    <a16:rowId xmlns:a16="http://schemas.microsoft.com/office/drawing/2014/main" val="24387553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Label smoothing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0.05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extLst>
                  <a:ext uri="{0D108BD9-81ED-4DB2-BD59-A6C34878D82A}">
                    <a16:rowId xmlns:a16="http://schemas.microsoft.com/office/drawing/2014/main" val="14840526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EMA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0.999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extLst>
                  <a:ext uri="{0D108BD9-81ED-4DB2-BD59-A6C34878D82A}">
                    <a16:rowId xmlns:a16="http://schemas.microsoft.com/office/drawing/2014/main" val="20700683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Early stopping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Patience 8; min_delta 0.001 macro-F1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extLst>
                  <a:ext uri="{0D108BD9-81ED-4DB2-BD59-A6C34878D82A}">
                    <a16:rowId xmlns:a16="http://schemas.microsoft.com/office/drawing/2014/main" val="30596113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KD ramp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Tăng dần KD weight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extLst>
                  <a:ext uri="{0D108BD9-81ED-4DB2-BD59-A6C34878D82A}">
                    <a16:rowId xmlns:a16="http://schemas.microsoft.com/office/drawing/2014/main" val="12774921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Numerical guard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Margin FP32 + epsilon &gt;=1e−6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extLst>
                  <a:ext uri="{0D108BD9-81ED-4DB2-BD59-A6C34878D82A}">
                    <a16:rowId xmlns:a16="http://schemas.microsoft.com/office/drawing/2014/main" val="34175976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98966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3062A-B583-4BF2-B6BF-0593EEBF6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Report mỗi tuần</a:t>
            </a:r>
          </a:p>
        </p:txBody>
      </p:sp>
      <p:sp>
        <p:nvSpPr>
          <p:cNvPr id="51" name="Content Placeholder 2">
            <a:extLst>
              <a:ext uri="{FF2B5EF4-FFF2-40B4-BE49-F238E27FC236}">
                <a16:creationId xmlns:a16="http://schemas.microsoft.com/office/drawing/2014/main" id="{7E3D7437-29CF-43A9-9A4E-F120187720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1" y="1020764"/>
            <a:ext cx="3073400" cy="1524000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Propose Model</a:t>
            </a:r>
          </a:p>
          <a:p>
            <a:pPr marL="0" indent="0">
              <a:buNone/>
            </a:pPr>
            <a:r>
              <a:rPr lang="en-US" sz="18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SSR-UnrollNet-S3 (Shared-Specific Sparse Unrolling Network for ESP32-S3). 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F03A4C-64FC-4716-8E10-F9D4D858BE59}"/>
              </a:ext>
            </a:extLst>
          </p:cNvPr>
          <p:cNvSpPr txBox="1"/>
          <p:nvPr/>
        </p:nvSpPr>
        <p:spPr>
          <a:xfrm>
            <a:off x="304800" y="2499808"/>
            <a:ext cx="27432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Kết quả validation sơ bộ của student có KD đạt Accuracy = 94,04% và Macro-F1 = 93,08% với 20.607 tham số và 10,284M MACs</a:t>
            </a:r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9603A60-5844-4073-8B5E-FA4BCF2442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9283345"/>
              </p:ext>
            </p:extLst>
          </p:nvPr>
        </p:nvGraphicFramePr>
        <p:xfrm>
          <a:off x="3962400" y="3581400"/>
          <a:ext cx="6324600" cy="259271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08200">
                  <a:extLst>
                    <a:ext uri="{9D8B030D-6E8A-4147-A177-3AD203B41FA5}">
                      <a16:colId xmlns:a16="http://schemas.microsoft.com/office/drawing/2014/main" val="753416517"/>
                    </a:ext>
                  </a:extLst>
                </a:gridCol>
                <a:gridCol w="4216400">
                  <a:extLst>
                    <a:ext uri="{9D8B030D-6E8A-4147-A177-3AD203B41FA5}">
                      <a16:colId xmlns:a16="http://schemas.microsoft.com/office/drawing/2014/main" val="2169939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Cơ chế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50800" marB="5080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Thiết lập / nguyên tắc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50800" marB="50800" anchor="ctr"/>
                </a:tc>
                <a:extLst>
                  <a:ext uri="{0D108BD9-81ED-4DB2-BD59-A6C34878D82A}">
                    <a16:rowId xmlns:a16="http://schemas.microsoft.com/office/drawing/2014/main" val="3393746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Stratified split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80/10/10, seed 42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extLst>
                  <a:ext uri="{0D108BD9-81ED-4DB2-BD59-A6C34878D82A}">
                    <a16:rowId xmlns:a16="http://schemas.microsoft.com/office/drawing/2014/main" val="20276338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Test lock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Không đánh giá test trong model selection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extLst>
                  <a:ext uri="{0D108BD9-81ED-4DB2-BD59-A6C34878D82A}">
                    <a16:rowId xmlns:a16="http://schemas.microsoft.com/office/drawing/2014/main" val="11713883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Augmentation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Crop, flip, jitter, rotation; erasing off ban đầu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extLst>
                  <a:ext uri="{0D108BD9-81ED-4DB2-BD59-A6C34878D82A}">
                    <a16:rowId xmlns:a16="http://schemas.microsoft.com/office/drawing/2014/main" val="22193811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Weight decay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5e−4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extLst>
                  <a:ext uri="{0D108BD9-81ED-4DB2-BD59-A6C34878D82A}">
                    <a16:rowId xmlns:a16="http://schemas.microsoft.com/office/drawing/2014/main" val="24387553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Label smoothing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0.05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extLst>
                  <a:ext uri="{0D108BD9-81ED-4DB2-BD59-A6C34878D82A}">
                    <a16:rowId xmlns:a16="http://schemas.microsoft.com/office/drawing/2014/main" val="14840526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EMA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0.999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extLst>
                  <a:ext uri="{0D108BD9-81ED-4DB2-BD59-A6C34878D82A}">
                    <a16:rowId xmlns:a16="http://schemas.microsoft.com/office/drawing/2014/main" val="20700683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Early stopping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Patience 8; min_delta 0.001 macro-F1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extLst>
                  <a:ext uri="{0D108BD9-81ED-4DB2-BD59-A6C34878D82A}">
                    <a16:rowId xmlns:a16="http://schemas.microsoft.com/office/drawing/2014/main" val="30596113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KD ramp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Tăng dần KD weight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extLst>
                  <a:ext uri="{0D108BD9-81ED-4DB2-BD59-A6C34878D82A}">
                    <a16:rowId xmlns:a16="http://schemas.microsoft.com/office/drawing/2014/main" val="12774921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Numerical guard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Margin FP32 + epsilon &gt;=1e−6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extLst>
                  <a:ext uri="{0D108BD9-81ED-4DB2-BD59-A6C34878D82A}">
                    <a16:rowId xmlns:a16="http://schemas.microsoft.com/office/drawing/2014/main" val="3417597638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A0A8EBA5-F587-44CF-B454-C04FDEA31A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4730" y="985204"/>
            <a:ext cx="7753350" cy="2493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6828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3062A-B583-4BF2-B6BF-0593EEBF6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Report mỗi tuần</a:t>
            </a:r>
          </a:p>
        </p:txBody>
      </p:sp>
      <p:sp>
        <p:nvSpPr>
          <p:cNvPr id="51" name="Content Placeholder 2">
            <a:extLst>
              <a:ext uri="{FF2B5EF4-FFF2-40B4-BE49-F238E27FC236}">
                <a16:creationId xmlns:a16="http://schemas.microsoft.com/office/drawing/2014/main" id="{7E3D7437-29CF-43A9-9A4E-F120187720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1" y="1020764"/>
            <a:ext cx="3073400" cy="1524000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Propose Model</a:t>
            </a:r>
          </a:p>
          <a:p>
            <a:pPr marL="0" indent="0">
              <a:buNone/>
            </a:pPr>
            <a:r>
              <a:rPr lang="en-US" sz="18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SSR-UnrollNet-S3 (Shared-Specific Sparse Unrolling Network for ESP32-S3). </a:t>
            </a:r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C899C90-6FBC-4AAF-BA14-DE9B0CF995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2001" y="1194577"/>
            <a:ext cx="8085521" cy="4663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189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3062A-B583-4BF2-B6BF-0593EEBF6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Report mỗi tuần</a:t>
            </a:r>
          </a:p>
        </p:txBody>
      </p:sp>
      <p:sp>
        <p:nvSpPr>
          <p:cNvPr id="51" name="Content Placeholder 2">
            <a:extLst>
              <a:ext uri="{FF2B5EF4-FFF2-40B4-BE49-F238E27FC236}">
                <a16:creationId xmlns:a16="http://schemas.microsoft.com/office/drawing/2014/main" id="{7E3D7437-29CF-43A9-9A4E-F120187720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1" y="1020764"/>
            <a:ext cx="3073400" cy="1524000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Propose Model</a:t>
            </a:r>
          </a:p>
          <a:p>
            <a:pPr marL="0" indent="0">
              <a:buNone/>
            </a:pPr>
            <a:r>
              <a:rPr lang="en-US" sz="18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SSR-UnrollNet-S3 (Shared-Specific Sparse Unrolling Network for ESP32-S3). </a:t>
            </a: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E7B044-5409-40E4-890D-574F7CE6CE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0800" y="930080"/>
            <a:ext cx="6091521" cy="31796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0FC71CF-81EE-4422-A033-59180328B3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0800" y="4114800"/>
            <a:ext cx="5781039" cy="2075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18686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3062A-B583-4BF2-B6BF-0593EEBF6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Report mỗi tuần</a:t>
            </a:r>
          </a:p>
        </p:txBody>
      </p:sp>
      <p:sp>
        <p:nvSpPr>
          <p:cNvPr id="51" name="Content Placeholder 2">
            <a:extLst>
              <a:ext uri="{FF2B5EF4-FFF2-40B4-BE49-F238E27FC236}">
                <a16:creationId xmlns:a16="http://schemas.microsoft.com/office/drawing/2014/main" id="{7E3D7437-29CF-43A9-9A4E-F120187720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1" y="1020764"/>
            <a:ext cx="3073400" cy="503236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Related work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D22FF7-6303-4FD3-BFEC-2B4E3452C0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6920" y="1143000"/>
            <a:ext cx="7980679" cy="4642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0452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EF06C-41C4-4254-9FC4-B6680C3EE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 Viết cuốn báo cáo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D052C7-25C8-4B47-BEA7-580C29C220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Mẫu cuốn báo cáo. </a:t>
            </a:r>
            <a:r>
              <a:rPr lang="en-US">
                <a:hlinkClick r:id="rId2"/>
              </a:rPr>
              <a:t>Link</a:t>
            </a:r>
            <a:endParaRPr lang="en-US"/>
          </a:p>
          <a:p>
            <a:r>
              <a:rPr lang="en-US"/>
              <a:t>Yêu cầu:</a:t>
            </a:r>
          </a:p>
          <a:p>
            <a:pPr lvl="1"/>
            <a:r>
              <a:rPr lang="en-US"/>
              <a:t>Ch</a:t>
            </a:r>
            <a:r>
              <a:rPr lang="vi-VN"/>
              <a:t>ư</a:t>
            </a:r>
            <a:r>
              <a:rPr lang="en-US"/>
              <a:t>ơng 1: Tổng quan (1 tuần)</a:t>
            </a:r>
          </a:p>
          <a:p>
            <a:pPr lvl="1"/>
            <a:r>
              <a:rPr lang="en-US"/>
              <a:t>Ch</a:t>
            </a:r>
            <a:r>
              <a:rPr lang="vi-VN"/>
              <a:t>ư</a:t>
            </a:r>
            <a:r>
              <a:rPr lang="en-US"/>
              <a:t>ơng 2: C</a:t>
            </a:r>
            <a:r>
              <a:rPr lang="vi-VN"/>
              <a:t>ơ</a:t>
            </a:r>
            <a:r>
              <a:rPr lang="en-US"/>
              <a:t> sở lý thuyết (1 tuần)</a:t>
            </a:r>
          </a:p>
          <a:p>
            <a:pPr lvl="1"/>
            <a:r>
              <a:rPr lang="en-US"/>
              <a:t>Ch</a:t>
            </a:r>
            <a:r>
              <a:rPr lang="vi-VN"/>
              <a:t>ư</a:t>
            </a:r>
            <a:r>
              <a:rPr lang="en-US"/>
              <a:t>ơng 3: Phân tích và thiết kế hệ thống (2 tuần)</a:t>
            </a:r>
          </a:p>
          <a:p>
            <a:pPr lvl="1"/>
            <a:r>
              <a:rPr lang="en-US"/>
              <a:t>Ch</a:t>
            </a:r>
            <a:r>
              <a:rPr lang="vi-VN"/>
              <a:t>ư</a:t>
            </a:r>
            <a:r>
              <a:rPr lang="en-US"/>
              <a:t>ơng 4: Phân tích kết quả (1 tuần)</a:t>
            </a:r>
          </a:p>
          <a:p>
            <a:pPr lvl="1"/>
            <a:r>
              <a:rPr lang="en-US"/>
              <a:t>Ch</a:t>
            </a:r>
            <a:r>
              <a:rPr lang="vi-VN"/>
              <a:t>ư</a:t>
            </a:r>
            <a:r>
              <a:rPr lang="en-US"/>
              <a:t>ơng 5: Kết luận (1 tuần) -&gt; Nộp hoàn thiện</a:t>
            </a:r>
          </a:p>
        </p:txBody>
      </p:sp>
    </p:spTree>
    <p:extLst>
      <p:ext uri="{BB962C8B-B14F-4D97-AF65-F5344CB8AC3E}">
        <p14:creationId xmlns:p14="http://schemas.microsoft.com/office/powerpoint/2010/main" val="4590057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5" name="WordArt 3"/>
          <p:cNvSpPr>
            <a:spLocks noChangeArrowheads="1" noChangeShapeType="1" noTextEdit="1"/>
          </p:cNvSpPr>
          <p:nvPr/>
        </p:nvSpPr>
        <p:spPr bwMode="gray">
          <a:xfrm>
            <a:off x="2842661" y="2819400"/>
            <a:ext cx="6858000" cy="762000"/>
          </a:xfrm>
          <a:prstGeom prst="rect">
            <a:avLst/>
          </a:prstGeom>
        </p:spPr>
        <p:txBody>
          <a:bodyPr wrap="none" fromWordArt="1">
            <a:prstTxWarp prst="textDeflate">
              <a:avLst>
                <a:gd name="adj" fmla="val 0"/>
              </a:avLst>
            </a:prstTxWarp>
          </a:bodyPr>
          <a:lstStyle/>
          <a:p>
            <a:pPr algn="ctr"/>
            <a:r>
              <a:rPr lang="en-US" sz="5400" b="1" kern="10" dirty="0">
                <a:ln w="19050">
                  <a:solidFill>
                    <a:schemeClr val="bg1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accent1"/>
                    </a:gs>
                    <a:gs pos="100000">
                      <a:schemeClr val="folHlink"/>
                    </a:gs>
                  </a:gsLst>
                  <a:lin ang="5400000" scaled="1"/>
                </a:gradFill>
                <a:effectLst>
                  <a:outerShdw dist="71842" dir="2700000" algn="ctr" rotWithShape="0">
                    <a:schemeClr val="tx1">
                      <a:alpha val="50000"/>
                    </a:schemeClr>
                  </a:outerShdw>
                </a:effectLst>
                <a:latin typeface="Verdana"/>
                <a:ea typeface="Verdana"/>
                <a:cs typeface="Verdana"/>
              </a:rPr>
              <a:t>Thank You</a:t>
            </a:r>
          </a:p>
        </p:txBody>
      </p:sp>
      <p:sp>
        <p:nvSpPr>
          <p:cNvPr id="59396" name="Rectangle 4"/>
          <p:cNvSpPr>
            <a:spLocks noChangeArrowheads="1"/>
          </p:cNvSpPr>
          <p:nvPr/>
        </p:nvSpPr>
        <p:spPr bwMode="white">
          <a:xfrm>
            <a:off x="5181600" y="5867400"/>
            <a:ext cx="35814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r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Font typeface="Wingdings" pitchFamily="2" charset="2"/>
              <a:buNone/>
            </a:pPr>
            <a:r>
              <a:rPr lang="en-US" sz="1400" b="1" dirty="0" err="1">
                <a:solidFill>
                  <a:schemeClr val="bg1"/>
                </a:solidFill>
              </a:rPr>
              <a:t>www.themegallery.com</a:t>
            </a:r>
            <a:endParaRPr lang="en-US" sz="14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db2004212gl">
  <a:themeElements>
    <a:clrScheme name="Office Theme 1">
      <a:dk1>
        <a:srgbClr val="000000"/>
      </a:dk1>
      <a:lt1>
        <a:srgbClr val="FFFFFF"/>
      </a:lt1>
      <a:dk2>
        <a:srgbClr val="4B546F"/>
      </a:dk2>
      <a:lt2>
        <a:srgbClr val="C0C0C0"/>
      </a:lt2>
      <a:accent1>
        <a:srgbClr val="4987E3"/>
      </a:accent1>
      <a:accent2>
        <a:srgbClr val="D9520F"/>
      </a:accent2>
      <a:accent3>
        <a:srgbClr val="FFFFFF"/>
      </a:accent3>
      <a:accent4>
        <a:srgbClr val="000000"/>
      </a:accent4>
      <a:accent5>
        <a:srgbClr val="B1C3EF"/>
      </a:accent5>
      <a:accent6>
        <a:srgbClr val="C4490C"/>
      </a:accent6>
      <a:hlink>
        <a:srgbClr val="36A1B6"/>
      </a:hlink>
      <a:folHlink>
        <a:srgbClr val="9CC769"/>
      </a:folHlink>
    </a:clrScheme>
    <a:fontScheme name="Office Them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Office Theme 1">
        <a:dk1>
          <a:srgbClr val="000000"/>
        </a:dk1>
        <a:lt1>
          <a:srgbClr val="FFFFFF"/>
        </a:lt1>
        <a:dk2>
          <a:srgbClr val="4B546F"/>
        </a:dk2>
        <a:lt2>
          <a:srgbClr val="C0C0C0"/>
        </a:lt2>
        <a:accent1>
          <a:srgbClr val="4987E3"/>
        </a:accent1>
        <a:accent2>
          <a:srgbClr val="D9520F"/>
        </a:accent2>
        <a:accent3>
          <a:srgbClr val="FFFFFF"/>
        </a:accent3>
        <a:accent4>
          <a:srgbClr val="000000"/>
        </a:accent4>
        <a:accent5>
          <a:srgbClr val="B1C3EF"/>
        </a:accent5>
        <a:accent6>
          <a:srgbClr val="C4490C"/>
        </a:accent6>
        <a:hlink>
          <a:srgbClr val="36A1B6"/>
        </a:hlink>
        <a:folHlink>
          <a:srgbClr val="9CC76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135377"/>
        </a:dk2>
        <a:lt2>
          <a:srgbClr val="969696"/>
        </a:lt2>
        <a:accent1>
          <a:srgbClr val="2AA08A"/>
        </a:accent1>
        <a:accent2>
          <a:srgbClr val="9C88E6"/>
        </a:accent2>
        <a:accent3>
          <a:srgbClr val="FFFFFF"/>
        </a:accent3>
        <a:accent4>
          <a:srgbClr val="000000"/>
        </a:accent4>
        <a:accent5>
          <a:srgbClr val="ACCDC4"/>
        </a:accent5>
        <a:accent6>
          <a:srgbClr val="8D7BD0"/>
        </a:accent6>
        <a:hlink>
          <a:srgbClr val="7D96D3"/>
        </a:hlink>
        <a:folHlink>
          <a:srgbClr val="DEDB7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FF"/>
        </a:lt1>
        <a:dk2>
          <a:srgbClr val="351155"/>
        </a:dk2>
        <a:lt2>
          <a:srgbClr val="969696"/>
        </a:lt2>
        <a:accent1>
          <a:srgbClr val="117AC1"/>
        </a:accent1>
        <a:accent2>
          <a:srgbClr val="38B890"/>
        </a:accent2>
        <a:accent3>
          <a:srgbClr val="FFFFFF"/>
        </a:accent3>
        <a:accent4>
          <a:srgbClr val="000000"/>
        </a:accent4>
        <a:accent5>
          <a:srgbClr val="AABEDD"/>
        </a:accent5>
        <a:accent6>
          <a:srgbClr val="32A682"/>
        </a:accent6>
        <a:hlink>
          <a:srgbClr val="D17FB6"/>
        </a:hlink>
        <a:folHlink>
          <a:srgbClr val="E3981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cdb2004212gl</Template>
  <TotalTime>4752</TotalTime>
  <Words>652</Words>
  <Application>Microsoft Office PowerPoint</Application>
  <PresentationFormat>Widescreen</PresentationFormat>
  <Paragraphs>112</Paragraphs>
  <Slides>13</Slides>
  <Notes>1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Calibri</vt:lpstr>
      <vt:lpstr>Tahoma</vt:lpstr>
      <vt:lpstr>Times New Roman</vt:lpstr>
      <vt:lpstr>Verdana</vt:lpstr>
      <vt:lpstr>Wingdings</vt:lpstr>
      <vt:lpstr>cdb2004212gl</vt:lpstr>
      <vt:lpstr>Môn: Phát triển ứng dụng di động (Tuần 4 – Viết cuốn báo cáo)</vt:lpstr>
      <vt:lpstr>1. Tiến độ thực tế (dự kiến)</vt:lpstr>
      <vt:lpstr>2. Report mỗi tuần (  đồng bộ lên github  Nộp utex)</vt:lpstr>
      <vt:lpstr>2. Report mỗi tuần (  đồng bộ lên github  Nộp utex)</vt:lpstr>
      <vt:lpstr>2. Report mỗi tuần</vt:lpstr>
      <vt:lpstr>2. Report mỗi tuần</vt:lpstr>
      <vt:lpstr>2. Report mỗi tuần</vt:lpstr>
      <vt:lpstr>2. Report mỗi tuần</vt:lpstr>
      <vt:lpstr>2. Report mỗi tuần</vt:lpstr>
      <vt:lpstr>2. Report mỗi tuần</vt:lpstr>
      <vt:lpstr>2. Report mỗi tuần</vt:lpstr>
      <vt:lpstr>3. Viết cuốn báo cáo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Overview of  Research &amp; Technology and Training</dc:title>
  <dc:creator>FANCA</dc:creator>
  <cp:lastModifiedBy>Dung Hoang</cp:lastModifiedBy>
  <cp:revision>407</cp:revision>
  <cp:lastPrinted>2018-01-16T10:17:52Z</cp:lastPrinted>
  <dcterms:created xsi:type="dcterms:W3CDTF">2017-11-10T03:20:57Z</dcterms:created>
  <dcterms:modified xsi:type="dcterms:W3CDTF">2026-09-21T01:10:28Z</dcterms:modified>
</cp:coreProperties>
</file>